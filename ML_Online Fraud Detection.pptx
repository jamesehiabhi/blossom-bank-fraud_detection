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69" r:id="rId3"/>
    <p:sldId id="359" r:id="rId4"/>
    <p:sldId id="360" r:id="rId5"/>
    <p:sldId id="361" r:id="rId6"/>
    <p:sldId id="329" r:id="rId7"/>
    <p:sldId id="286"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68"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BD90CA-D2C4-4400-9DFD-16DBD4A71D8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3671496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BD90CA-D2C4-4400-9DFD-16DBD4A71D8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1295895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BD90CA-D2C4-4400-9DFD-16DBD4A71D8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1724484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BD90CA-D2C4-4400-9DFD-16DBD4A71D8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402040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BD90CA-D2C4-4400-9DFD-16DBD4A71D8F}"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1235836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BD90CA-D2C4-4400-9DFD-16DBD4A71D8F}"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1807095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78BD90CA-D2C4-4400-9DFD-16DBD4A71D8F}"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2565028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D90CA-D2C4-4400-9DFD-16DBD4A71D8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3055845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D90CA-D2C4-4400-9DFD-16DBD4A71D8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2451383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D90CA-D2C4-4400-9DFD-16DBD4A71D8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104088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D90CA-D2C4-4400-9DFD-16DBD4A71D8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2112436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D90CA-D2C4-4400-9DFD-16DBD4A71D8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794A30E-49F9-4147-B1ED-8D5846CD2339}"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4167182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BD90CA-D2C4-4400-9DFD-16DBD4A71D8F}"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2925365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8BD90CA-D2C4-4400-9DFD-16DBD4A71D8F}"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29279152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8BD90CA-D2C4-4400-9DFD-16DBD4A71D8F}"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75612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BD90CA-D2C4-4400-9DFD-16DBD4A71D8F}"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94A30E-49F9-4147-B1ED-8D5846CD2339}" type="slidenum">
              <a:rPr lang="en-US" smtClean="0"/>
              <a:t>‹#›</a:t>
            </a:fld>
            <a:endParaRPr lang="en-US"/>
          </a:p>
        </p:txBody>
      </p:sp>
    </p:spTree>
    <p:extLst>
      <p:ext uri="{BB962C8B-B14F-4D97-AF65-F5344CB8AC3E}">
        <p14:creationId xmlns:p14="http://schemas.microsoft.com/office/powerpoint/2010/main" val="22207311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78BD90CA-D2C4-4400-9DFD-16DBD4A71D8F}" type="datetimeFigureOut">
              <a:rPr lang="en-US" smtClean="0"/>
              <a:t>2/10/2025</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794A30E-49F9-4147-B1ED-8D5846CD2339}" type="slidenum">
              <a:rPr lang="en-US" smtClean="0"/>
              <a:t>‹#›</a:t>
            </a:fld>
            <a:endParaRPr lang="en-US"/>
          </a:p>
        </p:txBody>
      </p:sp>
    </p:spTree>
    <p:extLst>
      <p:ext uri="{BB962C8B-B14F-4D97-AF65-F5344CB8AC3E}">
        <p14:creationId xmlns:p14="http://schemas.microsoft.com/office/powerpoint/2010/main" val="2810861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111690" y="232660"/>
            <a:ext cx="8816453" cy="724247"/>
          </a:xfrm>
          <a:prstGeom prst="rect">
            <a:avLst/>
          </a:prstGeom>
        </p:spPr>
        <p:txBody>
          <a:bodyPr anchor="ctr"/>
          <a:lstStyle>
            <a:lvl1pPr marL="0" indent="0" algn="l">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5851130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6100548" y="2995259"/>
            <a:ext cx="6077803" cy="677416"/>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SECTION BREAK</a:t>
            </a:r>
          </a:p>
        </p:txBody>
      </p:sp>
      <p:sp>
        <p:nvSpPr>
          <p:cNvPr id="3" name="Text Placeholder 9"/>
          <p:cNvSpPr>
            <a:spLocks noGrp="1"/>
          </p:cNvSpPr>
          <p:nvPr>
            <p:ph type="body" sz="quarter" idx="11" hasCustomPrompt="1"/>
          </p:nvPr>
        </p:nvSpPr>
        <p:spPr>
          <a:xfrm>
            <a:off x="6100548" y="3672675"/>
            <a:ext cx="6077803" cy="288032"/>
          </a:xfrm>
          <a:prstGeom prst="rect">
            <a:avLst/>
          </a:prstGeom>
        </p:spPr>
        <p:txBody>
          <a:bodyPr anchor="ctr"/>
          <a:lstStyle>
            <a:lvl1pPr marL="0" indent="0" algn="l">
              <a:buNone/>
              <a:defRPr sz="1800" b="0" baseline="0">
                <a:solidFill>
                  <a:schemeClr val="tx1">
                    <a:lumMod val="85000"/>
                    <a:lumOff val="15000"/>
                  </a:schemeClr>
                </a:solidFill>
                <a:latin typeface="+mn-lt"/>
                <a:cs typeface="Arial" pitchFamily="34" charset="0"/>
              </a:defRPr>
            </a:lvl1pPr>
          </a:lstStyle>
          <a:p>
            <a:pPr lvl="0"/>
            <a:r>
              <a:rPr lang="en-US" altLang="ko-KR" dirty="0"/>
              <a:t>Insert your subtitle here</a:t>
            </a:r>
          </a:p>
        </p:txBody>
      </p:sp>
    </p:spTree>
    <p:extLst>
      <p:ext uri="{BB962C8B-B14F-4D97-AF65-F5344CB8AC3E}">
        <p14:creationId xmlns:p14="http://schemas.microsoft.com/office/powerpoint/2010/main" val="26465697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Images &amp; Contents Layout">
    <p:bg>
      <p:bgPr>
        <a:solidFill>
          <a:schemeClr val="tx1"/>
        </a:solidFill>
        <a:effectLst/>
      </p:bgPr>
    </p:bg>
    <p:spTree>
      <p:nvGrpSpPr>
        <p:cNvPr id="1" name=""/>
        <p:cNvGrpSpPr/>
        <p:nvPr/>
      </p:nvGrpSpPr>
      <p:grpSpPr>
        <a:xfrm>
          <a:off x="0" y="0"/>
          <a:ext cx="0" cy="0"/>
          <a:chOff x="0" y="0"/>
          <a:chExt cx="0" cy="0"/>
        </a:xfrm>
      </p:grpSpPr>
      <p:sp>
        <p:nvSpPr>
          <p:cNvPr id="12" name="Rectangle 9">
            <a:extLst>
              <a:ext uri="{FF2B5EF4-FFF2-40B4-BE49-F238E27FC236}">
                <a16:creationId xmlns:a16="http://schemas.microsoft.com/office/drawing/2014/main" id="{F11F222F-0E73-47CE-B622-734BBCDDAE25}"/>
              </a:ext>
            </a:extLst>
          </p:cNvPr>
          <p:cNvSpPr/>
          <p:nvPr userDrawn="1"/>
        </p:nvSpPr>
        <p:spPr>
          <a:xfrm>
            <a:off x="11832000"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latin typeface="+mn-lt"/>
            </a:endParaRPr>
          </a:p>
        </p:txBody>
      </p:sp>
      <p:sp>
        <p:nvSpPr>
          <p:cNvPr id="41" name="Picture Placeholder 2"/>
          <p:cNvSpPr>
            <a:spLocks noGrp="1"/>
          </p:cNvSpPr>
          <p:nvPr>
            <p:ph type="pic" idx="15" hasCustomPrompt="1"/>
          </p:nvPr>
        </p:nvSpPr>
        <p:spPr>
          <a:xfrm>
            <a:off x="0" y="0"/>
            <a:ext cx="2208000" cy="2232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2" name="Picture Placeholder 2"/>
          <p:cNvSpPr>
            <a:spLocks noGrp="1"/>
          </p:cNvSpPr>
          <p:nvPr>
            <p:ph type="pic" idx="16" hasCustomPrompt="1"/>
          </p:nvPr>
        </p:nvSpPr>
        <p:spPr>
          <a:xfrm>
            <a:off x="0" y="2313000"/>
            <a:ext cx="2208000" cy="2232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3" name="Picture Placeholder 2"/>
          <p:cNvSpPr>
            <a:spLocks noGrp="1"/>
          </p:cNvSpPr>
          <p:nvPr>
            <p:ph type="pic" idx="17" hasCustomPrompt="1"/>
          </p:nvPr>
        </p:nvSpPr>
        <p:spPr>
          <a:xfrm>
            <a:off x="0" y="4626000"/>
            <a:ext cx="2208000" cy="2232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4" name="Picture Placeholder 2"/>
          <p:cNvSpPr>
            <a:spLocks noGrp="1"/>
          </p:cNvSpPr>
          <p:nvPr>
            <p:ph type="pic" idx="18" hasCustomPrompt="1"/>
          </p:nvPr>
        </p:nvSpPr>
        <p:spPr>
          <a:xfrm>
            <a:off x="2305261" y="0"/>
            <a:ext cx="2208000" cy="2232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5" name="Picture Placeholder 2"/>
          <p:cNvSpPr>
            <a:spLocks noGrp="1"/>
          </p:cNvSpPr>
          <p:nvPr>
            <p:ph type="pic" idx="19" hasCustomPrompt="1"/>
          </p:nvPr>
        </p:nvSpPr>
        <p:spPr>
          <a:xfrm>
            <a:off x="4610855" y="0"/>
            <a:ext cx="2208000" cy="2232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6" name="Picture Placeholder 2"/>
          <p:cNvSpPr>
            <a:spLocks noGrp="1"/>
          </p:cNvSpPr>
          <p:nvPr>
            <p:ph type="pic" idx="20" hasCustomPrompt="1"/>
          </p:nvPr>
        </p:nvSpPr>
        <p:spPr>
          <a:xfrm>
            <a:off x="2293745" y="2314576"/>
            <a:ext cx="4526543" cy="4543424"/>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1" name="Rectangle 8">
            <a:extLst>
              <a:ext uri="{FF2B5EF4-FFF2-40B4-BE49-F238E27FC236}">
                <a16:creationId xmlns:a16="http://schemas.microsoft.com/office/drawing/2014/main" id="{FDBF65BA-BCC1-4900-AA4C-50B328767209}"/>
              </a:ext>
            </a:extLst>
          </p:cNvPr>
          <p:cNvSpPr/>
          <p:nvPr userDrawn="1"/>
        </p:nvSpPr>
        <p:spPr>
          <a:xfrm>
            <a:off x="12012000" y="0"/>
            <a:ext cx="180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latin typeface="+mn-lt"/>
            </a:endParaRPr>
          </a:p>
        </p:txBody>
      </p:sp>
    </p:spTree>
    <p:extLst>
      <p:ext uri="{BB962C8B-B14F-4D97-AF65-F5344CB8AC3E}">
        <p14:creationId xmlns:p14="http://schemas.microsoft.com/office/powerpoint/2010/main" val="24757165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Slide">
    <p:bg>
      <p:bgPr>
        <a:solidFill>
          <a:schemeClr val="tx1"/>
        </a:solidFill>
        <a:effectLst/>
      </p:bgPr>
    </p:bg>
    <p:spTree>
      <p:nvGrpSpPr>
        <p:cNvPr id="1" name=""/>
        <p:cNvGrpSpPr/>
        <p:nvPr/>
      </p:nvGrpSpPr>
      <p:grpSpPr>
        <a:xfrm>
          <a:off x="0" y="0"/>
          <a:ext cx="0" cy="0"/>
          <a:chOff x="0" y="0"/>
          <a:chExt cx="0" cy="0"/>
        </a:xfrm>
      </p:grpSpPr>
      <p:sp>
        <p:nvSpPr>
          <p:cNvPr id="8" name="Picture Placeholder 2"/>
          <p:cNvSpPr>
            <a:spLocks noGrp="1"/>
          </p:cNvSpPr>
          <p:nvPr>
            <p:ph type="pic" idx="12" hasCustomPrompt="1"/>
          </p:nvPr>
        </p:nvSpPr>
        <p:spPr>
          <a:xfrm>
            <a:off x="4348264" y="540000"/>
            <a:ext cx="3869178" cy="260096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4348264" y="3696780"/>
            <a:ext cx="3869178" cy="2600968"/>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4" hasCustomPrompt="1"/>
          </p:nvPr>
        </p:nvSpPr>
        <p:spPr>
          <a:xfrm>
            <a:off x="8453336" y="1023552"/>
            <a:ext cx="2988000" cy="388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0" name="Rectangle 9"/>
          <p:cNvSpPr/>
          <p:nvPr userDrawn="1"/>
        </p:nvSpPr>
        <p:spPr>
          <a:xfrm rot="16200000">
            <a:off x="10950144" y="378000"/>
            <a:ext cx="900000" cy="14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1938088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96234" y="232660"/>
            <a:ext cx="8342799" cy="724247"/>
          </a:xfrm>
          <a:prstGeom prst="rect">
            <a:avLst/>
          </a:prstGeom>
        </p:spPr>
        <p:txBody>
          <a:bodyPr anchor="ctr"/>
          <a:lstStyle>
            <a:lvl1pPr marL="0" indent="0" algn="l">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565177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4">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8BD90CA-D2C4-4400-9DFD-16DBD4A71D8F}" type="datetimeFigureOut">
              <a:rPr lang="en-US" smtClean="0"/>
              <a:t>2/10/2025</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794A30E-49F9-4147-B1ED-8D5846CD2339}" type="slidenum">
              <a:rPr lang="en-US" smtClean="0"/>
              <a:t>‹#›</a:t>
            </a:fld>
            <a:endParaRPr lang="en-US"/>
          </a:p>
        </p:txBody>
      </p:sp>
    </p:spTree>
    <p:extLst>
      <p:ext uri="{BB962C8B-B14F-4D97-AF65-F5344CB8AC3E}">
        <p14:creationId xmlns:p14="http://schemas.microsoft.com/office/powerpoint/2010/main" val="124811067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2" r:id="rId21"/>
    <p:sldLayoutId id="2147483684" r:id="rId22"/>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fontScale="92500" lnSpcReduction="20000"/>
          </a:bodyPr>
          <a:lstStyle/>
          <a:p>
            <a:r>
              <a:rPr lang="en-US" sz="2800" dirty="0"/>
              <a:t>Online Fraud Prediction Using Machine Learning</a:t>
            </a:r>
          </a:p>
        </p:txBody>
      </p:sp>
      <p:sp>
        <p:nvSpPr>
          <p:cNvPr id="3" name="Text Placeholder 2"/>
          <p:cNvSpPr>
            <a:spLocks noGrp="1"/>
          </p:cNvSpPr>
          <p:nvPr>
            <p:ph type="body" sz="quarter" idx="11"/>
          </p:nvPr>
        </p:nvSpPr>
        <p:spPr>
          <a:xfrm>
            <a:off x="6114197" y="4110825"/>
            <a:ext cx="6077803" cy="288032"/>
          </a:xfrm>
        </p:spPr>
        <p:txBody>
          <a:bodyPr>
            <a:normAutofit fontScale="92500" lnSpcReduction="20000"/>
          </a:bodyPr>
          <a:lstStyle/>
          <a:p>
            <a:pPr algn="just"/>
            <a:r>
              <a:rPr lang="en-US" altLang="ko-KR" dirty="0"/>
              <a:t>James Ehiabhi</a:t>
            </a:r>
          </a:p>
        </p:txBody>
      </p:sp>
      <p:sp>
        <p:nvSpPr>
          <p:cNvPr id="10" name="TextBox 9">
            <a:extLst>
              <a:ext uri="{FF2B5EF4-FFF2-40B4-BE49-F238E27FC236}">
                <a16:creationId xmlns:a16="http://schemas.microsoft.com/office/drawing/2014/main" id="{565DAB20-AA93-5166-7691-4BF3A977B2E2}"/>
              </a:ext>
            </a:extLst>
          </p:cNvPr>
          <p:cNvSpPr txBox="1"/>
          <p:nvPr/>
        </p:nvSpPr>
        <p:spPr>
          <a:xfrm>
            <a:off x="185678" y="1001167"/>
            <a:ext cx="2390777" cy="369332"/>
          </a:xfrm>
          <a:prstGeom prst="rect">
            <a:avLst/>
          </a:prstGeom>
          <a:noFill/>
        </p:spPr>
        <p:txBody>
          <a:bodyPr wrap="square" rtlCol="0">
            <a:spAutoFit/>
          </a:bodyPr>
          <a:lstStyle/>
          <a:p>
            <a:r>
              <a:rPr lang="en-US" dirty="0"/>
              <a:t>Blossom Bank</a:t>
            </a:r>
          </a:p>
        </p:txBody>
      </p:sp>
      <p:pic>
        <p:nvPicPr>
          <p:cNvPr id="12" name="Picture 11">
            <a:extLst>
              <a:ext uri="{FF2B5EF4-FFF2-40B4-BE49-F238E27FC236}">
                <a16:creationId xmlns:a16="http://schemas.microsoft.com/office/drawing/2014/main" id="{CC7AB952-F8B8-C7DD-EC95-D89380487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5" y="14316"/>
            <a:ext cx="1171517" cy="1171517"/>
          </a:xfrm>
          <a:prstGeom prst="rect">
            <a:avLst/>
          </a:prstGeom>
        </p:spPr>
      </p:pic>
      <p:pic>
        <p:nvPicPr>
          <p:cNvPr id="5" name="Picture 4" descr="A computer on a table">
            <a:extLst>
              <a:ext uri="{FF2B5EF4-FFF2-40B4-BE49-F238E27FC236}">
                <a16:creationId xmlns:a16="http://schemas.microsoft.com/office/drawing/2014/main" id="{F210B765-049E-A29D-7278-A34B00671C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1905" y="5227455"/>
            <a:ext cx="6490095" cy="1622524"/>
          </a:xfrm>
          <a:prstGeom prst="rect">
            <a:avLst/>
          </a:prstGeom>
        </p:spPr>
      </p:pic>
    </p:spTree>
    <p:extLst>
      <p:ext uri="{BB962C8B-B14F-4D97-AF65-F5344CB8AC3E}">
        <p14:creationId xmlns:p14="http://schemas.microsoft.com/office/powerpoint/2010/main" val="1100588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111690" y="185035"/>
            <a:ext cx="8816453" cy="724247"/>
          </a:xfrm>
        </p:spPr>
        <p:txBody>
          <a:bodyPr>
            <a:normAutofit fontScale="92500" lnSpcReduction="10000"/>
          </a:bodyPr>
          <a:lstStyle/>
          <a:p>
            <a:r>
              <a:rPr lang="en-US" dirty="0"/>
              <a:t>Infographic Style</a:t>
            </a:r>
          </a:p>
        </p:txBody>
      </p:sp>
      <p:pic>
        <p:nvPicPr>
          <p:cNvPr id="24" name="Picture 2" descr="E:\002-KIMS BUSINESS\007-04-1-FIVERR\01-PPT-TEMPLATE\COVER-PSD\05-cut-01.png">
            <a:extLst>
              <a:ext uri="{FF2B5EF4-FFF2-40B4-BE49-F238E27FC236}">
                <a16:creationId xmlns:a16="http://schemas.microsoft.com/office/drawing/2014/main" id="{0CC9A9D6-5E6F-4981-AB75-EB8FAD1BD2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7368023" y="2110974"/>
            <a:ext cx="1304914" cy="251895"/>
          </a:xfrm>
          <a:prstGeom prst="rect">
            <a:avLst/>
          </a:prstGeom>
          <a:noFill/>
          <a:extLst>
            <a:ext uri="{909E8E84-426E-40DD-AFC4-6F175D3DCCD1}">
              <a14:hiddenFill xmlns:a14="http://schemas.microsoft.com/office/drawing/2010/main">
                <a:solidFill>
                  <a:srgbClr val="FFFFFF"/>
                </a:solidFill>
              </a14:hiddenFill>
            </a:ext>
          </a:extLst>
        </p:spPr>
      </p:pic>
      <p:sp>
        <p:nvSpPr>
          <p:cNvPr id="25" name="Pentagon 2">
            <a:extLst>
              <a:ext uri="{FF2B5EF4-FFF2-40B4-BE49-F238E27FC236}">
                <a16:creationId xmlns:a16="http://schemas.microsoft.com/office/drawing/2014/main" id="{42B4695D-27B0-4503-BE46-0E70F392A643}"/>
              </a:ext>
            </a:extLst>
          </p:cNvPr>
          <p:cNvSpPr/>
          <p:nvPr/>
        </p:nvSpPr>
        <p:spPr>
          <a:xfrm rot="5400000">
            <a:off x="6042989" y="2053403"/>
            <a:ext cx="1008000" cy="4838438"/>
          </a:xfrm>
          <a:prstGeom prst="round2SameRect">
            <a:avLst>
              <a:gd name="adj1" fmla="val 50000"/>
              <a:gd name="adj2" fmla="val 0"/>
            </a:avLst>
          </a:prstGeom>
          <a:solidFill>
            <a:schemeClr val="accent2"/>
          </a:solidFill>
          <a:ln>
            <a:no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Rounded Rectangle 23">
            <a:extLst>
              <a:ext uri="{FF2B5EF4-FFF2-40B4-BE49-F238E27FC236}">
                <a16:creationId xmlns:a16="http://schemas.microsoft.com/office/drawing/2014/main" id="{A2FFEFC5-4DB2-49CF-B180-2A20B19FD09B}"/>
              </a:ext>
            </a:extLst>
          </p:cNvPr>
          <p:cNvSpPr/>
          <p:nvPr/>
        </p:nvSpPr>
        <p:spPr>
          <a:xfrm rot="18900000">
            <a:off x="8029914" y="4044934"/>
            <a:ext cx="837070" cy="837070"/>
          </a:xfrm>
          <a:prstGeom prst="ellipse">
            <a:avLst/>
          </a:prstGeom>
          <a:solidFill>
            <a:schemeClr val="accent2">
              <a:lumMod val="75000"/>
            </a:schemeClr>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a:p>
        </p:txBody>
      </p:sp>
      <p:sp>
        <p:nvSpPr>
          <p:cNvPr id="47" name="Rounded Rectangle 24">
            <a:extLst>
              <a:ext uri="{FF2B5EF4-FFF2-40B4-BE49-F238E27FC236}">
                <a16:creationId xmlns:a16="http://schemas.microsoft.com/office/drawing/2014/main" id="{96121032-9B10-4ECD-9189-F2A6862F99E9}"/>
              </a:ext>
            </a:extLst>
          </p:cNvPr>
          <p:cNvSpPr/>
          <p:nvPr/>
        </p:nvSpPr>
        <p:spPr>
          <a:xfrm rot="18900000">
            <a:off x="8107866" y="4122886"/>
            <a:ext cx="681166" cy="681166"/>
          </a:xfrm>
          <a:prstGeom prst="ellipse">
            <a:avLst/>
          </a:prstGeom>
          <a:solidFill>
            <a:schemeClr val="bg1"/>
          </a:solidFill>
          <a:ln w="63500">
            <a:noFill/>
          </a:ln>
          <a:effectLst>
            <a:outerShdw blurRad="50800" dist="38100" dir="5400000" algn="ctr"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TextBox 47">
            <a:extLst>
              <a:ext uri="{FF2B5EF4-FFF2-40B4-BE49-F238E27FC236}">
                <a16:creationId xmlns:a16="http://schemas.microsoft.com/office/drawing/2014/main" id="{2D9B9F11-C641-413F-A54E-5F7056CA9CB6}"/>
              </a:ext>
            </a:extLst>
          </p:cNvPr>
          <p:cNvSpPr txBox="1"/>
          <p:nvPr/>
        </p:nvSpPr>
        <p:spPr>
          <a:xfrm>
            <a:off x="8199273" y="4278803"/>
            <a:ext cx="498353" cy="369332"/>
          </a:xfrm>
          <a:prstGeom prst="rect">
            <a:avLst/>
          </a:prstGeom>
          <a:noFill/>
        </p:spPr>
        <p:txBody>
          <a:bodyPr wrap="square" rtlCol="0">
            <a:spAutoFit/>
          </a:bodyPr>
          <a:lstStyle/>
          <a:p>
            <a:pPr algn="ctr"/>
            <a:r>
              <a:rPr lang="en-US" altLang="ko-KR" b="1" dirty="0">
                <a:solidFill>
                  <a:schemeClr val="tx1">
                    <a:lumMod val="75000"/>
                    <a:lumOff val="25000"/>
                  </a:schemeClr>
                </a:solidFill>
                <a:cs typeface="Arial" pitchFamily="34" charset="0"/>
              </a:rPr>
              <a:t>03</a:t>
            </a:r>
            <a:endParaRPr lang="ko-KR" altLang="en-US" b="1" dirty="0">
              <a:solidFill>
                <a:schemeClr val="tx1">
                  <a:lumMod val="75000"/>
                  <a:lumOff val="25000"/>
                </a:schemeClr>
              </a:solidFill>
              <a:cs typeface="Arial" pitchFamily="34" charset="0"/>
            </a:endParaRPr>
          </a:p>
        </p:txBody>
      </p:sp>
      <p:sp>
        <p:nvSpPr>
          <p:cNvPr id="26" name="Pentagon 3">
            <a:extLst>
              <a:ext uri="{FF2B5EF4-FFF2-40B4-BE49-F238E27FC236}">
                <a16:creationId xmlns:a16="http://schemas.microsoft.com/office/drawing/2014/main" id="{03049B0E-C5D7-4EA0-B20F-D1CFD55DAC68}"/>
              </a:ext>
            </a:extLst>
          </p:cNvPr>
          <p:cNvSpPr/>
          <p:nvPr/>
        </p:nvSpPr>
        <p:spPr>
          <a:xfrm rot="5400000">
            <a:off x="6042990" y="-106986"/>
            <a:ext cx="1008000" cy="4838438"/>
          </a:xfrm>
          <a:prstGeom prst="round2SameRect">
            <a:avLst>
              <a:gd name="adj1" fmla="val 50000"/>
              <a:gd name="adj2" fmla="val 0"/>
            </a:avLst>
          </a:prstGeom>
          <a:solidFill>
            <a:schemeClr val="accent4"/>
          </a:solidFill>
          <a:ln>
            <a:no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Rounded Rectangle 5">
            <a:extLst>
              <a:ext uri="{FF2B5EF4-FFF2-40B4-BE49-F238E27FC236}">
                <a16:creationId xmlns:a16="http://schemas.microsoft.com/office/drawing/2014/main" id="{1E0F0030-16A0-4D5F-B89D-6A45EC57F2A4}"/>
              </a:ext>
            </a:extLst>
          </p:cNvPr>
          <p:cNvSpPr/>
          <p:nvPr/>
        </p:nvSpPr>
        <p:spPr>
          <a:xfrm rot="18900000">
            <a:off x="8029069" y="1883703"/>
            <a:ext cx="838760" cy="838760"/>
          </a:xfrm>
          <a:prstGeom prst="ellipse">
            <a:avLst/>
          </a:prstGeom>
          <a:solidFill>
            <a:schemeClr val="accent4">
              <a:lumMod val="75000"/>
            </a:schemeClr>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a:p>
        </p:txBody>
      </p:sp>
      <p:sp>
        <p:nvSpPr>
          <p:cNvPr id="29" name="Rounded Rectangle 6">
            <a:extLst>
              <a:ext uri="{FF2B5EF4-FFF2-40B4-BE49-F238E27FC236}">
                <a16:creationId xmlns:a16="http://schemas.microsoft.com/office/drawing/2014/main" id="{E8B760ED-1B46-4AA6-A64A-82E023E4CDB8}"/>
              </a:ext>
            </a:extLst>
          </p:cNvPr>
          <p:cNvSpPr/>
          <p:nvPr/>
        </p:nvSpPr>
        <p:spPr>
          <a:xfrm rot="18900000">
            <a:off x="8107179" y="1961813"/>
            <a:ext cx="682540" cy="682540"/>
          </a:xfrm>
          <a:prstGeom prst="ellipse">
            <a:avLst/>
          </a:prstGeom>
          <a:solidFill>
            <a:schemeClr val="bg1"/>
          </a:solidFill>
          <a:ln w="63500">
            <a:noFill/>
          </a:ln>
          <a:effectLst>
            <a:outerShdw blurRad="50800" dist="38100" dir="5400000" algn="ctr"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TextBox 29">
            <a:extLst>
              <a:ext uri="{FF2B5EF4-FFF2-40B4-BE49-F238E27FC236}">
                <a16:creationId xmlns:a16="http://schemas.microsoft.com/office/drawing/2014/main" id="{50A276FD-F82C-4628-BD8A-E33AAFDC7E10}"/>
              </a:ext>
            </a:extLst>
          </p:cNvPr>
          <p:cNvSpPr txBox="1"/>
          <p:nvPr/>
        </p:nvSpPr>
        <p:spPr>
          <a:xfrm>
            <a:off x="8198770" y="2118417"/>
            <a:ext cx="499358" cy="369332"/>
          </a:xfrm>
          <a:prstGeom prst="rect">
            <a:avLst/>
          </a:prstGeom>
          <a:noFill/>
        </p:spPr>
        <p:txBody>
          <a:bodyPr wrap="square" rtlCol="0">
            <a:spAutoFit/>
          </a:bodyPr>
          <a:lstStyle/>
          <a:p>
            <a:pPr algn="ctr"/>
            <a:r>
              <a:rPr lang="en-US" altLang="ko-KR" b="1" dirty="0">
                <a:solidFill>
                  <a:schemeClr val="tx1">
                    <a:lumMod val="75000"/>
                    <a:lumOff val="25000"/>
                  </a:schemeClr>
                </a:solidFill>
                <a:cs typeface="Arial" pitchFamily="34" charset="0"/>
              </a:rPr>
              <a:t>01</a:t>
            </a:r>
            <a:endParaRPr lang="ko-KR" altLang="en-US" b="1" dirty="0">
              <a:solidFill>
                <a:schemeClr val="tx1">
                  <a:lumMod val="75000"/>
                  <a:lumOff val="25000"/>
                </a:schemeClr>
              </a:solidFill>
              <a:cs typeface="Arial" pitchFamily="34" charset="0"/>
            </a:endParaRPr>
          </a:p>
        </p:txBody>
      </p:sp>
      <p:pic>
        <p:nvPicPr>
          <p:cNvPr id="31" name="Picture 2" descr="E:\002-KIMS BUSINESS\007-04-1-FIVERR\01-PPT-TEMPLATE\COVER-PSD\05-cut-01.png">
            <a:extLst>
              <a:ext uri="{FF2B5EF4-FFF2-40B4-BE49-F238E27FC236}">
                <a16:creationId xmlns:a16="http://schemas.microsoft.com/office/drawing/2014/main" id="{C38C6C3C-0CF6-4C8B-AAEF-E4756EFEFB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1640920" y="3826841"/>
            <a:ext cx="5040000" cy="229254"/>
          </a:xfrm>
          <a:prstGeom prst="rect">
            <a:avLst/>
          </a:prstGeom>
          <a:noFill/>
          <a:extLst>
            <a:ext uri="{909E8E84-426E-40DD-AFC4-6F175D3DCCD1}">
              <a14:hiddenFill xmlns:a14="http://schemas.microsoft.com/office/drawing/2010/main">
                <a:solidFill>
                  <a:srgbClr val="FFFFFF"/>
                </a:solidFill>
              </a14:hiddenFill>
            </a:ext>
          </a:extLst>
        </p:spPr>
      </p:pic>
      <p:sp>
        <p:nvSpPr>
          <p:cNvPr id="36" name="Pentagon 13">
            <a:extLst>
              <a:ext uri="{FF2B5EF4-FFF2-40B4-BE49-F238E27FC236}">
                <a16:creationId xmlns:a16="http://schemas.microsoft.com/office/drawing/2014/main" id="{17188D46-B99A-4CCD-8B39-6335AD2D2D09}"/>
              </a:ext>
            </a:extLst>
          </p:cNvPr>
          <p:cNvSpPr/>
          <p:nvPr/>
        </p:nvSpPr>
        <p:spPr>
          <a:xfrm rot="16200000">
            <a:off x="5141010" y="3152127"/>
            <a:ext cx="1008000" cy="4838438"/>
          </a:xfrm>
          <a:prstGeom prst="round2SameRect">
            <a:avLst>
              <a:gd name="adj1" fmla="val 50000"/>
              <a:gd name="adj2" fmla="val 0"/>
            </a:avLst>
          </a:prstGeom>
          <a:solidFill>
            <a:schemeClr val="accent1"/>
          </a:solidFill>
          <a:ln>
            <a:no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2" name="Rounded Rectangle 19">
            <a:extLst>
              <a:ext uri="{FF2B5EF4-FFF2-40B4-BE49-F238E27FC236}">
                <a16:creationId xmlns:a16="http://schemas.microsoft.com/office/drawing/2014/main" id="{25A6ABC6-3F20-4CF2-BE6B-F9D10F19404E}"/>
              </a:ext>
            </a:extLst>
          </p:cNvPr>
          <p:cNvSpPr/>
          <p:nvPr/>
        </p:nvSpPr>
        <p:spPr>
          <a:xfrm rot="18900000">
            <a:off x="3317677" y="5139858"/>
            <a:ext cx="837070" cy="837070"/>
          </a:xfrm>
          <a:prstGeom prst="ellipse">
            <a:avLst/>
          </a:prstGeom>
          <a:solidFill>
            <a:schemeClr val="accent1">
              <a:lumMod val="75000"/>
            </a:schemeClr>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a:p>
        </p:txBody>
      </p:sp>
      <p:sp>
        <p:nvSpPr>
          <p:cNvPr id="43" name="Rounded Rectangle 20">
            <a:extLst>
              <a:ext uri="{FF2B5EF4-FFF2-40B4-BE49-F238E27FC236}">
                <a16:creationId xmlns:a16="http://schemas.microsoft.com/office/drawing/2014/main" id="{6438F31B-5BEE-4F92-A2DB-29EEDD5C1098}"/>
              </a:ext>
            </a:extLst>
          </p:cNvPr>
          <p:cNvSpPr/>
          <p:nvPr/>
        </p:nvSpPr>
        <p:spPr>
          <a:xfrm rot="18900000">
            <a:off x="3395629" y="5217810"/>
            <a:ext cx="681166" cy="681166"/>
          </a:xfrm>
          <a:prstGeom prst="ellipse">
            <a:avLst/>
          </a:prstGeom>
          <a:solidFill>
            <a:schemeClr val="bg1"/>
          </a:solidFill>
          <a:ln w="63500">
            <a:noFill/>
          </a:ln>
          <a:effectLst>
            <a:outerShdw blurRad="50800" dist="38100" dir="5400000" algn="ctr"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TextBox 43">
            <a:extLst>
              <a:ext uri="{FF2B5EF4-FFF2-40B4-BE49-F238E27FC236}">
                <a16:creationId xmlns:a16="http://schemas.microsoft.com/office/drawing/2014/main" id="{6585115F-C1AD-41C6-8259-389FF667E6AB}"/>
              </a:ext>
            </a:extLst>
          </p:cNvPr>
          <p:cNvSpPr txBox="1"/>
          <p:nvPr/>
        </p:nvSpPr>
        <p:spPr>
          <a:xfrm>
            <a:off x="3487036" y="5373727"/>
            <a:ext cx="498353" cy="369332"/>
          </a:xfrm>
          <a:prstGeom prst="rect">
            <a:avLst/>
          </a:prstGeom>
          <a:noFill/>
        </p:spPr>
        <p:txBody>
          <a:bodyPr wrap="square" rtlCol="0">
            <a:spAutoFit/>
          </a:bodyPr>
          <a:lstStyle/>
          <a:p>
            <a:pPr algn="ctr"/>
            <a:r>
              <a:rPr lang="en-US" altLang="ko-KR" b="1" dirty="0">
                <a:solidFill>
                  <a:schemeClr val="tx1">
                    <a:lumMod val="75000"/>
                    <a:lumOff val="25000"/>
                  </a:schemeClr>
                </a:solidFill>
                <a:cs typeface="Arial" pitchFamily="34" charset="0"/>
              </a:rPr>
              <a:t>04</a:t>
            </a:r>
            <a:endParaRPr lang="ko-KR" altLang="en-US" b="1" dirty="0">
              <a:solidFill>
                <a:schemeClr val="tx1">
                  <a:lumMod val="75000"/>
                  <a:lumOff val="25000"/>
                </a:schemeClr>
              </a:solidFill>
              <a:cs typeface="Arial" pitchFamily="34" charset="0"/>
            </a:endParaRPr>
          </a:p>
        </p:txBody>
      </p:sp>
      <p:sp>
        <p:nvSpPr>
          <p:cNvPr id="35" name="Pentagon 12">
            <a:extLst>
              <a:ext uri="{FF2B5EF4-FFF2-40B4-BE49-F238E27FC236}">
                <a16:creationId xmlns:a16="http://schemas.microsoft.com/office/drawing/2014/main" id="{FAAD3E63-9969-493C-BC09-1183E0D710CE}"/>
              </a:ext>
            </a:extLst>
          </p:cNvPr>
          <p:cNvSpPr/>
          <p:nvPr/>
        </p:nvSpPr>
        <p:spPr>
          <a:xfrm rot="16200000">
            <a:off x="5141010" y="991738"/>
            <a:ext cx="1008000" cy="4838438"/>
          </a:xfrm>
          <a:prstGeom prst="round2SameRect">
            <a:avLst>
              <a:gd name="adj1" fmla="val 50000"/>
              <a:gd name="adj2" fmla="val 0"/>
            </a:avLst>
          </a:prstGeom>
          <a:solidFill>
            <a:schemeClr val="accent3"/>
          </a:solidFill>
          <a:ln>
            <a:no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Rounded Rectangle 15">
            <a:extLst>
              <a:ext uri="{FF2B5EF4-FFF2-40B4-BE49-F238E27FC236}">
                <a16:creationId xmlns:a16="http://schemas.microsoft.com/office/drawing/2014/main" id="{7C0372C0-6DE6-44EE-8C47-9F2E5DA55CA1}"/>
              </a:ext>
            </a:extLst>
          </p:cNvPr>
          <p:cNvSpPr/>
          <p:nvPr/>
        </p:nvSpPr>
        <p:spPr>
          <a:xfrm rot="18900000">
            <a:off x="3317677" y="2984899"/>
            <a:ext cx="837070" cy="837070"/>
          </a:xfrm>
          <a:prstGeom prst="ellipse">
            <a:avLst/>
          </a:prstGeom>
          <a:solidFill>
            <a:schemeClr val="accent3">
              <a:lumMod val="75000"/>
            </a:schemeClr>
          </a:solidFill>
          <a:ln>
            <a:noFill/>
          </a:ln>
          <a:effectLst>
            <a:outerShdw blurRad="50800" dist="38100" dir="5400000" algn="ctr" rotWithShape="0">
              <a:srgbClr val="000000">
                <a:alpha val="43000"/>
              </a:srgbClr>
            </a:outerShdw>
          </a:effectLst>
        </p:spPr>
        <p:txBody>
          <a:bodyPr vert="horz" wrap="square" lIns="91440" tIns="45720" rIns="91440" bIns="45720" numCol="1" anchor="t" anchorCtr="0" compatLnSpc="1">
            <a:prstTxWarp prst="textNoShape">
              <a:avLst/>
            </a:prstTxWarp>
          </a:bodyPr>
          <a:lstStyle/>
          <a:p>
            <a:endParaRPr lang="ko-KR" altLang="en-US"/>
          </a:p>
        </p:txBody>
      </p:sp>
      <p:sp>
        <p:nvSpPr>
          <p:cNvPr id="39" name="Rounded Rectangle 16">
            <a:extLst>
              <a:ext uri="{FF2B5EF4-FFF2-40B4-BE49-F238E27FC236}">
                <a16:creationId xmlns:a16="http://schemas.microsoft.com/office/drawing/2014/main" id="{0A8E9040-65FC-4059-8F3C-FB7C3EE34A84}"/>
              </a:ext>
            </a:extLst>
          </p:cNvPr>
          <p:cNvSpPr/>
          <p:nvPr/>
        </p:nvSpPr>
        <p:spPr>
          <a:xfrm rot="18900000">
            <a:off x="3395629" y="3062851"/>
            <a:ext cx="681166" cy="681166"/>
          </a:xfrm>
          <a:prstGeom prst="ellipse">
            <a:avLst/>
          </a:prstGeom>
          <a:solidFill>
            <a:schemeClr val="bg1"/>
          </a:solidFill>
          <a:ln w="63500">
            <a:noFill/>
          </a:ln>
          <a:effectLst>
            <a:outerShdw blurRad="50800" dist="38100" dir="5400000" algn="ctr"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a:extLst>
              <a:ext uri="{FF2B5EF4-FFF2-40B4-BE49-F238E27FC236}">
                <a16:creationId xmlns:a16="http://schemas.microsoft.com/office/drawing/2014/main" id="{AE6BF887-1C5B-402F-8B1D-75D767459C65}"/>
              </a:ext>
            </a:extLst>
          </p:cNvPr>
          <p:cNvSpPr txBox="1"/>
          <p:nvPr/>
        </p:nvSpPr>
        <p:spPr>
          <a:xfrm>
            <a:off x="3487036" y="3218768"/>
            <a:ext cx="498353" cy="369332"/>
          </a:xfrm>
          <a:prstGeom prst="rect">
            <a:avLst/>
          </a:prstGeom>
          <a:noFill/>
        </p:spPr>
        <p:txBody>
          <a:bodyPr wrap="square" rtlCol="0">
            <a:spAutoFit/>
          </a:bodyPr>
          <a:lstStyle/>
          <a:p>
            <a:pPr algn="ctr"/>
            <a:r>
              <a:rPr lang="en-US" altLang="ko-KR" b="1" dirty="0">
                <a:solidFill>
                  <a:schemeClr val="tx1">
                    <a:lumMod val="75000"/>
                    <a:lumOff val="25000"/>
                  </a:schemeClr>
                </a:solidFill>
                <a:cs typeface="Arial" pitchFamily="34" charset="0"/>
              </a:rPr>
              <a:t>02</a:t>
            </a:r>
            <a:endParaRPr lang="ko-KR" altLang="en-US" b="1" dirty="0">
              <a:solidFill>
                <a:schemeClr val="tx1">
                  <a:lumMod val="75000"/>
                  <a:lumOff val="25000"/>
                </a:schemeClr>
              </a:solidFill>
              <a:cs typeface="Arial" pitchFamily="34" charset="0"/>
            </a:endParaRPr>
          </a:p>
        </p:txBody>
      </p:sp>
      <p:pic>
        <p:nvPicPr>
          <p:cNvPr id="71" name="Picture 2" descr="E:\002-KIMS BUSINESS\007-04-1-FIVERR\01-PPT-TEMPLATE\COVER-PSD\05-cut-01.png">
            <a:extLst>
              <a:ext uri="{FF2B5EF4-FFF2-40B4-BE49-F238E27FC236}">
                <a16:creationId xmlns:a16="http://schemas.microsoft.com/office/drawing/2014/main" id="{97A9D2FD-68E7-4903-831D-92291E4C65E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7362176" y="5530354"/>
            <a:ext cx="1333697" cy="226236"/>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E:\002-KIMS BUSINESS\007-04-1-FIVERR\01-PPT-TEMPLATE\COVER-PSD\05-cut-01.png">
            <a:extLst>
              <a:ext uri="{FF2B5EF4-FFF2-40B4-BE49-F238E27FC236}">
                <a16:creationId xmlns:a16="http://schemas.microsoft.com/office/drawing/2014/main" id="{066A7A3C-CDDA-4A17-AB7C-BB0A770F1AA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7455401" y="3326052"/>
            <a:ext cx="1150267" cy="205902"/>
          </a:xfrm>
          <a:prstGeom prst="rect">
            <a:avLst/>
          </a:prstGeom>
          <a:noFill/>
          <a:extLst>
            <a:ext uri="{909E8E84-426E-40DD-AFC4-6F175D3DCCD1}">
              <a14:hiddenFill xmlns:a14="http://schemas.microsoft.com/office/drawing/2010/main">
                <a:solidFill>
                  <a:srgbClr val="FFFFFF"/>
                </a:solidFill>
              </a14:hiddenFill>
            </a:ext>
          </a:extLst>
        </p:spPr>
      </p:pic>
      <p:grpSp>
        <p:nvGrpSpPr>
          <p:cNvPr id="55" name="Group 32">
            <a:extLst>
              <a:ext uri="{FF2B5EF4-FFF2-40B4-BE49-F238E27FC236}">
                <a16:creationId xmlns:a16="http://schemas.microsoft.com/office/drawing/2014/main" id="{BE9E4814-C0AC-484C-B258-019414670DF0}"/>
              </a:ext>
            </a:extLst>
          </p:cNvPr>
          <p:cNvGrpSpPr/>
          <p:nvPr/>
        </p:nvGrpSpPr>
        <p:grpSpPr>
          <a:xfrm>
            <a:off x="4115139" y="1795602"/>
            <a:ext cx="3985027" cy="1228894"/>
            <a:chOff x="195510" y="4240528"/>
            <a:chExt cx="4697907" cy="1239068"/>
          </a:xfrm>
        </p:grpSpPr>
        <p:sp>
          <p:nvSpPr>
            <p:cNvPr id="56" name="TextBox 55">
              <a:extLst>
                <a:ext uri="{FF2B5EF4-FFF2-40B4-BE49-F238E27FC236}">
                  <a16:creationId xmlns:a16="http://schemas.microsoft.com/office/drawing/2014/main" id="{28410AF5-DC5D-4F43-9585-F7AF2649BAB9}"/>
                </a:ext>
              </a:extLst>
            </p:cNvPr>
            <p:cNvSpPr txBox="1"/>
            <p:nvPr/>
          </p:nvSpPr>
          <p:spPr>
            <a:xfrm>
              <a:off x="195510" y="4540877"/>
              <a:ext cx="4620351" cy="938719"/>
            </a:xfrm>
            <a:prstGeom prst="rect">
              <a:avLst/>
            </a:prstGeom>
            <a:noFill/>
          </p:spPr>
          <p:txBody>
            <a:bodyPr wrap="square" rtlCol="0">
              <a:spAutoFit/>
            </a:bodyPr>
            <a:lstStyle/>
            <a:p>
              <a:pPr algn="r"/>
              <a:r>
                <a:rPr lang="en-US" sz="1100" dirty="0"/>
                <a:t>Blossom Bank also known as BB PLC is a multinational financial services group, that offers retail and investment banking, pension management, asset management and payments services, headquartered in London, UK.</a:t>
              </a:r>
              <a:endParaRPr lang="en-US" altLang="ko-KR" sz="1100" dirty="0">
                <a:solidFill>
                  <a:schemeClr val="tx1">
                    <a:lumMod val="75000"/>
                    <a:lumOff val="25000"/>
                  </a:schemeClr>
                </a:solidFill>
                <a:cs typeface="Arial" pitchFamily="34" charset="0"/>
              </a:endParaRPr>
            </a:p>
          </p:txBody>
        </p:sp>
        <p:sp>
          <p:nvSpPr>
            <p:cNvPr id="57" name="TextBox 56">
              <a:extLst>
                <a:ext uri="{FF2B5EF4-FFF2-40B4-BE49-F238E27FC236}">
                  <a16:creationId xmlns:a16="http://schemas.microsoft.com/office/drawing/2014/main" id="{5D8BE8A9-A3B0-48FB-A00D-6927280CEBC2}"/>
                </a:ext>
              </a:extLst>
            </p:cNvPr>
            <p:cNvSpPr txBox="1"/>
            <p:nvPr/>
          </p:nvSpPr>
          <p:spPr>
            <a:xfrm>
              <a:off x="205690" y="4240528"/>
              <a:ext cx="4687727" cy="276999"/>
            </a:xfrm>
            <a:prstGeom prst="rect">
              <a:avLst/>
            </a:prstGeom>
            <a:noFill/>
          </p:spPr>
          <p:txBody>
            <a:bodyPr wrap="square" rtlCol="0">
              <a:spAutoFit/>
            </a:bodyPr>
            <a:lstStyle/>
            <a:p>
              <a:pPr algn="r"/>
              <a:r>
                <a:rPr lang="en-US" altLang="ko-KR" sz="1200" b="1" dirty="0">
                  <a:cs typeface="Arial" pitchFamily="34" charset="0"/>
                </a:rPr>
                <a:t>About</a:t>
              </a:r>
              <a:endParaRPr lang="ko-KR" altLang="en-US" sz="1200" b="1" dirty="0">
                <a:cs typeface="Arial" pitchFamily="34" charset="0"/>
              </a:endParaRPr>
            </a:p>
          </p:txBody>
        </p:sp>
      </p:grpSp>
      <p:grpSp>
        <p:nvGrpSpPr>
          <p:cNvPr id="76" name="Group 32">
            <a:extLst>
              <a:ext uri="{FF2B5EF4-FFF2-40B4-BE49-F238E27FC236}">
                <a16:creationId xmlns:a16="http://schemas.microsoft.com/office/drawing/2014/main" id="{3B05D018-FCD5-4A54-8CCB-95A21FC33F2D}"/>
              </a:ext>
            </a:extLst>
          </p:cNvPr>
          <p:cNvGrpSpPr/>
          <p:nvPr/>
        </p:nvGrpSpPr>
        <p:grpSpPr>
          <a:xfrm>
            <a:off x="4265746" y="2975394"/>
            <a:ext cx="3761788" cy="714829"/>
            <a:chOff x="200944" y="4307149"/>
            <a:chExt cx="4687727" cy="714829"/>
          </a:xfrm>
        </p:grpSpPr>
        <p:sp>
          <p:nvSpPr>
            <p:cNvPr id="77" name="TextBox 76">
              <a:extLst>
                <a:ext uri="{FF2B5EF4-FFF2-40B4-BE49-F238E27FC236}">
                  <a16:creationId xmlns:a16="http://schemas.microsoft.com/office/drawing/2014/main" id="{1E7852AF-F05A-4FF1-8E98-C339D1C655C0}"/>
                </a:ext>
              </a:extLst>
            </p:cNvPr>
            <p:cNvSpPr txBox="1"/>
            <p:nvPr/>
          </p:nvSpPr>
          <p:spPr>
            <a:xfrm>
              <a:off x="245430" y="4560313"/>
              <a:ext cx="4620351" cy="461665"/>
            </a:xfrm>
            <a:prstGeom prst="rect">
              <a:avLst/>
            </a:prstGeom>
            <a:noFill/>
          </p:spPr>
          <p:txBody>
            <a:bodyPr wrap="square" rtlCol="0">
              <a:spAutoFit/>
            </a:bodyPr>
            <a:lstStyle/>
            <a:p>
              <a:r>
                <a:rPr lang="en-US" sz="1200" dirty="0">
                  <a:solidFill>
                    <a:schemeClr val="bg1"/>
                  </a:solidFill>
                </a:rPr>
                <a:t>Blossom Bank wants to build a Machine Learning model to predict online payment fraud. </a:t>
              </a:r>
              <a:endParaRPr lang="en-US" altLang="ko-KR" sz="1200" dirty="0">
                <a:solidFill>
                  <a:schemeClr val="bg1"/>
                </a:solidFill>
                <a:cs typeface="Arial" pitchFamily="34" charset="0"/>
              </a:endParaRPr>
            </a:p>
          </p:txBody>
        </p:sp>
        <p:sp>
          <p:nvSpPr>
            <p:cNvPr id="78" name="TextBox 77">
              <a:extLst>
                <a:ext uri="{FF2B5EF4-FFF2-40B4-BE49-F238E27FC236}">
                  <a16:creationId xmlns:a16="http://schemas.microsoft.com/office/drawing/2014/main" id="{D7948476-B344-4AC2-9A1E-596F953B6C7B}"/>
                </a:ext>
              </a:extLst>
            </p:cNvPr>
            <p:cNvSpPr txBox="1"/>
            <p:nvPr/>
          </p:nvSpPr>
          <p:spPr>
            <a:xfrm>
              <a:off x="200944" y="4307149"/>
              <a:ext cx="4687727" cy="276999"/>
            </a:xfrm>
            <a:prstGeom prst="rect">
              <a:avLst/>
            </a:prstGeom>
            <a:noFill/>
          </p:spPr>
          <p:txBody>
            <a:bodyPr wrap="square" rtlCol="0">
              <a:spAutoFit/>
            </a:bodyPr>
            <a:lstStyle/>
            <a:p>
              <a:r>
                <a:rPr lang="en-US" altLang="ko-KR" sz="1200" b="1" dirty="0">
                  <a:solidFill>
                    <a:schemeClr val="bg1"/>
                  </a:solidFill>
                  <a:cs typeface="Arial" pitchFamily="34" charset="0"/>
                </a:rPr>
                <a:t>Problem Statement</a:t>
              </a:r>
              <a:endParaRPr lang="ko-KR" altLang="en-US" sz="1200" b="1" dirty="0">
                <a:solidFill>
                  <a:schemeClr val="bg1"/>
                </a:solidFill>
                <a:cs typeface="Arial" pitchFamily="34" charset="0"/>
              </a:endParaRPr>
            </a:p>
          </p:txBody>
        </p:sp>
      </p:grpSp>
      <p:grpSp>
        <p:nvGrpSpPr>
          <p:cNvPr id="79" name="Group 32">
            <a:extLst>
              <a:ext uri="{FF2B5EF4-FFF2-40B4-BE49-F238E27FC236}">
                <a16:creationId xmlns:a16="http://schemas.microsoft.com/office/drawing/2014/main" id="{448718C4-288B-464A-A146-7A4578BB1C9E}"/>
              </a:ext>
            </a:extLst>
          </p:cNvPr>
          <p:cNvGrpSpPr/>
          <p:nvPr/>
        </p:nvGrpSpPr>
        <p:grpSpPr>
          <a:xfrm>
            <a:off x="4146225" y="4034440"/>
            <a:ext cx="3761788" cy="899495"/>
            <a:chOff x="200944" y="4307149"/>
            <a:chExt cx="4687727" cy="899495"/>
          </a:xfrm>
        </p:grpSpPr>
        <p:sp>
          <p:nvSpPr>
            <p:cNvPr id="80" name="TextBox 79">
              <a:extLst>
                <a:ext uri="{FF2B5EF4-FFF2-40B4-BE49-F238E27FC236}">
                  <a16:creationId xmlns:a16="http://schemas.microsoft.com/office/drawing/2014/main" id="{EA1B585C-833C-4032-B21F-9E48AA37A8DD}"/>
                </a:ext>
              </a:extLst>
            </p:cNvPr>
            <p:cNvSpPr txBox="1"/>
            <p:nvPr/>
          </p:nvSpPr>
          <p:spPr>
            <a:xfrm>
              <a:off x="245430" y="4560313"/>
              <a:ext cx="4620351" cy="646331"/>
            </a:xfrm>
            <a:prstGeom prst="rect">
              <a:avLst/>
            </a:prstGeom>
            <a:noFill/>
          </p:spPr>
          <p:txBody>
            <a:bodyPr wrap="square" rtlCol="0">
              <a:spAutoFit/>
            </a:bodyPr>
            <a:lstStyle/>
            <a:p>
              <a:pPr algn="l"/>
              <a:r>
                <a:rPr lang="nn-NO" sz="1200" b="0" i="0" dirty="0">
                  <a:effectLst/>
                  <a:latin typeface="+mj-lt"/>
                </a:rPr>
                <a:t>Insights and visualization was done using the concept of Univariate Analysis, Bivariate Analysis and Multivariate Analysis after wrangling the data.</a:t>
              </a:r>
            </a:p>
          </p:txBody>
        </p:sp>
        <p:sp>
          <p:nvSpPr>
            <p:cNvPr id="81" name="TextBox 80">
              <a:extLst>
                <a:ext uri="{FF2B5EF4-FFF2-40B4-BE49-F238E27FC236}">
                  <a16:creationId xmlns:a16="http://schemas.microsoft.com/office/drawing/2014/main" id="{20107F4B-AD67-41CA-AD6D-13BFF9C828C9}"/>
                </a:ext>
              </a:extLst>
            </p:cNvPr>
            <p:cNvSpPr txBox="1"/>
            <p:nvPr/>
          </p:nvSpPr>
          <p:spPr>
            <a:xfrm>
              <a:off x="200944" y="4307149"/>
              <a:ext cx="4687727" cy="276999"/>
            </a:xfrm>
            <a:prstGeom prst="rect">
              <a:avLst/>
            </a:prstGeom>
            <a:noFill/>
          </p:spPr>
          <p:txBody>
            <a:bodyPr wrap="square" rtlCol="0">
              <a:spAutoFit/>
            </a:bodyPr>
            <a:lstStyle/>
            <a:p>
              <a:pPr algn="r"/>
              <a:r>
                <a:rPr lang="en-US" altLang="ko-KR" sz="1200" b="1" dirty="0">
                  <a:solidFill>
                    <a:schemeClr val="tx1">
                      <a:lumMod val="75000"/>
                      <a:lumOff val="25000"/>
                    </a:schemeClr>
                  </a:solidFill>
                  <a:cs typeface="Arial" pitchFamily="34" charset="0"/>
                </a:rPr>
                <a:t>Exploratory Data Analysis</a:t>
              </a:r>
              <a:endParaRPr lang="ko-KR" altLang="en-US" sz="1200" b="1" dirty="0">
                <a:solidFill>
                  <a:schemeClr val="tx1">
                    <a:lumMod val="75000"/>
                    <a:lumOff val="25000"/>
                  </a:schemeClr>
                </a:solidFill>
                <a:cs typeface="Arial" pitchFamily="34" charset="0"/>
              </a:endParaRPr>
            </a:p>
          </p:txBody>
        </p:sp>
      </p:grpSp>
      <p:grpSp>
        <p:nvGrpSpPr>
          <p:cNvPr id="82" name="Group 32">
            <a:extLst>
              <a:ext uri="{FF2B5EF4-FFF2-40B4-BE49-F238E27FC236}">
                <a16:creationId xmlns:a16="http://schemas.microsoft.com/office/drawing/2014/main" id="{CC55E37C-2319-49D2-8585-04769FE3E725}"/>
              </a:ext>
            </a:extLst>
          </p:cNvPr>
          <p:cNvGrpSpPr/>
          <p:nvPr/>
        </p:nvGrpSpPr>
        <p:grpSpPr>
          <a:xfrm>
            <a:off x="4254147" y="5137994"/>
            <a:ext cx="3761788" cy="899495"/>
            <a:chOff x="200944" y="4307149"/>
            <a:chExt cx="4687727" cy="899495"/>
          </a:xfrm>
        </p:grpSpPr>
        <p:sp>
          <p:nvSpPr>
            <p:cNvPr id="83" name="TextBox 82">
              <a:extLst>
                <a:ext uri="{FF2B5EF4-FFF2-40B4-BE49-F238E27FC236}">
                  <a16:creationId xmlns:a16="http://schemas.microsoft.com/office/drawing/2014/main" id="{2788243A-BE14-42D0-8735-B40504CB76E7}"/>
                </a:ext>
              </a:extLst>
            </p:cNvPr>
            <p:cNvSpPr txBox="1"/>
            <p:nvPr/>
          </p:nvSpPr>
          <p:spPr>
            <a:xfrm>
              <a:off x="245430" y="4560313"/>
              <a:ext cx="4620351" cy="646331"/>
            </a:xfrm>
            <a:prstGeom prst="rect">
              <a:avLst/>
            </a:prstGeom>
            <a:noFill/>
          </p:spPr>
          <p:txBody>
            <a:bodyPr wrap="square" rtlCol="0">
              <a:spAutoFit/>
            </a:bodyPr>
            <a:lstStyle/>
            <a:p>
              <a:r>
                <a:rPr lang="en-US" altLang="ko-KR" sz="1200" dirty="0">
                  <a:solidFill>
                    <a:schemeClr val="bg1"/>
                  </a:solidFill>
                  <a:cs typeface="Arial" pitchFamily="34" charset="0"/>
                </a:rPr>
                <a:t>Recommendation is based on the ML models used to train the data set and feature engineering and classification for accurate prediction.</a:t>
              </a:r>
            </a:p>
          </p:txBody>
        </p:sp>
        <p:sp>
          <p:nvSpPr>
            <p:cNvPr id="84" name="TextBox 83">
              <a:extLst>
                <a:ext uri="{FF2B5EF4-FFF2-40B4-BE49-F238E27FC236}">
                  <a16:creationId xmlns:a16="http://schemas.microsoft.com/office/drawing/2014/main" id="{E06F7340-FCC6-4383-8164-DEADC2E465A3}"/>
                </a:ext>
              </a:extLst>
            </p:cNvPr>
            <p:cNvSpPr txBox="1"/>
            <p:nvPr/>
          </p:nvSpPr>
          <p:spPr>
            <a:xfrm>
              <a:off x="200944" y="4307149"/>
              <a:ext cx="4687727" cy="276999"/>
            </a:xfrm>
            <a:prstGeom prst="rect">
              <a:avLst/>
            </a:prstGeom>
            <a:noFill/>
          </p:spPr>
          <p:txBody>
            <a:bodyPr wrap="square" rtlCol="0">
              <a:spAutoFit/>
            </a:bodyPr>
            <a:lstStyle/>
            <a:p>
              <a:r>
                <a:rPr lang="en-US" altLang="ko-KR" sz="1200" b="1" dirty="0">
                  <a:solidFill>
                    <a:schemeClr val="bg1"/>
                  </a:solidFill>
                  <a:cs typeface="Arial" pitchFamily="34" charset="0"/>
                </a:rPr>
                <a:t>Summary and Recommendation</a:t>
              </a:r>
              <a:endParaRPr lang="ko-KR" altLang="en-US" sz="1200" b="1" dirty="0">
                <a:solidFill>
                  <a:schemeClr val="bg1"/>
                </a:solidFill>
                <a:cs typeface="Arial" pitchFamily="34" charset="0"/>
              </a:endParaRPr>
            </a:p>
          </p:txBody>
        </p:sp>
      </p:grpSp>
      <p:grpSp>
        <p:nvGrpSpPr>
          <p:cNvPr id="88" name="그룹 87">
            <a:extLst>
              <a:ext uri="{FF2B5EF4-FFF2-40B4-BE49-F238E27FC236}">
                <a16:creationId xmlns:a16="http://schemas.microsoft.com/office/drawing/2014/main" id="{713A3400-6C5B-4FC6-99A9-0FB714E5C633}"/>
              </a:ext>
            </a:extLst>
          </p:cNvPr>
          <p:cNvGrpSpPr/>
          <p:nvPr/>
        </p:nvGrpSpPr>
        <p:grpSpPr>
          <a:xfrm>
            <a:off x="1327115" y="4349790"/>
            <a:ext cx="2523434" cy="1065203"/>
            <a:chOff x="1682410" y="2217893"/>
            <a:chExt cx="2019261" cy="852379"/>
          </a:xfrm>
        </p:grpSpPr>
        <p:grpSp>
          <p:nvGrpSpPr>
            <p:cNvPr id="87" name="그룹 86">
              <a:extLst>
                <a:ext uri="{FF2B5EF4-FFF2-40B4-BE49-F238E27FC236}">
                  <a16:creationId xmlns:a16="http://schemas.microsoft.com/office/drawing/2014/main" id="{BE6CEE52-9645-4AC8-A379-9B34920182A6}"/>
                </a:ext>
              </a:extLst>
            </p:cNvPr>
            <p:cNvGrpSpPr/>
            <p:nvPr/>
          </p:nvGrpSpPr>
          <p:grpSpPr>
            <a:xfrm>
              <a:off x="1774163" y="2217893"/>
              <a:ext cx="1927508" cy="852379"/>
              <a:chOff x="1774163" y="2217893"/>
              <a:chExt cx="1927508" cy="852379"/>
            </a:xfrm>
            <a:solidFill>
              <a:schemeClr val="bg1"/>
            </a:solidFill>
          </p:grpSpPr>
          <p:sp>
            <p:nvSpPr>
              <p:cNvPr id="73" name="Freeform 18">
                <a:extLst>
                  <a:ext uri="{FF2B5EF4-FFF2-40B4-BE49-F238E27FC236}">
                    <a16:creationId xmlns:a16="http://schemas.microsoft.com/office/drawing/2014/main" id="{B973C137-94F3-4C08-BACE-5C100A96980B}"/>
                  </a:ext>
                </a:extLst>
              </p:cNvPr>
              <p:cNvSpPr/>
              <p:nvPr/>
            </p:nvSpPr>
            <p:spPr>
              <a:xfrm flipH="1">
                <a:off x="1774163" y="2350717"/>
                <a:ext cx="1600825" cy="719555"/>
              </a:xfrm>
              <a:custGeom>
                <a:avLst/>
                <a:gdLst>
                  <a:gd name="connsiteX0" fmla="*/ 4126727 w 4126727"/>
                  <a:gd name="connsiteY0" fmla="*/ 866693 h 1836752"/>
                  <a:gd name="connsiteX1" fmla="*/ 2782957 w 4126727"/>
                  <a:gd name="connsiteY1" fmla="*/ 0 h 1836752"/>
                  <a:gd name="connsiteX2" fmla="*/ 2703444 w 4126727"/>
                  <a:gd name="connsiteY2" fmla="*/ 7952 h 1836752"/>
                  <a:gd name="connsiteX3" fmla="*/ 1375576 w 4126727"/>
                  <a:gd name="connsiteY3" fmla="*/ 326004 h 1836752"/>
                  <a:gd name="connsiteX4" fmla="*/ 0 w 4126727"/>
                  <a:gd name="connsiteY4" fmla="*/ 477079 h 1836752"/>
                  <a:gd name="connsiteX5" fmla="*/ 1574358 w 4126727"/>
                  <a:gd name="connsiteY5" fmla="*/ 898498 h 1836752"/>
                  <a:gd name="connsiteX6" fmla="*/ 2576223 w 4126727"/>
                  <a:gd name="connsiteY6" fmla="*/ 1280160 h 1836752"/>
                  <a:gd name="connsiteX7" fmla="*/ 3267986 w 4126727"/>
                  <a:gd name="connsiteY7" fmla="*/ 1836752 h 1836752"/>
                  <a:gd name="connsiteX8" fmla="*/ 4126727 w 4126727"/>
                  <a:gd name="connsiteY8" fmla="*/ 866693 h 1836752"/>
                  <a:gd name="connsiteX0" fmla="*/ 4126727 w 4126727"/>
                  <a:gd name="connsiteY0" fmla="*/ 884466 h 1854525"/>
                  <a:gd name="connsiteX1" fmla="*/ 2782957 w 4126727"/>
                  <a:gd name="connsiteY1" fmla="*/ 17773 h 1854525"/>
                  <a:gd name="connsiteX2" fmla="*/ 2703444 w 4126727"/>
                  <a:gd name="connsiteY2" fmla="*/ 25725 h 1854525"/>
                  <a:gd name="connsiteX3" fmla="*/ 1375576 w 4126727"/>
                  <a:gd name="connsiteY3" fmla="*/ 343777 h 1854525"/>
                  <a:gd name="connsiteX4" fmla="*/ 0 w 4126727"/>
                  <a:gd name="connsiteY4" fmla="*/ 494852 h 1854525"/>
                  <a:gd name="connsiteX5" fmla="*/ 1574358 w 4126727"/>
                  <a:gd name="connsiteY5" fmla="*/ 916271 h 1854525"/>
                  <a:gd name="connsiteX6" fmla="*/ 2576223 w 4126727"/>
                  <a:gd name="connsiteY6" fmla="*/ 1297933 h 1854525"/>
                  <a:gd name="connsiteX7" fmla="*/ 3267986 w 4126727"/>
                  <a:gd name="connsiteY7" fmla="*/ 1854525 h 1854525"/>
                  <a:gd name="connsiteX8" fmla="*/ 4126727 w 4126727"/>
                  <a:gd name="connsiteY8" fmla="*/ 884466 h 1854525"/>
                  <a:gd name="connsiteX0" fmla="*/ 1375576 w 4126727"/>
                  <a:gd name="connsiteY0" fmla="*/ 331865 h 1842613"/>
                  <a:gd name="connsiteX1" fmla="*/ 0 w 4126727"/>
                  <a:gd name="connsiteY1" fmla="*/ 482940 h 1842613"/>
                  <a:gd name="connsiteX2" fmla="*/ 1574358 w 4126727"/>
                  <a:gd name="connsiteY2" fmla="*/ 904359 h 1842613"/>
                  <a:gd name="connsiteX3" fmla="*/ 2576223 w 4126727"/>
                  <a:gd name="connsiteY3" fmla="*/ 1286021 h 1842613"/>
                  <a:gd name="connsiteX4" fmla="*/ 3267986 w 4126727"/>
                  <a:gd name="connsiteY4" fmla="*/ 1842613 h 1842613"/>
                  <a:gd name="connsiteX5" fmla="*/ 4126727 w 4126727"/>
                  <a:gd name="connsiteY5" fmla="*/ 872554 h 1842613"/>
                  <a:gd name="connsiteX6" fmla="*/ 2782957 w 4126727"/>
                  <a:gd name="connsiteY6" fmla="*/ 5861 h 1842613"/>
                  <a:gd name="connsiteX7" fmla="*/ 2794884 w 4126727"/>
                  <a:gd name="connsiteY7" fmla="*/ 105253 h 1842613"/>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90578 h 1901326"/>
                  <a:gd name="connsiteX1" fmla="*/ 0 w 4063117"/>
                  <a:gd name="connsiteY1" fmla="*/ 541653 h 1901326"/>
                  <a:gd name="connsiteX2" fmla="*/ 1574358 w 4063117"/>
                  <a:gd name="connsiteY2" fmla="*/ 963072 h 1901326"/>
                  <a:gd name="connsiteX3" fmla="*/ 2576223 w 4063117"/>
                  <a:gd name="connsiteY3" fmla="*/ 1344734 h 1901326"/>
                  <a:gd name="connsiteX4" fmla="*/ 3267986 w 4063117"/>
                  <a:gd name="connsiteY4" fmla="*/ 1901326 h 1901326"/>
                  <a:gd name="connsiteX5" fmla="*/ 4063117 w 4063117"/>
                  <a:gd name="connsiteY5" fmla="*/ 994878 h 1901326"/>
                  <a:gd name="connsiteX6" fmla="*/ 2782957 w 4063117"/>
                  <a:gd name="connsiteY6" fmla="*/ 64574 h 1901326"/>
                  <a:gd name="connsiteX7" fmla="*/ 2178658 w 4063117"/>
                  <a:gd name="connsiteY7" fmla="*/ 96380 h 1901326"/>
                  <a:gd name="connsiteX8" fmla="*/ 1375576 w 4063117"/>
                  <a:gd name="connsiteY8" fmla="*/ 390578 h 1901326"/>
                  <a:gd name="connsiteX0" fmla="*/ 1375576 w 4063117"/>
                  <a:gd name="connsiteY0" fmla="*/ 383650 h 1894398"/>
                  <a:gd name="connsiteX1" fmla="*/ 0 w 4063117"/>
                  <a:gd name="connsiteY1" fmla="*/ 534725 h 1894398"/>
                  <a:gd name="connsiteX2" fmla="*/ 1574358 w 4063117"/>
                  <a:gd name="connsiteY2" fmla="*/ 956144 h 1894398"/>
                  <a:gd name="connsiteX3" fmla="*/ 2576223 w 4063117"/>
                  <a:gd name="connsiteY3" fmla="*/ 1337806 h 1894398"/>
                  <a:gd name="connsiteX4" fmla="*/ 3267986 w 4063117"/>
                  <a:gd name="connsiteY4" fmla="*/ 1894398 h 1894398"/>
                  <a:gd name="connsiteX5" fmla="*/ 4063117 w 4063117"/>
                  <a:gd name="connsiteY5" fmla="*/ 987950 h 1894398"/>
                  <a:gd name="connsiteX6" fmla="*/ 2782957 w 4063117"/>
                  <a:gd name="connsiteY6" fmla="*/ 57646 h 1894398"/>
                  <a:gd name="connsiteX7" fmla="*/ 2178658 w 4063117"/>
                  <a:gd name="connsiteY7" fmla="*/ 89452 h 1894398"/>
                  <a:gd name="connsiteX8" fmla="*/ 1375576 w 4063117"/>
                  <a:gd name="connsiteY8" fmla="*/ 383650 h 1894398"/>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625109 w 4112003"/>
                  <a:gd name="connsiteY3" fmla="*/ 1280160 h 1836752"/>
                  <a:gd name="connsiteX4" fmla="*/ 3316872 w 4112003"/>
                  <a:gd name="connsiteY4" fmla="*/ 1836752 h 1836752"/>
                  <a:gd name="connsiteX5" fmla="*/ 4112003 w 4112003"/>
                  <a:gd name="connsiteY5" fmla="*/ 930304 h 1836752"/>
                  <a:gd name="connsiteX6" fmla="*/ 2831843 w 4112003"/>
                  <a:gd name="connsiteY6" fmla="*/ 0 h 1836752"/>
                  <a:gd name="connsiteX7" fmla="*/ 2227544 w 4112003"/>
                  <a:gd name="connsiteY7" fmla="*/ 31806 h 1836752"/>
                  <a:gd name="connsiteX8" fmla="*/ 1424462 w 4112003"/>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132129 w 4112003"/>
                  <a:gd name="connsiteY3" fmla="*/ 993914 h 1836752"/>
                  <a:gd name="connsiteX4" fmla="*/ 2625109 w 4112003"/>
                  <a:gd name="connsiteY4" fmla="*/ 1280160 h 1836752"/>
                  <a:gd name="connsiteX5" fmla="*/ 3316872 w 4112003"/>
                  <a:gd name="connsiteY5" fmla="*/ 1836752 h 1836752"/>
                  <a:gd name="connsiteX6" fmla="*/ 4112003 w 4112003"/>
                  <a:gd name="connsiteY6" fmla="*/ 930304 h 1836752"/>
                  <a:gd name="connsiteX7" fmla="*/ 2831843 w 4112003"/>
                  <a:gd name="connsiteY7" fmla="*/ 0 h 1836752"/>
                  <a:gd name="connsiteX8" fmla="*/ 2227544 w 4112003"/>
                  <a:gd name="connsiteY8" fmla="*/ 31806 h 1836752"/>
                  <a:gd name="connsiteX9" fmla="*/ 1424462 w 4112003"/>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38408 h 1849156"/>
                  <a:gd name="connsiteX1" fmla="*/ 59649 w 4122766"/>
                  <a:gd name="connsiteY1" fmla="*/ 489483 h 1849156"/>
                  <a:gd name="connsiteX2" fmla="*/ 1634007 w 4122766"/>
                  <a:gd name="connsiteY2" fmla="*/ 910902 h 1849156"/>
                  <a:gd name="connsiteX3" fmla="*/ 2142892 w 4122766"/>
                  <a:gd name="connsiteY3" fmla="*/ 1006318 h 1849156"/>
                  <a:gd name="connsiteX4" fmla="*/ 2635872 w 4122766"/>
                  <a:gd name="connsiteY4" fmla="*/ 1292564 h 1849156"/>
                  <a:gd name="connsiteX5" fmla="*/ 3327635 w 4122766"/>
                  <a:gd name="connsiteY5" fmla="*/ 1849156 h 1849156"/>
                  <a:gd name="connsiteX6" fmla="*/ 4122766 w 4122766"/>
                  <a:gd name="connsiteY6" fmla="*/ 942708 h 1849156"/>
                  <a:gd name="connsiteX7" fmla="*/ 2842606 w 4122766"/>
                  <a:gd name="connsiteY7" fmla="*/ 12404 h 1849156"/>
                  <a:gd name="connsiteX8" fmla="*/ 2238307 w 4122766"/>
                  <a:gd name="connsiteY8" fmla="*/ 44210 h 1849156"/>
                  <a:gd name="connsiteX9" fmla="*/ 1435225 w 4122766"/>
                  <a:gd name="connsiteY9" fmla="*/ 338408 h 1849156"/>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39809 h 1850557"/>
                  <a:gd name="connsiteX1" fmla="*/ 59649 w 4122766"/>
                  <a:gd name="connsiteY1" fmla="*/ 490884 h 1850557"/>
                  <a:gd name="connsiteX2" fmla="*/ 1634007 w 4122766"/>
                  <a:gd name="connsiteY2" fmla="*/ 912303 h 1850557"/>
                  <a:gd name="connsiteX3" fmla="*/ 2142892 w 4122766"/>
                  <a:gd name="connsiteY3" fmla="*/ 1007719 h 1850557"/>
                  <a:gd name="connsiteX4" fmla="*/ 2635872 w 4122766"/>
                  <a:gd name="connsiteY4" fmla="*/ 1293965 h 1850557"/>
                  <a:gd name="connsiteX5" fmla="*/ 3327635 w 4122766"/>
                  <a:gd name="connsiteY5" fmla="*/ 1850557 h 1850557"/>
                  <a:gd name="connsiteX6" fmla="*/ 4122766 w 4122766"/>
                  <a:gd name="connsiteY6" fmla="*/ 944109 h 1850557"/>
                  <a:gd name="connsiteX7" fmla="*/ 2842606 w 4122766"/>
                  <a:gd name="connsiteY7" fmla="*/ 13805 h 1850557"/>
                  <a:gd name="connsiteX8" fmla="*/ 2166745 w 4122766"/>
                  <a:gd name="connsiteY8" fmla="*/ 93319 h 1850557"/>
                  <a:gd name="connsiteX9" fmla="*/ 1435225 w 4122766"/>
                  <a:gd name="connsiteY9" fmla="*/ 339809 h 1850557"/>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76690 h 1887438"/>
                  <a:gd name="connsiteX1" fmla="*/ 59649 w 4122766"/>
                  <a:gd name="connsiteY1" fmla="*/ 527765 h 1887438"/>
                  <a:gd name="connsiteX2" fmla="*/ 1634007 w 4122766"/>
                  <a:gd name="connsiteY2" fmla="*/ 949184 h 1887438"/>
                  <a:gd name="connsiteX3" fmla="*/ 2142892 w 4122766"/>
                  <a:gd name="connsiteY3" fmla="*/ 1044600 h 1887438"/>
                  <a:gd name="connsiteX4" fmla="*/ 2635872 w 4122766"/>
                  <a:gd name="connsiteY4" fmla="*/ 1330846 h 1887438"/>
                  <a:gd name="connsiteX5" fmla="*/ 3327635 w 4122766"/>
                  <a:gd name="connsiteY5" fmla="*/ 1887438 h 1887438"/>
                  <a:gd name="connsiteX6" fmla="*/ 4122766 w 4122766"/>
                  <a:gd name="connsiteY6" fmla="*/ 980990 h 1887438"/>
                  <a:gd name="connsiteX7" fmla="*/ 2842606 w 4122766"/>
                  <a:gd name="connsiteY7" fmla="*/ 18881 h 1887438"/>
                  <a:gd name="connsiteX8" fmla="*/ 2166745 w 4122766"/>
                  <a:gd name="connsiteY8" fmla="*/ 130200 h 1887438"/>
                  <a:gd name="connsiteX9" fmla="*/ 1435225 w 4122766"/>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548408 w 4067107"/>
                  <a:gd name="connsiteY4" fmla="*/ 1275187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089096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747240"/>
                  <a:gd name="connsiteX1" fmla="*/ 59649 w 4067107"/>
                  <a:gd name="connsiteY1" fmla="*/ 527765 h 1747240"/>
                  <a:gd name="connsiteX2" fmla="*/ 1634007 w 4067107"/>
                  <a:gd name="connsiteY2" fmla="*/ 949184 h 1747240"/>
                  <a:gd name="connsiteX3" fmla="*/ 2142892 w 4067107"/>
                  <a:gd name="connsiteY3" fmla="*/ 1044600 h 1747240"/>
                  <a:gd name="connsiteX4" fmla="*/ 2476846 w 4067107"/>
                  <a:gd name="connsiteY4" fmla="*/ 1378554 h 1747240"/>
                  <a:gd name="connsiteX5" fmla="*/ 3004138 w 4067107"/>
                  <a:gd name="connsiteY5" fmla="*/ 1747240 h 1747240"/>
                  <a:gd name="connsiteX6" fmla="*/ 4067107 w 4067107"/>
                  <a:gd name="connsiteY6" fmla="*/ 1036649 h 1747240"/>
                  <a:gd name="connsiteX7" fmla="*/ 2842606 w 4067107"/>
                  <a:gd name="connsiteY7" fmla="*/ 18881 h 1747240"/>
                  <a:gd name="connsiteX8" fmla="*/ 2166745 w 4067107"/>
                  <a:gd name="connsiteY8" fmla="*/ 130200 h 1747240"/>
                  <a:gd name="connsiteX9" fmla="*/ 1435225 w 4067107"/>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3004138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2806187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7153" h="1747240">
                    <a:moveTo>
                      <a:pt x="1435225" y="376690"/>
                    </a:moveTo>
                    <a:cubicBezTo>
                      <a:pt x="921041" y="355486"/>
                      <a:pt x="168317" y="374040"/>
                      <a:pt x="59649" y="527765"/>
                    </a:cubicBezTo>
                    <a:cubicBezTo>
                      <a:pt x="-282257" y="890874"/>
                      <a:pt x="926341" y="920030"/>
                      <a:pt x="1634007" y="949184"/>
                    </a:cubicBezTo>
                    <a:cubicBezTo>
                      <a:pt x="1755927" y="988940"/>
                      <a:pt x="2020972" y="1004844"/>
                      <a:pt x="2142892" y="1044600"/>
                    </a:cubicBezTo>
                    <a:lnTo>
                      <a:pt x="2476846" y="1378554"/>
                    </a:lnTo>
                    <a:lnTo>
                      <a:pt x="2806187" y="1747240"/>
                    </a:lnTo>
                    <a:lnTo>
                      <a:pt x="3887153" y="784714"/>
                    </a:lnTo>
                    <a:cubicBezTo>
                      <a:pt x="3502840" y="495816"/>
                      <a:pt x="3512746" y="372650"/>
                      <a:pt x="2842606" y="18881"/>
                    </a:cubicBezTo>
                    <a:cubicBezTo>
                      <a:pt x="2541783" y="-38103"/>
                      <a:pt x="2417210" y="44060"/>
                      <a:pt x="2166745" y="130200"/>
                    </a:cubicBezTo>
                    <a:cubicBezTo>
                      <a:pt x="1932182" y="184534"/>
                      <a:pt x="1811587" y="315730"/>
                      <a:pt x="1435225" y="3766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Freeform 19">
                <a:extLst>
                  <a:ext uri="{FF2B5EF4-FFF2-40B4-BE49-F238E27FC236}">
                    <a16:creationId xmlns:a16="http://schemas.microsoft.com/office/drawing/2014/main" id="{E5F2D95A-EEF5-4D3C-BB83-DA33E956DFE7}"/>
                  </a:ext>
                </a:extLst>
              </p:cNvPr>
              <p:cNvSpPr/>
              <p:nvPr/>
            </p:nvSpPr>
            <p:spPr>
              <a:xfrm flipH="1">
                <a:off x="2156087" y="2217893"/>
                <a:ext cx="1545584" cy="794676"/>
              </a:xfrm>
              <a:custGeom>
                <a:avLst/>
                <a:gdLst>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35267 h 1979038"/>
                  <a:gd name="connsiteX1" fmla="*/ 659958 w 3347499"/>
                  <a:gd name="connsiteY1" fmla="*/ 78676 h 1979038"/>
                  <a:gd name="connsiteX2" fmla="*/ 373711 w 3347499"/>
                  <a:gd name="connsiteY2" fmla="*/ 23017 h 1979038"/>
                  <a:gd name="connsiteX3" fmla="*/ 95416 w 3347499"/>
                  <a:gd name="connsiteY3" fmla="*/ 38919 h 1979038"/>
                  <a:gd name="connsiteX4" fmla="*/ 111318 w 3347499"/>
                  <a:gd name="connsiteY4" fmla="*/ 134335 h 1979038"/>
                  <a:gd name="connsiteX5" fmla="*/ 0 w 3347499"/>
                  <a:gd name="connsiteY5" fmla="*/ 197946 h 1979038"/>
                  <a:gd name="connsiteX6" fmla="*/ 779228 w 3347499"/>
                  <a:gd name="connsiteY6" fmla="*/ 1247518 h 1979038"/>
                  <a:gd name="connsiteX7" fmla="*/ 1900362 w 3347499"/>
                  <a:gd name="connsiteY7" fmla="*/ 1979038 h 1979038"/>
                  <a:gd name="connsiteX8" fmla="*/ 3347499 w 3347499"/>
                  <a:gd name="connsiteY8" fmla="*/ 1637132 h 1979038"/>
                  <a:gd name="connsiteX9" fmla="*/ 1304013 w 3347499"/>
                  <a:gd name="connsiteY9" fmla="*/ 635267 h 1979038"/>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11318 w 3347499"/>
                  <a:gd name="connsiteY4" fmla="*/ 153906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811033 w 3347499"/>
                  <a:gd name="connsiteY6" fmla="*/ 1243235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863437"/>
                  <a:gd name="connsiteX1" fmla="*/ 659958 w 3347499"/>
                  <a:gd name="connsiteY1" fmla="*/ 98247 h 1863437"/>
                  <a:gd name="connsiteX2" fmla="*/ 373711 w 3347499"/>
                  <a:gd name="connsiteY2" fmla="*/ 42588 h 1863437"/>
                  <a:gd name="connsiteX3" fmla="*/ 95416 w 3347499"/>
                  <a:gd name="connsiteY3" fmla="*/ 58490 h 1863437"/>
                  <a:gd name="connsiteX4" fmla="*/ 174928 w 3347499"/>
                  <a:gd name="connsiteY4" fmla="*/ 177759 h 1863437"/>
                  <a:gd name="connsiteX5" fmla="*/ 0 w 3347499"/>
                  <a:gd name="connsiteY5" fmla="*/ 217517 h 1863437"/>
                  <a:gd name="connsiteX6" fmla="*/ 811033 w 3347499"/>
                  <a:gd name="connsiteY6" fmla="*/ 1243235 h 1863437"/>
                  <a:gd name="connsiteX7" fmla="*/ 1924216 w 3347499"/>
                  <a:gd name="connsiteY7" fmla="*/ 1863437 h 1863437"/>
                  <a:gd name="connsiteX8" fmla="*/ 3347499 w 3347499"/>
                  <a:gd name="connsiteY8" fmla="*/ 1656703 h 1863437"/>
                  <a:gd name="connsiteX9" fmla="*/ 1304013 w 3347499"/>
                  <a:gd name="connsiteY9" fmla="*/ 654838 h 1863437"/>
                  <a:gd name="connsiteX0" fmla="*/ 1304013 w 3347499"/>
                  <a:gd name="connsiteY0" fmla="*/ 654838 h 1982707"/>
                  <a:gd name="connsiteX1" fmla="*/ 659958 w 3347499"/>
                  <a:gd name="connsiteY1" fmla="*/ 98247 h 1982707"/>
                  <a:gd name="connsiteX2" fmla="*/ 373711 w 3347499"/>
                  <a:gd name="connsiteY2" fmla="*/ 42588 h 1982707"/>
                  <a:gd name="connsiteX3" fmla="*/ 95416 w 3347499"/>
                  <a:gd name="connsiteY3" fmla="*/ 58490 h 1982707"/>
                  <a:gd name="connsiteX4" fmla="*/ 174928 w 3347499"/>
                  <a:gd name="connsiteY4" fmla="*/ 177759 h 1982707"/>
                  <a:gd name="connsiteX5" fmla="*/ 0 w 3347499"/>
                  <a:gd name="connsiteY5" fmla="*/ 217517 h 1982707"/>
                  <a:gd name="connsiteX6" fmla="*/ 811033 w 3347499"/>
                  <a:gd name="connsiteY6" fmla="*/ 1243235 h 1982707"/>
                  <a:gd name="connsiteX7" fmla="*/ 2146852 w 3347499"/>
                  <a:gd name="connsiteY7" fmla="*/ 1982707 h 1982707"/>
                  <a:gd name="connsiteX8" fmla="*/ 3347499 w 3347499"/>
                  <a:gd name="connsiteY8" fmla="*/ 1656703 h 1982707"/>
                  <a:gd name="connsiteX9" fmla="*/ 1304013 w 3347499"/>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1304013 w 3387256"/>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304013 w 3387256"/>
                  <a:gd name="connsiteY10" fmla="*/ 654838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72207 w 3753016"/>
                  <a:gd name="connsiteY11" fmla="*/ 630984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5192 h 1985110"/>
                  <a:gd name="connsiteX1" fmla="*/ 699714 w 3753016"/>
                  <a:gd name="connsiteY1" fmla="*/ 92698 h 1985110"/>
                  <a:gd name="connsiteX2" fmla="*/ 397565 w 3753016"/>
                  <a:gd name="connsiteY2" fmla="*/ 37040 h 1985110"/>
                  <a:gd name="connsiteX3" fmla="*/ 95416 w 3753016"/>
                  <a:gd name="connsiteY3" fmla="*/ 60893 h 1985110"/>
                  <a:gd name="connsiteX4" fmla="*/ 119269 w 3753016"/>
                  <a:gd name="connsiteY4" fmla="*/ 172211 h 1985110"/>
                  <a:gd name="connsiteX5" fmla="*/ 0 w 3753016"/>
                  <a:gd name="connsiteY5" fmla="*/ 219920 h 1985110"/>
                  <a:gd name="connsiteX6" fmla="*/ 811033 w 3753016"/>
                  <a:gd name="connsiteY6" fmla="*/ 1245638 h 1985110"/>
                  <a:gd name="connsiteX7" fmla="*/ 2146852 w 3753016"/>
                  <a:gd name="connsiteY7" fmla="*/ 1985110 h 1985110"/>
                  <a:gd name="connsiteX8" fmla="*/ 3753016 w 3753016"/>
                  <a:gd name="connsiteY8" fmla="*/ 1500080 h 1985110"/>
                  <a:gd name="connsiteX9" fmla="*/ 2409244 w 3753016"/>
                  <a:gd name="connsiteY9" fmla="*/ 1293347 h 1985110"/>
                  <a:gd name="connsiteX10" fmla="*/ 755373 w 3753016"/>
                  <a:gd name="connsiteY10" fmla="*/ 871927 h 1985110"/>
                  <a:gd name="connsiteX11" fmla="*/ 1311965 w 3753016"/>
                  <a:gd name="connsiteY11" fmla="*/ 665192 h 1985110"/>
                  <a:gd name="connsiteX0" fmla="*/ 1311965 w 3753016"/>
                  <a:gd name="connsiteY0" fmla="*/ 670630 h 1990548"/>
                  <a:gd name="connsiteX1" fmla="*/ 699714 w 3753016"/>
                  <a:gd name="connsiteY1" fmla="*/ 98136 h 1990548"/>
                  <a:gd name="connsiteX2" fmla="*/ 453224 w 3753016"/>
                  <a:gd name="connsiteY2" fmla="*/ 26576 h 1990548"/>
                  <a:gd name="connsiteX3" fmla="*/ 95416 w 3753016"/>
                  <a:gd name="connsiteY3" fmla="*/ 66331 h 1990548"/>
                  <a:gd name="connsiteX4" fmla="*/ 119269 w 3753016"/>
                  <a:gd name="connsiteY4" fmla="*/ 177649 h 1990548"/>
                  <a:gd name="connsiteX5" fmla="*/ 0 w 3753016"/>
                  <a:gd name="connsiteY5" fmla="*/ 225358 h 1990548"/>
                  <a:gd name="connsiteX6" fmla="*/ 811033 w 3753016"/>
                  <a:gd name="connsiteY6" fmla="*/ 1251076 h 1990548"/>
                  <a:gd name="connsiteX7" fmla="*/ 2146852 w 3753016"/>
                  <a:gd name="connsiteY7" fmla="*/ 1990548 h 1990548"/>
                  <a:gd name="connsiteX8" fmla="*/ 3753016 w 3753016"/>
                  <a:gd name="connsiteY8" fmla="*/ 1505518 h 1990548"/>
                  <a:gd name="connsiteX9" fmla="*/ 2409244 w 3753016"/>
                  <a:gd name="connsiteY9" fmla="*/ 1298785 h 1990548"/>
                  <a:gd name="connsiteX10" fmla="*/ 755373 w 3753016"/>
                  <a:gd name="connsiteY10" fmla="*/ 877365 h 1990548"/>
                  <a:gd name="connsiteX11" fmla="*/ 1311965 w 3753016"/>
                  <a:gd name="connsiteY11" fmla="*/ 670630 h 1990548"/>
                  <a:gd name="connsiteX0" fmla="*/ 1311965 w 3753016"/>
                  <a:gd name="connsiteY0" fmla="*/ 671729 h 1991647"/>
                  <a:gd name="connsiteX1" fmla="*/ 699714 w 3753016"/>
                  <a:gd name="connsiteY1" fmla="*/ 99235 h 1991647"/>
                  <a:gd name="connsiteX2" fmla="*/ 453224 w 3753016"/>
                  <a:gd name="connsiteY2" fmla="*/ 27675 h 1991647"/>
                  <a:gd name="connsiteX3" fmla="*/ 95416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37304 w 3778355"/>
                  <a:gd name="connsiteY0" fmla="*/ 671729 h 1991647"/>
                  <a:gd name="connsiteX1" fmla="*/ 725053 w 3778355"/>
                  <a:gd name="connsiteY1" fmla="*/ 99235 h 1991647"/>
                  <a:gd name="connsiteX2" fmla="*/ 478563 w 3778355"/>
                  <a:gd name="connsiteY2" fmla="*/ 27675 h 1991647"/>
                  <a:gd name="connsiteX3" fmla="*/ 152560 w 3778355"/>
                  <a:gd name="connsiteY3" fmla="*/ 67430 h 1991647"/>
                  <a:gd name="connsiteX4" fmla="*/ 232072 w 3778355"/>
                  <a:gd name="connsiteY4" fmla="*/ 186702 h 1991647"/>
                  <a:gd name="connsiteX5" fmla="*/ 25339 w 3778355"/>
                  <a:gd name="connsiteY5" fmla="*/ 226457 h 1991647"/>
                  <a:gd name="connsiteX6" fmla="*/ 836372 w 3778355"/>
                  <a:gd name="connsiteY6" fmla="*/ 1252175 h 1991647"/>
                  <a:gd name="connsiteX7" fmla="*/ 2172191 w 3778355"/>
                  <a:gd name="connsiteY7" fmla="*/ 1991647 h 1991647"/>
                  <a:gd name="connsiteX8" fmla="*/ 3778355 w 3778355"/>
                  <a:gd name="connsiteY8" fmla="*/ 1506617 h 1991647"/>
                  <a:gd name="connsiteX9" fmla="*/ 2434583 w 3778355"/>
                  <a:gd name="connsiteY9" fmla="*/ 1299884 h 1991647"/>
                  <a:gd name="connsiteX10" fmla="*/ 780712 w 3778355"/>
                  <a:gd name="connsiteY10" fmla="*/ 878464 h 1991647"/>
                  <a:gd name="connsiteX11" fmla="*/ 1337304 w 3778355"/>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206733 w 3753016"/>
                  <a:gd name="connsiteY4" fmla="*/ 186702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9647"/>
                  <a:gd name="connsiteX1" fmla="*/ 699714 w 3753016"/>
                  <a:gd name="connsiteY1" fmla="*/ 99235 h 1929647"/>
                  <a:gd name="connsiteX2" fmla="*/ 453224 w 3753016"/>
                  <a:gd name="connsiteY2" fmla="*/ 27675 h 1929647"/>
                  <a:gd name="connsiteX3" fmla="*/ 127221 w 3753016"/>
                  <a:gd name="connsiteY3" fmla="*/ 67430 h 1929647"/>
                  <a:gd name="connsiteX4" fmla="*/ 166977 w 3753016"/>
                  <a:gd name="connsiteY4" fmla="*/ 154897 h 1929647"/>
                  <a:gd name="connsiteX5" fmla="*/ 0 w 3753016"/>
                  <a:gd name="connsiteY5" fmla="*/ 226457 h 1929647"/>
                  <a:gd name="connsiteX6" fmla="*/ 818984 w 3753016"/>
                  <a:gd name="connsiteY6" fmla="*/ 1347591 h 1929647"/>
                  <a:gd name="connsiteX7" fmla="*/ 2011680 w 3753016"/>
                  <a:gd name="connsiteY7" fmla="*/ 1928037 h 1929647"/>
                  <a:gd name="connsiteX8" fmla="*/ 3753016 w 3753016"/>
                  <a:gd name="connsiteY8" fmla="*/ 1506617 h 1929647"/>
                  <a:gd name="connsiteX9" fmla="*/ 2409244 w 3753016"/>
                  <a:gd name="connsiteY9" fmla="*/ 1299884 h 1929647"/>
                  <a:gd name="connsiteX10" fmla="*/ 755373 w 3753016"/>
                  <a:gd name="connsiteY10" fmla="*/ 878464 h 1929647"/>
                  <a:gd name="connsiteX11" fmla="*/ 1311965 w 3753016"/>
                  <a:gd name="connsiteY11" fmla="*/ 671729 h 192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53016" h="1929647">
                    <a:moveTo>
                      <a:pt x="1311965" y="671729"/>
                    </a:moveTo>
                    <a:cubicBezTo>
                      <a:pt x="1166191" y="480897"/>
                      <a:pt x="893195" y="-35936"/>
                      <a:pt x="699714" y="99235"/>
                    </a:cubicBezTo>
                    <a:cubicBezTo>
                      <a:pt x="667909" y="136342"/>
                      <a:pt x="636104" y="-73042"/>
                      <a:pt x="453224" y="27675"/>
                    </a:cubicBezTo>
                    <a:cubicBezTo>
                      <a:pt x="360459" y="32976"/>
                      <a:pt x="331304" y="-57141"/>
                      <a:pt x="127221" y="67430"/>
                    </a:cubicBezTo>
                    <a:cubicBezTo>
                      <a:pt x="74212" y="88634"/>
                      <a:pt x="188181" y="128392"/>
                      <a:pt x="166977" y="154897"/>
                    </a:cubicBezTo>
                    <a:cubicBezTo>
                      <a:pt x="145773" y="181402"/>
                      <a:pt x="70236" y="131041"/>
                      <a:pt x="0" y="226457"/>
                    </a:cubicBezTo>
                    <a:cubicBezTo>
                      <a:pt x="272995" y="600168"/>
                      <a:pt x="673210" y="1283981"/>
                      <a:pt x="818984" y="1347591"/>
                    </a:cubicBezTo>
                    <a:cubicBezTo>
                      <a:pt x="1216549" y="1541073"/>
                      <a:pt x="1741336" y="1885630"/>
                      <a:pt x="2011680" y="1928037"/>
                    </a:cubicBezTo>
                    <a:cubicBezTo>
                      <a:pt x="2266121" y="1954542"/>
                      <a:pt x="3172571" y="1647090"/>
                      <a:pt x="3753016" y="1506617"/>
                    </a:cubicBezTo>
                    <a:cubicBezTo>
                      <a:pt x="3697357" y="1407226"/>
                      <a:pt x="3208351" y="1168688"/>
                      <a:pt x="2409244" y="1299884"/>
                    </a:cubicBezTo>
                    <a:cubicBezTo>
                      <a:pt x="489003" y="1295909"/>
                      <a:pt x="734169" y="972555"/>
                      <a:pt x="755373" y="878464"/>
                    </a:cubicBezTo>
                    <a:cubicBezTo>
                      <a:pt x="816333" y="727390"/>
                      <a:pt x="1115833" y="695583"/>
                      <a:pt x="1311965" y="67172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86" name="직사각형 85">
              <a:extLst>
                <a:ext uri="{FF2B5EF4-FFF2-40B4-BE49-F238E27FC236}">
                  <a16:creationId xmlns:a16="http://schemas.microsoft.com/office/drawing/2014/main" id="{4C58F622-AF33-4B51-82D6-25D366AAC204}"/>
                </a:ext>
              </a:extLst>
            </p:cNvPr>
            <p:cNvSpPr/>
            <p:nvPr/>
          </p:nvSpPr>
          <p:spPr>
            <a:xfrm rot="18740140">
              <a:off x="1894195" y="2506511"/>
              <a:ext cx="285737" cy="709307"/>
            </a:xfrm>
            <a:prstGeom prst="rect">
              <a:avLst/>
            </a:prstGeom>
            <a:solidFill>
              <a:schemeClr val="accent2"/>
            </a:solidFill>
            <a:ln>
              <a:no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89" name="그룹 88">
            <a:extLst>
              <a:ext uri="{FF2B5EF4-FFF2-40B4-BE49-F238E27FC236}">
                <a16:creationId xmlns:a16="http://schemas.microsoft.com/office/drawing/2014/main" id="{E59C84AF-CC67-42BE-B023-CEDC0C9ED144}"/>
              </a:ext>
            </a:extLst>
          </p:cNvPr>
          <p:cNvGrpSpPr/>
          <p:nvPr/>
        </p:nvGrpSpPr>
        <p:grpSpPr>
          <a:xfrm>
            <a:off x="1459483" y="2061903"/>
            <a:ext cx="2523434" cy="1065203"/>
            <a:chOff x="1682410" y="2217893"/>
            <a:chExt cx="2019261" cy="852379"/>
          </a:xfrm>
        </p:grpSpPr>
        <p:grpSp>
          <p:nvGrpSpPr>
            <p:cNvPr id="90" name="그룹 89">
              <a:extLst>
                <a:ext uri="{FF2B5EF4-FFF2-40B4-BE49-F238E27FC236}">
                  <a16:creationId xmlns:a16="http://schemas.microsoft.com/office/drawing/2014/main" id="{40D3E123-E524-45F4-AB1D-B515368B6AC7}"/>
                </a:ext>
              </a:extLst>
            </p:cNvPr>
            <p:cNvGrpSpPr/>
            <p:nvPr/>
          </p:nvGrpSpPr>
          <p:grpSpPr>
            <a:xfrm>
              <a:off x="1774163" y="2217893"/>
              <a:ext cx="1927508" cy="852379"/>
              <a:chOff x="1774163" y="2217893"/>
              <a:chExt cx="1927508" cy="852379"/>
            </a:xfrm>
            <a:solidFill>
              <a:schemeClr val="bg1"/>
            </a:solidFill>
          </p:grpSpPr>
          <p:sp>
            <p:nvSpPr>
              <p:cNvPr id="92" name="Freeform 18">
                <a:extLst>
                  <a:ext uri="{FF2B5EF4-FFF2-40B4-BE49-F238E27FC236}">
                    <a16:creationId xmlns:a16="http://schemas.microsoft.com/office/drawing/2014/main" id="{80BCA644-D8E6-4586-B50A-243A3AF7A994}"/>
                  </a:ext>
                </a:extLst>
              </p:cNvPr>
              <p:cNvSpPr/>
              <p:nvPr/>
            </p:nvSpPr>
            <p:spPr>
              <a:xfrm flipH="1">
                <a:off x="1774163" y="2350717"/>
                <a:ext cx="1600825" cy="719555"/>
              </a:xfrm>
              <a:custGeom>
                <a:avLst/>
                <a:gdLst>
                  <a:gd name="connsiteX0" fmla="*/ 4126727 w 4126727"/>
                  <a:gd name="connsiteY0" fmla="*/ 866693 h 1836752"/>
                  <a:gd name="connsiteX1" fmla="*/ 2782957 w 4126727"/>
                  <a:gd name="connsiteY1" fmla="*/ 0 h 1836752"/>
                  <a:gd name="connsiteX2" fmla="*/ 2703444 w 4126727"/>
                  <a:gd name="connsiteY2" fmla="*/ 7952 h 1836752"/>
                  <a:gd name="connsiteX3" fmla="*/ 1375576 w 4126727"/>
                  <a:gd name="connsiteY3" fmla="*/ 326004 h 1836752"/>
                  <a:gd name="connsiteX4" fmla="*/ 0 w 4126727"/>
                  <a:gd name="connsiteY4" fmla="*/ 477079 h 1836752"/>
                  <a:gd name="connsiteX5" fmla="*/ 1574358 w 4126727"/>
                  <a:gd name="connsiteY5" fmla="*/ 898498 h 1836752"/>
                  <a:gd name="connsiteX6" fmla="*/ 2576223 w 4126727"/>
                  <a:gd name="connsiteY6" fmla="*/ 1280160 h 1836752"/>
                  <a:gd name="connsiteX7" fmla="*/ 3267986 w 4126727"/>
                  <a:gd name="connsiteY7" fmla="*/ 1836752 h 1836752"/>
                  <a:gd name="connsiteX8" fmla="*/ 4126727 w 4126727"/>
                  <a:gd name="connsiteY8" fmla="*/ 866693 h 1836752"/>
                  <a:gd name="connsiteX0" fmla="*/ 4126727 w 4126727"/>
                  <a:gd name="connsiteY0" fmla="*/ 884466 h 1854525"/>
                  <a:gd name="connsiteX1" fmla="*/ 2782957 w 4126727"/>
                  <a:gd name="connsiteY1" fmla="*/ 17773 h 1854525"/>
                  <a:gd name="connsiteX2" fmla="*/ 2703444 w 4126727"/>
                  <a:gd name="connsiteY2" fmla="*/ 25725 h 1854525"/>
                  <a:gd name="connsiteX3" fmla="*/ 1375576 w 4126727"/>
                  <a:gd name="connsiteY3" fmla="*/ 343777 h 1854525"/>
                  <a:gd name="connsiteX4" fmla="*/ 0 w 4126727"/>
                  <a:gd name="connsiteY4" fmla="*/ 494852 h 1854525"/>
                  <a:gd name="connsiteX5" fmla="*/ 1574358 w 4126727"/>
                  <a:gd name="connsiteY5" fmla="*/ 916271 h 1854525"/>
                  <a:gd name="connsiteX6" fmla="*/ 2576223 w 4126727"/>
                  <a:gd name="connsiteY6" fmla="*/ 1297933 h 1854525"/>
                  <a:gd name="connsiteX7" fmla="*/ 3267986 w 4126727"/>
                  <a:gd name="connsiteY7" fmla="*/ 1854525 h 1854525"/>
                  <a:gd name="connsiteX8" fmla="*/ 4126727 w 4126727"/>
                  <a:gd name="connsiteY8" fmla="*/ 884466 h 1854525"/>
                  <a:gd name="connsiteX0" fmla="*/ 1375576 w 4126727"/>
                  <a:gd name="connsiteY0" fmla="*/ 331865 h 1842613"/>
                  <a:gd name="connsiteX1" fmla="*/ 0 w 4126727"/>
                  <a:gd name="connsiteY1" fmla="*/ 482940 h 1842613"/>
                  <a:gd name="connsiteX2" fmla="*/ 1574358 w 4126727"/>
                  <a:gd name="connsiteY2" fmla="*/ 904359 h 1842613"/>
                  <a:gd name="connsiteX3" fmla="*/ 2576223 w 4126727"/>
                  <a:gd name="connsiteY3" fmla="*/ 1286021 h 1842613"/>
                  <a:gd name="connsiteX4" fmla="*/ 3267986 w 4126727"/>
                  <a:gd name="connsiteY4" fmla="*/ 1842613 h 1842613"/>
                  <a:gd name="connsiteX5" fmla="*/ 4126727 w 4126727"/>
                  <a:gd name="connsiteY5" fmla="*/ 872554 h 1842613"/>
                  <a:gd name="connsiteX6" fmla="*/ 2782957 w 4126727"/>
                  <a:gd name="connsiteY6" fmla="*/ 5861 h 1842613"/>
                  <a:gd name="connsiteX7" fmla="*/ 2794884 w 4126727"/>
                  <a:gd name="connsiteY7" fmla="*/ 105253 h 1842613"/>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90578 h 1901326"/>
                  <a:gd name="connsiteX1" fmla="*/ 0 w 4063117"/>
                  <a:gd name="connsiteY1" fmla="*/ 541653 h 1901326"/>
                  <a:gd name="connsiteX2" fmla="*/ 1574358 w 4063117"/>
                  <a:gd name="connsiteY2" fmla="*/ 963072 h 1901326"/>
                  <a:gd name="connsiteX3" fmla="*/ 2576223 w 4063117"/>
                  <a:gd name="connsiteY3" fmla="*/ 1344734 h 1901326"/>
                  <a:gd name="connsiteX4" fmla="*/ 3267986 w 4063117"/>
                  <a:gd name="connsiteY4" fmla="*/ 1901326 h 1901326"/>
                  <a:gd name="connsiteX5" fmla="*/ 4063117 w 4063117"/>
                  <a:gd name="connsiteY5" fmla="*/ 994878 h 1901326"/>
                  <a:gd name="connsiteX6" fmla="*/ 2782957 w 4063117"/>
                  <a:gd name="connsiteY6" fmla="*/ 64574 h 1901326"/>
                  <a:gd name="connsiteX7" fmla="*/ 2178658 w 4063117"/>
                  <a:gd name="connsiteY7" fmla="*/ 96380 h 1901326"/>
                  <a:gd name="connsiteX8" fmla="*/ 1375576 w 4063117"/>
                  <a:gd name="connsiteY8" fmla="*/ 390578 h 1901326"/>
                  <a:gd name="connsiteX0" fmla="*/ 1375576 w 4063117"/>
                  <a:gd name="connsiteY0" fmla="*/ 383650 h 1894398"/>
                  <a:gd name="connsiteX1" fmla="*/ 0 w 4063117"/>
                  <a:gd name="connsiteY1" fmla="*/ 534725 h 1894398"/>
                  <a:gd name="connsiteX2" fmla="*/ 1574358 w 4063117"/>
                  <a:gd name="connsiteY2" fmla="*/ 956144 h 1894398"/>
                  <a:gd name="connsiteX3" fmla="*/ 2576223 w 4063117"/>
                  <a:gd name="connsiteY3" fmla="*/ 1337806 h 1894398"/>
                  <a:gd name="connsiteX4" fmla="*/ 3267986 w 4063117"/>
                  <a:gd name="connsiteY4" fmla="*/ 1894398 h 1894398"/>
                  <a:gd name="connsiteX5" fmla="*/ 4063117 w 4063117"/>
                  <a:gd name="connsiteY5" fmla="*/ 987950 h 1894398"/>
                  <a:gd name="connsiteX6" fmla="*/ 2782957 w 4063117"/>
                  <a:gd name="connsiteY6" fmla="*/ 57646 h 1894398"/>
                  <a:gd name="connsiteX7" fmla="*/ 2178658 w 4063117"/>
                  <a:gd name="connsiteY7" fmla="*/ 89452 h 1894398"/>
                  <a:gd name="connsiteX8" fmla="*/ 1375576 w 4063117"/>
                  <a:gd name="connsiteY8" fmla="*/ 383650 h 1894398"/>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625109 w 4112003"/>
                  <a:gd name="connsiteY3" fmla="*/ 1280160 h 1836752"/>
                  <a:gd name="connsiteX4" fmla="*/ 3316872 w 4112003"/>
                  <a:gd name="connsiteY4" fmla="*/ 1836752 h 1836752"/>
                  <a:gd name="connsiteX5" fmla="*/ 4112003 w 4112003"/>
                  <a:gd name="connsiteY5" fmla="*/ 930304 h 1836752"/>
                  <a:gd name="connsiteX6" fmla="*/ 2831843 w 4112003"/>
                  <a:gd name="connsiteY6" fmla="*/ 0 h 1836752"/>
                  <a:gd name="connsiteX7" fmla="*/ 2227544 w 4112003"/>
                  <a:gd name="connsiteY7" fmla="*/ 31806 h 1836752"/>
                  <a:gd name="connsiteX8" fmla="*/ 1424462 w 4112003"/>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132129 w 4112003"/>
                  <a:gd name="connsiteY3" fmla="*/ 993914 h 1836752"/>
                  <a:gd name="connsiteX4" fmla="*/ 2625109 w 4112003"/>
                  <a:gd name="connsiteY4" fmla="*/ 1280160 h 1836752"/>
                  <a:gd name="connsiteX5" fmla="*/ 3316872 w 4112003"/>
                  <a:gd name="connsiteY5" fmla="*/ 1836752 h 1836752"/>
                  <a:gd name="connsiteX6" fmla="*/ 4112003 w 4112003"/>
                  <a:gd name="connsiteY6" fmla="*/ 930304 h 1836752"/>
                  <a:gd name="connsiteX7" fmla="*/ 2831843 w 4112003"/>
                  <a:gd name="connsiteY7" fmla="*/ 0 h 1836752"/>
                  <a:gd name="connsiteX8" fmla="*/ 2227544 w 4112003"/>
                  <a:gd name="connsiteY8" fmla="*/ 31806 h 1836752"/>
                  <a:gd name="connsiteX9" fmla="*/ 1424462 w 4112003"/>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38408 h 1849156"/>
                  <a:gd name="connsiteX1" fmla="*/ 59649 w 4122766"/>
                  <a:gd name="connsiteY1" fmla="*/ 489483 h 1849156"/>
                  <a:gd name="connsiteX2" fmla="*/ 1634007 w 4122766"/>
                  <a:gd name="connsiteY2" fmla="*/ 910902 h 1849156"/>
                  <a:gd name="connsiteX3" fmla="*/ 2142892 w 4122766"/>
                  <a:gd name="connsiteY3" fmla="*/ 1006318 h 1849156"/>
                  <a:gd name="connsiteX4" fmla="*/ 2635872 w 4122766"/>
                  <a:gd name="connsiteY4" fmla="*/ 1292564 h 1849156"/>
                  <a:gd name="connsiteX5" fmla="*/ 3327635 w 4122766"/>
                  <a:gd name="connsiteY5" fmla="*/ 1849156 h 1849156"/>
                  <a:gd name="connsiteX6" fmla="*/ 4122766 w 4122766"/>
                  <a:gd name="connsiteY6" fmla="*/ 942708 h 1849156"/>
                  <a:gd name="connsiteX7" fmla="*/ 2842606 w 4122766"/>
                  <a:gd name="connsiteY7" fmla="*/ 12404 h 1849156"/>
                  <a:gd name="connsiteX8" fmla="*/ 2238307 w 4122766"/>
                  <a:gd name="connsiteY8" fmla="*/ 44210 h 1849156"/>
                  <a:gd name="connsiteX9" fmla="*/ 1435225 w 4122766"/>
                  <a:gd name="connsiteY9" fmla="*/ 338408 h 1849156"/>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39809 h 1850557"/>
                  <a:gd name="connsiteX1" fmla="*/ 59649 w 4122766"/>
                  <a:gd name="connsiteY1" fmla="*/ 490884 h 1850557"/>
                  <a:gd name="connsiteX2" fmla="*/ 1634007 w 4122766"/>
                  <a:gd name="connsiteY2" fmla="*/ 912303 h 1850557"/>
                  <a:gd name="connsiteX3" fmla="*/ 2142892 w 4122766"/>
                  <a:gd name="connsiteY3" fmla="*/ 1007719 h 1850557"/>
                  <a:gd name="connsiteX4" fmla="*/ 2635872 w 4122766"/>
                  <a:gd name="connsiteY4" fmla="*/ 1293965 h 1850557"/>
                  <a:gd name="connsiteX5" fmla="*/ 3327635 w 4122766"/>
                  <a:gd name="connsiteY5" fmla="*/ 1850557 h 1850557"/>
                  <a:gd name="connsiteX6" fmla="*/ 4122766 w 4122766"/>
                  <a:gd name="connsiteY6" fmla="*/ 944109 h 1850557"/>
                  <a:gd name="connsiteX7" fmla="*/ 2842606 w 4122766"/>
                  <a:gd name="connsiteY7" fmla="*/ 13805 h 1850557"/>
                  <a:gd name="connsiteX8" fmla="*/ 2166745 w 4122766"/>
                  <a:gd name="connsiteY8" fmla="*/ 93319 h 1850557"/>
                  <a:gd name="connsiteX9" fmla="*/ 1435225 w 4122766"/>
                  <a:gd name="connsiteY9" fmla="*/ 339809 h 1850557"/>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76690 h 1887438"/>
                  <a:gd name="connsiteX1" fmla="*/ 59649 w 4122766"/>
                  <a:gd name="connsiteY1" fmla="*/ 527765 h 1887438"/>
                  <a:gd name="connsiteX2" fmla="*/ 1634007 w 4122766"/>
                  <a:gd name="connsiteY2" fmla="*/ 949184 h 1887438"/>
                  <a:gd name="connsiteX3" fmla="*/ 2142892 w 4122766"/>
                  <a:gd name="connsiteY3" fmla="*/ 1044600 h 1887438"/>
                  <a:gd name="connsiteX4" fmla="*/ 2635872 w 4122766"/>
                  <a:gd name="connsiteY4" fmla="*/ 1330846 h 1887438"/>
                  <a:gd name="connsiteX5" fmla="*/ 3327635 w 4122766"/>
                  <a:gd name="connsiteY5" fmla="*/ 1887438 h 1887438"/>
                  <a:gd name="connsiteX6" fmla="*/ 4122766 w 4122766"/>
                  <a:gd name="connsiteY6" fmla="*/ 980990 h 1887438"/>
                  <a:gd name="connsiteX7" fmla="*/ 2842606 w 4122766"/>
                  <a:gd name="connsiteY7" fmla="*/ 18881 h 1887438"/>
                  <a:gd name="connsiteX8" fmla="*/ 2166745 w 4122766"/>
                  <a:gd name="connsiteY8" fmla="*/ 130200 h 1887438"/>
                  <a:gd name="connsiteX9" fmla="*/ 1435225 w 4122766"/>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548408 w 4067107"/>
                  <a:gd name="connsiteY4" fmla="*/ 1275187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089096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747240"/>
                  <a:gd name="connsiteX1" fmla="*/ 59649 w 4067107"/>
                  <a:gd name="connsiteY1" fmla="*/ 527765 h 1747240"/>
                  <a:gd name="connsiteX2" fmla="*/ 1634007 w 4067107"/>
                  <a:gd name="connsiteY2" fmla="*/ 949184 h 1747240"/>
                  <a:gd name="connsiteX3" fmla="*/ 2142892 w 4067107"/>
                  <a:gd name="connsiteY3" fmla="*/ 1044600 h 1747240"/>
                  <a:gd name="connsiteX4" fmla="*/ 2476846 w 4067107"/>
                  <a:gd name="connsiteY4" fmla="*/ 1378554 h 1747240"/>
                  <a:gd name="connsiteX5" fmla="*/ 3004138 w 4067107"/>
                  <a:gd name="connsiteY5" fmla="*/ 1747240 h 1747240"/>
                  <a:gd name="connsiteX6" fmla="*/ 4067107 w 4067107"/>
                  <a:gd name="connsiteY6" fmla="*/ 1036649 h 1747240"/>
                  <a:gd name="connsiteX7" fmla="*/ 2842606 w 4067107"/>
                  <a:gd name="connsiteY7" fmla="*/ 18881 h 1747240"/>
                  <a:gd name="connsiteX8" fmla="*/ 2166745 w 4067107"/>
                  <a:gd name="connsiteY8" fmla="*/ 130200 h 1747240"/>
                  <a:gd name="connsiteX9" fmla="*/ 1435225 w 4067107"/>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3004138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2806187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7153" h="1747240">
                    <a:moveTo>
                      <a:pt x="1435225" y="376690"/>
                    </a:moveTo>
                    <a:cubicBezTo>
                      <a:pt x="921041" y="355486"/>
                      <a:pt x="168317" y="374040"/>
                      <a:pt x="59649" y="527765"/>
                    </a:cubicBezTo>
                    <a:cubicBezTo>
                      <a:pt x="-282257" y="890874"/>
                      <a:pt x="926341" y="920030"/>
                      <a:pt x="1634007" y="949184"/>
                    </a:cubicBezTo>
                    <a:cubicBezTo>
                      <a:pt x="1755927" y="988940"/>
                      <a:pt x="2020972" y="1004844"/>
                      <a:pt x="2142892" y="1044600"/>
                    </a:cubicBezTo>
                    <a:lnTo>
                      <a:pt x="2476846" y="1378554"/>
                    </a:lnTo>
                    <a:lnTo>
                      <a:pt x="2806187" y="1747240"/>
                    </a:lnTo>
                    <a:lnTo>
                      <a:pt x="3887153" y="784714"/>
                    </a:lnTo>
                    <a:cubicBezTo>
                      <a:pt x="3502840" y="495816"/>
                      <a:pt x="3512746" y="372650"/>
                      <a:pt x="2842606" y="18881"/>
                    </a:cubicBezTo>
                    <a:cubicBezTo>
                      <a:pt x="2541783" y="-38103"/>
                      <a:pt x="2417210" y="44060"/>
                      <a:pt x="2166745" y="130200"/>
                    </a:cubicBezTo>
                    <a:cubicBezTo>
                      <a:pt x="1932182" y="184534"/>
                      <a:pt x="1811587" y="315730"/>
                      <a:pt x="1435225" y="3766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Freeform 19">
                <a:extLst>
                  <a:ext uri="{FF2B5EF4-FFF2-40B4-BE49-F238E27FC236}">
                    <a16:creationId xmlns:a16="http://schemas.microsoft.com/office/drawing/2014/main" id="{6C08BA1E-C02F-4FEC-BD12-30F269C4E8D6}"/>
                  </a:ext>
                </a:extLst>
              </p:cNvPr>
              <p:cNvSpPr/>
              <p:nvPr/>
            </p:nvSpPr>
            <p:spPr>
              <a:xfrm flipH="1">
                <a:off x="2156087" y="2217893"/>
                <a:ext cx="1545584" cy="794676"/>
              </a:xfrm>
              <a:custGeom>
                <a:avLst/>
                <a:gdLst>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35267 h 1979038"/>
                  <a:gd name="connsiteX1" fmla="*/ 659958 w 3347499"/>
                  <a:gd name="connsiteY1" fmla="*/ 78676 h 1979038"/>
                  <a:gd name="connsiteX2" fmla="*/ 373711 w 3347499"/>
                  <a:gd name="connsiteY2" fmla="*/ 23017 h 1979038"/>
                  <a:gd name="connsiteX3" fmla="*/ 95416 w 3347499"/>
                  <a:gd name="connsiteY3" fmla="*/ 38919 h 1979038"/>
                  <a:gd name="connsiteX4" fmla="*/ 111318 w 3347499"/>
                  <a:gd name="connsiteY4" fmla="*/ 134335 h 1979038"/>
                  <a:gd name="connsiteX5" fmla="*/ 0 w 3347499"/>
                  <a:gd name="connsiteY5" fmla="*/ 197946 h 1979038"/>
                  <a:gd name="connsiteX6" fmla="*/ 779228 w 3347499"/>
                  <a:gd name="connsiteY6" fmla="*/ 1247518 h 1979038"/>
                  <a:gd name="connsiteX7" fmla="*/ 1900362 w 3347499"/>
                  <a:gd name="connsiteY7" fmla="*/ 1979038 h 1979038"/>
                  <a:gd name="connsiteX8" fmla="*/ 3347499 w 3347499"/>
                  <a:gd name="connsiteY8" fmla="*/ 1637132 h 1979038"/>
                  <a:gd name="connsiteX9" fmla="*/ 1304013 w 3347499"/>
                  <a:gd name="connsiteY9" fmla="*/ 635267 h 1979038"/>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11318 w 3347499"/>
                  <a:gd name="connsiteY4" fmla="*/ 153906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811033 w 3347499"/>
                  <a:gd name="connsiteY6" fmla="*/ 1243235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863437"/>
                  <a:gd name="connsiteX1" fmla="*/ 659958 w 3347499"/>
                  <a:gd name="connsiteY1" fmla="*/ 98247 h 1863437"/>
                  <a:gd name="connsiteX2" fmla="*/ 373711 w 3347499"/>
                  <a:gd name="connsiteY2" fmla="*/ 42588 h 1863437"/>
                  <a:gd name="connsiteX3" fmla="*/ 95416 w 3347499"/>
                  <a:gd name="connsiteY3" fmla="*/ 58490 h 1863437"/>
                  <a:gd name="connsiteX4" fmla="*/ 174928 w 3347499"/>
                  <a:gd name="connsiteY4" fmla="*/ 177759 h 1863437"/>
                  <a:gd name="connsiteX5" fmla="*/ 0 w 3347499"/>
                  <a:gd name="connsiteY5" fmla="*/ 217517 h 1863437"/>
                  <a:gd name="connsiteX6" fmla="*/ 811033 w 3347499"/>
                  <a:gd name="connsiteY6" fmla="*/ 1243235 h 1863437"/>
                  <a:gd name="connsiteX7" fmla="*/ 1924216 w 3347499"/>
                  <a:gd name="connsiteY7" fmla="*/ 1863437 h 1863437"/>
                  <a:gd name="connsiteX8" fmla="*/ 3347499 w 3347499"/>
                  <a:gd name="connsiteY8" fmla="*/ 1656703 h 1863437"/>
                  <a:gd name="connsiteX9" fmla="*/ 1304013 w 3347499"/>
                  <a:gd name="connsiteY9" fmla="*/ 654838 h 1863437"/>
                  <a:gd name="connsiteX0" fmla="*/ 1304013 w 3347499"/>
                  <a:gd name="connsiteY0" fmla="*/ 654838 h 1982707"/>
                  <a:gd name="connsiteX1" fmla="*/ 659958 w 3347499"/>
                  <a:gd name="connsiteY1" fmla="*/ 98247 h 1982707"/>
                  <a:gd name="connsiteX2" fmla="*/ 373711 w 3347499"/>
                  <a:gd name="connsiteY2" fmla="*/ 42588 h 1982707"/>
                  <a:gd name="connsiteX3" fmla="*/ 95416 w 3347499"/>
                  <a:gd name="connsiteY3" fmla="*/ 58490 h 1982707"/>
                  <a:gd name="connsiteX4" fmla="*/ 174928 w 3347499"/>
                  <a:gd name="connsiteY4" fmla="*/ 177759 h 1982707"/>
                  <a:gd name="connsiteX5" fmla="*/ 0 w 3347499"/>
                  <a:gd name="connsiteY5" fmla="*/ 217517 h 1982707"/>
                  <a:gd name="connsiteX6" fmla="*/ 811033 w 3347499"/>
                  <a:gd name="connsiteY6" fmla="*/ 1243235 h 1982707"/>
                  <a:gd name="connsiteX7" fmla="*/ 2146852 w 3347499"/>
                  <a:gd name="connsiteY7" fmla="*/ 1982707 h 1982707"/>
                  <a:gd name="connsiteX8" fmla="*/ 3347499 w 3347499"/>
                  <a:gd name="connsiteY8" fmla="*/ 1656703 h 1982707"/>
                  <a:gd name="connsiteX9" fmla="*/ 1304013 w 3347499"/>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1304013 w 3387256"/>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304013 w 3387256"/>
                  <a:gd name="connsiteY10" fmla="*/ 654838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72207 w 3753016"/>
                  <a:gd name="connsiteY11" fmla="*/ 630984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5192 h 1985110"/>
                  <a:gd name="connsiteX1" fmla="*/ 699714 w 3753016"/>
                  <a:gd name="connsiteY1" fmla="*/ 92698 h 1985110"/>
                  <a:gd name="connsiteX2" fmla="*/ 397565 w 3753016"/>
                  <a:gd name="connsiteY2" fmla="*/ 37040 h 1985110"/>
                  <a:gd name="connsiteX3" fmla="*/ 95416 w 3753016"/>
                  <a:gd name="connsiteY3" fmla="*/ 60893 h 1985110"/>
                  <a:gd name="connsiteX4" fmla="*/ 119269 w 3753016"/>
                  <a:gd name="connsiteY4" fmla="*/ 172211 h 1985110"/>
                  <a:gd name="connsiteX5" fmla="*/ 0 w 3753016"/>
                  <a:gd name="connsiteY5" fmla="*/ 219920 h 1985110"/>
                  <a:gd name="connsiteX6" fmla="*/ 811033 w 3753016"/>
                  <a:gd name="connsiteY6" fmla="*/ 1245638 h 1985110"/>
                  <a:gd name="connsiteX7" fmla="*/ 2146852 w 3753016"/>
                  <a:gd name="connsiteY7" fmla="*/ 1985110 h 1985110"/>
                  <a:gd name="connsiteX8" fmla="*/ 3753016 w 3753016"/>
                  <a:gd name="connsiteY8" fmla="*/ 1500080 h 1985110"/>
                  <a:gd name="connsiteX9" fmla="*/ 2409244 w 3753016"/>
                  <a:gd name="connsiteY9" fmla="*/ 1293347 h 1985110"/>
                  <a:gd name="connsiteX10" fmla="*/ 755373 w 3753016"/>
                  <a:gd name="connsiteY10" fmla="*/ 871927 h 1985110"/>
                  <a:gd name="connsiteX11" fmla="*/ 1311965 w 3753016"/>
                  <a:gd name="connsiteY11" fmla="*/ 665192 h 1985110"/>
                  <a:gd name="connsiteX0" fmla="*/ 1311965 w 3753016"/>
                  <a:gd name="connsiteY0" fmla="*/ 670630 h 1990548"/>
                  <a:gd name="connsiteX1" fmla="*/ 699714 w 3753016"/>
                  <a:gd name="connsiteY1" fmla="*/ 98136 h 1990548"/>
                  <a:gd name="connsiteX2" fmla="*/ 453224 w 3753016"/>
                  <a:gd name="connsiteY2" fmla="*/ 26576 h 1990548"/>
                  <a:gd name="connsiteX3" fmla="*/ 95416 w 3753016"/>
                  <a:gd name="connsiteY3" fmla="*/ 66331 h 1990548"/>
                  <a:gd name="connsiteX4" fmla="*/ 119269 w 3753016"/>
                  <a:gd name="connsiteY4" fmla="*/ 177649 h 1990548"/>
                  <a:gd name="connsiteX5" fmla="*/ 0 w 3753016"/>
                  <a:gd name="connsiteY5" fmla="*/ 225358 h 1990548"/>
                  <a:gd name="connsiteX6" fmla="*/ 811033 w 3753016"/>
                  <a:gd name="connsiteY6" fmla="*/ 1251076 h 1990548"/>
                  <a:gd name="connsiteX7" fmla="*/ 2146852 w 3753016"/>
                  <a:gd name="connsiteY7" fmla="*/ 1990548 h 1990548"/>
                  <a:gd name="connsiteX8" fmla="*/ 3753016 w 3753016"/>
                  <a:gd name="connsiteY8" fmla="*/ 1505518 h 1990548"/>
                  <a:gd name="connsiteX9" fmla="*/ 2409244 w 3753016"/>
                  <a:gd name="connsiteY9" fmla="*/ 1298785 h 1990548"/>
                  <a:gd name="connsiteX10" fmla="*/ 755373 w 3753016"/>
                  <a:gd name="connsiteY10" fmla="*/ 877365 h 1990548"/>
                  <a:gd name="connsiteX11" fmla="*/ 1311965 w 3753016"/>
                  <a:gd name="connsiteY11" fmla="*/ 670630 h 1990548"/>
                  <a:gd name="connsiteX0" fmla="*/ 1311965 w 3753016"/>
                  <a:gd name="connsiteY0" fmla="*/ 671729 h 1991647"/>
                  <a:gd name="connsiteX1" fmla="*/ 699714 w 3753016"/>
                  <a:gd name="connsiteY1" fmla="*/ 99235 h 1991647"/>
                  <a:gd name="connsiteX2" fmla="*/ 453224 w 3753016"/>
                  <a:gd name="connsiteY2" fmla="*/ 27675 h 1991647"/>
                  <a:gd name="connsiteX3" fmla="*/ 95416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37304 w 3778355"/>
                  <a:gd name="connsiteY0" fmla="*/ 671729 h 1991647"/>
                  <a:gd name="connsiteX1" fmla="*/ 725053 w 3778355"/>
                  <a:gd name="connsiteY1" fmla="*/ 99235 h 1991647"/>
                  <a:gd name="connsiteX2" fmla="*/ 478563 w 3778355"/>
                  <a:gd name="connsiteY2" fmla="*/ 27675 h 1991647"/>
                  <a:gd name="connsiteX3" fmla="*/ 152560 w 3778355"/>
                  <a:gd name="connsiteY3" fmla="*/ 67430 h 1991647"/>
                  <a:gd name="connsiteX4" fmla="*/ 232072 w 3778355"/>
                  <a:gd name="connsiteY4" fmla="*/ 186702 h 1991647"/>
                  <a:gd name="connsiteX5" fmla="*/ 25339 w 3778355"/>
                  <a:gd name="connsiteY5" fmla="*/ 226457 h 1991647"/>
                  <a:gd name="connsiteX6" fmla="*/ 836372 w 3778355"/>
                  <a:gd name="connsiteY6" fmla="*/ 1252175 h 1991647"/>
                  <a:gd name="connsiteX7" fmla="*/ 2172191 w 3778355"/>
                  <a:gd name="connsiteY7" fmla="*/ 1991647 h 1991647"/>
                  <a:gd name="connsiteX8" fmla="*/ 3778355 w 3778355"/>
                  <a:gd name="connsiteY8" fmla="*/ 1506617 h 1991647"/>
                  <a:gd name="connsiteX9" fmla="*/ 2434583 w 3778355"/>
                  <a:gd name="connsiteY9" fmla="*/ 1299884 h 1991647"/>
                  <a:gd name="connsiteX10" fmla="*/ 780712 w 3778355"/>
                  <a:gd name="connsiteY10" fmla="*/ 878464 h 1991647"/>
                  <a:gd name="connsiteX11" fmla="*/ 1337304 w 3778355"/>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206733 w 3753016"/>
                  <a:gd name="connsiteY4" fmla="*/ 186702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9647"/>
                  <a:gd name="connsiteX1" fmla="*/ 699714 w 3753016"/>
                  <a:gd name="connsiteY1" fmla="*/ 99235 h 1929647"/>
                  <a:gd name="connsiteX2" fmla="*/ 453224 w 3753016"/>
                  <a:gd name="connsiteY2" fmla="*/ 27675 h 1929647"/>
                  <a:gd name="connsiteX3" fmla="*/ 127221 w 3753016"/>
                  <a:gd name="connsiteY3" fmla="*/ 67430 h 1929647"/>
                  <a:gd name="connsiteX4" fmla="*/ 166977 w 3753016"/>
                  <a:gd name="connsiteY4" fmla="*/ 154897 h 1929647"/>
                  <a:gd name="connsiteX5" fmla="*/ 0 w 3753016"/>
                  <a:gd name="connsiteY5" fmla="*/ 226457 h 1929647"/>
                  <a:gd name="connsiteX6" fmla="*/ 818984 w 3753016"/>
                  <a:gd name="connsiteY6" fmla="*/ 1347591 h 1929647"/>
                  <a:gd name="connsiteX7" fmla="*/ 2011680 w 3753016"/>
                  <a:gd name="connsiteY7" fmla="*/ 1928037 h 1929647"/>
                  <a:gd name="connsiteX8" fmla="*/ 3753016 w 3753016"/>
                  <a:gd name="connsiteY8" fmla="*/ 1506617 h 1929647"/>
                  <a:gd name="connsiteX9" fmla="*/ 2409244 w 3753016"/>
                  <a:gd name="connsiteY9" fmla="*/ 1299884 h 1929647"/>
                  <a:gd name="connsiteX10" fmla="*/ 755373 w 3753016"/>
                  <a:gd name="connsiteY10" fmla="*/ 878464 h 1929647"/>
                  <a:gd name="connsiteX11" fmla="*/ 1311965 w 3753016"/>
                  <a:gd name="connsiteY11" fmla="*/ 671729 h 192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53016" h="1929647">
                    <a:moveTo>
                      <a:pt x="1311965" y="671729"/>
                    </a:moveTo>
                    <a:cubicBezTo>
                      <a:pt x="1166191" y="480897"/>
                      <a:pt x="893195" y="-35936"/>
                      <a:pt x="699714" y="99235"/>
                    </a:cubicBezTo>
                    <a:cubicBezTo>
                      <a:pt x="667909" y="136342"/>
                      <a:pt x="636104" y="-73042"/>
                      <a:pt x="453224" y="27675"/>
                    </a:cubicBezTo>
                    <a:cubicBezTo>
                      <a:pt x="360459" y="32976"/>
                      <a:pt x="331304" y="-57141"/>
                      <a:pt x="127221" y="67430"/>
                    </a:cubicBezTo>
                    <a:cubicBezTo>
                      <a:pt x="74212" y="88634"/>
                      <a:pt x="188181" y="128392"/>
                      <a:pt x="166977" y="154897"/>
                    </a:cubicBezTo>
                    <a:cubicBezTo>
                      <a:pt x="145773" y="181402"/>
                      <a:pt x="70236" y="131041"/>
                      <a:pt x="0" y="226457"/>
                    </a:cubicBezTo>
                    <a:cubicBezTo>
                      <a:pt x="272995" y="600168"/>
                      <a:pt x="673210" y="1283981"/>
                      <a:pt x="818984" y="1347591"/>
                    </a:cubicBezTo>
                    <a:cubicBezTo>
                      <a:pt x="1216549" y="1541073"/>
                      <a:pt x="1741336" y="1885630"/>
                      <a:pt x="2011680" y="1928037"/>
                    </a:cubicBezTo>
                    <a:cubicBezTo>
                      <a:pt x="2266121" y="1954542"/>
                      <a:pt x="3172571" y="1647090"/>
                      <a:pt x="3753016" y="1506617"/>
                    </a:cubicBezTo>
                    <a:cubicBezTo>
                      <a:pt x="3697357" y="1407226"/>
                      <a:pt x="3208351" y="1168688"/>
                      <a:pt x="2409244" y="1299884"/>
                    </a:cubicBezTo>
                    <a:cubicBezTo>
                      <a:pt x="489003" y="1295909"/>
                      <a:pt x="734169" y="972555"/>
                      <a:pt x="755373" y="878464"/>
                    </a:cubicBezTo>
                    <a:cubicBezTo>
                      <a:pt x="816333" y="727390"/>
                      <a:pt x="1115833" y="695583"/>
                      <a:pt x="1311965" y="67172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91" name="직사각형 90">
              <a:extLst>
                <a:ext uri="{FF2B5EF4-FFF2-40B4-BE49-F238E27FC236}">
                  <a16:creationId xmlns:a16="http://schemas.microsoft.com/office/drawing/2014/main" id="{1AE5445E-6A40-45D1-AB60-8A77AF3C6331}"/>
                </a:ext>
              </a:extLst>
            </p:cNvPr>
            <p:cNvSpPr/>
            <p:nvPr/>
          </p:nvSpPr>
          <p:spPr>
            <a:xfrm rot="18740140">
              <a:off x="1894195" y="2506511"/>
              <a:ext cx="285737" cy="709307"/>
            </a:xfrm>
            <a:prstGeom prst="rect">
              <a:avLst/>
            </a:prstGeom>
            <a:solidFill>
              <a:schemeClr val="accent4"/>
            </a:solidFill>
            <a:ln>
              <a:no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94" name="그룹 93">
            <a:extLst>
              <a:ext uri="{FF2B5EF4-FFF2-40B4-BE49-F238E27FC236}">
                <a16:creationId xmlns:a16="http://schemas.microsoft.com/office/drawing/2014/main" id="{39599FCD-6297-4A29-893C-917C9DFCFBD1}"/>
              </a:ext>
            </a:extLst>
          </p:cNvPr>
          <p:cNvGrpSpPr/>
          <p:nvPr/>
        </p:nvGrpSpPr>
        <p:grpSpPr>
          <a:xfrm rot="10800000" flipV="1">
            <a:off x="8501224" y="5325601"/>
            <a:ext cx="2523434" cy="1065203"/>
            <a:chOff x="1682410" y="2217893"/>
            <a:chExt cx="2019261" cy="852379"/>
          </a:xfrm>
        </p:grpSpPr>
        <p:grpSp>
          <p:nvGrpSpPr>
            <p:cNvPr id="95" name="그룹 94">
              <a:extLst>
                <a:ext uri="{FF2B5EF4-FFF2-40B4-BE49-F238E27FC236}">
                  <a16:creationId xmlns:a16="http://schemas.microsoft.com/office/drawing/2014/main" id="{5C0BE83C-C8F9-420A-BA89-C6D5B70DFD18}"/>
                </a:ext>
              </a:extLst>
            </p:cNvPr>
            <p:cNvGrpSpPr/>
            <p:nvPr/>
          </p:nvGrpSpPr>
          <p:grpSpPr>
            <a:xfrm>
              <a:off x="1774163" y="2217893"/>
              <a:ext cx="1927508" cy="852379"/>
              <a:chOff x="1774163" y="2217893"/>
              <a:chExt cx="1927508" cy="852379"/>
            </a:xfrm>
            <a:solidFill>
              <a:schemeClr val="bg1"/>
            </a:solidFill>
          </p:grpSpPr>
          <p:sp>
            <p:nvSpPr>
              <p:cNvPr id="97" name="Freeform 18">
                <a:extLst>
                  <a:ext uri="{FF2B5EF4-FFF2-40B4-BE49-F238E27FC236}">
                    <a16:creationId xmlns:a16="http://schemas.microsoft.com/office/drawing/2014/main" id="{8ABAD191-8766-4A9F-8EDD-65642224DD3C}"/>
                  </a:ext>
                </a:extLst>
              </p:cNvPr>
              <p:cNvSpPr/>
              <p:nvPr/>
            </p:nvSpPr>
            <p:spPr>
              <a:xfrm flipH="1">
                <a:off x="1774163" y="2350717"/>
                <a:ext cx="1600825" cy="719555"/>
              </a:xfrm>
              <a:custGeom>
                <a:avLst/>
                <a:gdLst>
                  <a:gd name="connsiteX0" fmla="*/ 4126727 w 4126727"/>
                  <a:gd name="connsiteY0" fmla="*/ 866693 h 1836752"/>
                  <a:gd name="connsiteX1" fmla="*/ 2782957 w 4126727"/>
                  <a:gd name="connsiteY1" fmla="*/ 0 h 1836752"/>
                  <a:gd name="connsiteX2" fmla="*/ 2703444 w 4126727"/>
                  <a:gd name="connsiteY2" fmla="*/ 7952 h 1836752"/>
                  <a:gd name="connsiteX3" fmla="*/ 1375576 w 4126727"/>
                  <a:gd name="connsiteY3" fmla="*/ 326004 h 1836752"/>
                  <a:gd name="connsiteX4" fmla="*/ 0 w 4126727"/>
                  <a:gd name="connsiteY4" fmla="*/ 477079 h 1836752"/>
                  <a:gd name="connsiteX5" fmla="*/ 1574358 w 4126727"/>
                  <a:gd name="connsiteY5" fmla="*/ 898498 h 1836752"/>
                  <a:gd name="connsiteX6" fmla="*/ 2576223 w 4126727"/>
                  <a:gd name="connsiteY6" fmla="*/ 1280160 h 1836752"/>
                  <a:gd name="connsiteX7" fmla="*/ 3267986 w 4126727"/>
                  <a:gd name="connsiteY7" fmla="*/ 1836752 h 1836752"/>
                  <a:gd name="connsiteX8" fmla="*/ 4126727 w 4126727"/>
                  <a:gd name="connsiteY8" fmla="*/ 866693 h 1836752"/>
                  <a:gd name="connsiteX0" fmla="*/ 4126727 w 4126727"/>
                  <a:gd name="connsiteY0" fmla="*/ 884466 h 1854525"/>
                  <a:gd name="connsiteX1" fmla="*/ 2782957 w 4126727"/>
                  <a:gd name="connsiteY1" fmla="*/ 17773 h 1854525"/>
                  <a:gd name="connsiteX2" fmla="*/ 2703444 w 4126727"/>
                  <a:gd name="connsiteY2" fmla="*/ 25725 h 1854525"/>
                  <a:gd name="connsiteX3" fmla="*/ 1375576 w 4126727"/>
                  <a:gd name="connsiteY3" fmla="*/ 343777 h 1854525"/>
                  <a:gd name="connsiteX4" fmla="*/ 0 w 4126727"/>
                  <a:gd name="connsiteY4" fmla="*/ 494852 h 1854525"/>
                  <a:gd name="connsiteX5" fmla="*/ 1574358 w 4126727"/>
                  <a:gd name="connsiteY5" fmla="*/ 916271 h 1854525"/>
                  <a:gd name="connsiteX6" fmla="*/ 2576223 w 4126727"/>
                  <a:gd name="connsiteY6" fmla="*/ 1297933 h 1854525"/>
                  <a:gd name="connsiteX7" fmla="*/ 3267986 w 4126727"/>
                  <a:gd name="connsiteY7" fmla="*/ 1854525 h 1854525"/>
                  <a:gd name="connsiteX8" fmla="*/ 4126727 w 4126727"/>
                  <a:gd name="connsiteY8" fmla="*/ 884466 h 1854525"/>
                  <a:gd name="connsiteX0" fmla="*/ 1375576 w 4126727"/>
                  <a:gd name="connsiteY0" fmla="*/ 331865 h 1842613"/>
                  <a:gd name="connsiteX1" fmla="*/ 0 w 4126727"/>
                  <a:gd name="connsiteY1" fmla="*/ 482940 h 1842613"/>
                  <a:gd name="connsiteX2" fmla="*/ 1574358 w 4126727"/>
                  <a:gd name="connsiteY2" fmla="*/ 904359 h 1842613"/>
                  <a:gd name="connsiteX3" fmla="*/ 2576223 w 4126727"/>
                  <a:gd name="connsiteY3" fmla="*/ 1286021 h 1842613"/>
                  <a:gd name="connsiteX4" fmla="*/ 3267986 w 4126727"/>
                  <a:gd name="connsiteY4" fmla="*/ 1842613 h 1842613"/>
                  <a:gd name="connsiteX5" fmla="*/ 4126727 w 4126727"/>
                  <a:gd name="connsiteY5" fmla="*/ 872554 h 1842613"/>
                  <a:gd name="connsiteX6" fmla="*/ 2782957 w 4126727"/>
                  <a:gd name="connsiteY6" fmla="*/ 5861 h 1842613"/>
                  <a:gd name="connsiteX7" fmla="*/ 2794884 w 4126727"/>
                  <a:gd name="connsiteY7" fmla="*/ 105253 h 1842613"/>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90578 h 1901326"/>
                  <a:gd name="connsiteX1" fmla="*/ 0 w 4063117"/>
                  <a:gd name="connsiteY1" fmla="*/ 541653 h 1901326"/>
                  <a:gd name="connsiteX2" fmla="*/ 1574358 w 4063117"/>
                  <a:gd name="connsiteY2" fmla="*/ 963072 h 1901326"/>
                  <a:gd name="connsiteX3" fmla="*/ 2576223 w 4063117"/>
                  <a:gd name="connsiteY3" fmla="*/ 1344734 h 1901326"/>
                  <a:gd name="connsiteX4" fmla="*/ 3267986 w 4063117"/>
                  <a:gd name="connsiteY4" fmla="*/ 1901326 h 1901326"/>
                  <a:gd name="connsiteX5" fmla="*/ 4063117 w 4063117"/>
                  <a:gd name="connsiteY5" fmla="*/ 994878 h 1901326"/>
                  <a:gd name="connsiteX6" fmla="*/ 2782957 w 4063117"/>
                  <a:gd name="connsiteY6" fmla="*/ 64574 h 1901326"/>
                  <a:gd name="connsiteX7" fmla="*/ 2178658 w 4063117"/>
                  <a:gd name="connsiteY7" fmla="*/ 96380 h 1901326"/>
                  <a:gd name="connsiteX8" fmla="*/ 1375576 w 4063117"/>
                  <a:gd name="connsiteY8" fmla="*/ 390578 h 1901326"/>
                  <a:gd name="connsiteX0" fmla="*/ 1375576 w 4063117"/>
                  <a:gd name="connsiteY0" fmla="*/ 383650 h 1894398"/>
                  <a:gd name="connsiteX1" fmla="*/ 0 w 4063117"/>
                  <a:gd name="connsiteY1" fmla="*/ 534725 h 1894398"/>
                  <a:gd name="connsiteX2" fmla="*/ 1574358 w 4063117"/>
                  <a:gd name="connsiteY2" fmla="*/ 956144 h 1894398"/>
                  <a:gd name="connsiteX3" fmla="*/ 2576223 w 4063117"/>
                  <a:gd name="connsiteY3" fmla="*/ 1337806 h 1894398"/>
                  <a:gd name="connsiteX4" fmla="*/ 3267986 w 4063117"/>
                  <a:gd name="connsiteY4" fmla="*/ 1894398 h 1894398"/>
                  <a:gd name="connsiteX5" fmla="*/ 4063117 w 4063117"/>
                  <a:gd name="connsiteY5" fmla="*/ 987950 h 1894398"/>
                  <a:gd name="connsiteX6" fmla="*/ 2782957 w 4063117"/>
                  <a:gd name="connsiteY6" fmla="*/ 57646 h 1894398"/>
                  <a:gd name="connsiteX7" fmla="*/ 2178658 w 4063117"/>
                  <a:gd name="connsiteY7" fmla="*/ 89452 h 1894398"/>
                  <a:gd name="connsiteX8" fmla="*/ 1375576 w 4063117"/>
                  <a:gd name="connsiteY8" fmla="*/ 383650 h 1894398"/>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625109 w 4112003"/>
                  <a:gd name="connsiteY3" fmla="*/ 1280160 h 1836752"/>
                  <a:gd name="connsiteX4" fmla="*/ 3316872 w 4112003"/>
                  <a:gd name="connsiteY4" fmla="*/ 1836752 h 1836752"/>
                  <a:gd name="connsiteX5" fmla="*/ 4112003 w 4112003"/>
                  <a:gd name="connsiteY5" fmla="*/ 930304 h 1836752"/>
                  <a:gd name="connsiteX6" fmla="*/ 2831843 w 4112003"/>
                  <a:gd name="connsiteY6" fmla="*/ 0 h 1836752"/>
                  <a:gd name="connsiteX7" fmla="*/ 2227544 w 4112003"/>
                  <a:gd name="connsiteY7" fmla="*/ 31806 h 1836752"/>
                  <a:gd name="connsiteX8" fmla="*/ 1424462 w 4112003"/>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132129 w 4112003"/>
                  <a:gd name="connsiteY3" fmla="*/ 993914 h 1836752"/>
                  <a:gd name="connsiteX4" fmla="*/ 2625109 w 4112003"/>
                  <a:gd name="connsiteY4" fmla="*/ 1280160 h 1836752"/>
                  <a:gd name="connsiteX5" fmla="*/ 3316872 w 4112003"/>
                  <a:gd name="connsiteY5" fmla="*/ 1836752 h 1836752"/>
                  <a:gd name="connsiteX6" fmla="*/ 4112003 w 4112003"/>
                  <a:gd name="connsiteY6" fmla="*/ 930304 h 1836752"/>
                  <a:gd name="connsiteX7" fmla="*/ 2831843 w 4112003"/>
                  <a:gd name="connsiteY7" fmla="*/ 0 h 1836752"/>
                  <a:gd name="connsiteX8" fmla="*/ 2227544 w 4112003"/>
                  <a:gd name="connsiteY8" fmla="*/ 31806 h 1836752"/>
                  <a:gd name="connsiteX9" fmla="*/ 1424462 w 4112003"/>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38408 h 1849156"/>
                  <a:gd name="connsiteX1" fmla="*/ 59649 w 4122766"/>
                  <a:gd name="connsiteY1" fmla="*/ 489483 h 1849156"/>
                  <a:gd name="connsiteX2" fmla="*/ 1634007 w 4122766"/>
                  <a:gd name="connsiteY2" fmla="*/ 910902 h 1849156"/>
                  <a:gd name="connsiteX3" fmla="*/ 2142892 w 4122766"/>
                  <a:gd name="connsiteY3" fmla="*/ 1006318 h 1849156"/>
                  <a:gd name="connsiteX4" fmla="*/ 2635872 w 4122766"/>
                  <a:gd name="connsiteY4" fmla="*/ 1292564 h 1849156"/>
                  <a:gd name="connsiteX5" fmla="*/ 3327635 w 4122766"/>
                  <a:gd name="connsiteY5" fmla="*/ 1849156 h 1849156"/>
                  <a:gd name="connsiteX6" fmla="*/ 4122766 w 4122766"/>
                  <a:gd name="connsiteY6" fmla="*/ 942708 h 1849156"/>
                  <a:gd name="connsiteX7" fmla="*/ 2842606 w 4122766"/>
                  <a:gd name="connsiteY7" fmla="*/ 12404 h 1849156"/>
                  <a:gd name="connsiteX8" fmla="*/ 2238307 w 4122766"/>
                  <a:gd name="connsiteY8" fmla="*/ 44210 h 1849156"/>
                  <a:gd name="connsiteX9" fmla="*/ 1435225 w 4122766"/>
                  <a:gd name="connsiteY9" fmla="*/ 338408 h 1849156"/>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39809 h 1850557"/>
                  <a:gd name="connsiteX1" fmla="*/ 59649 w 4122766"/>
                  <a:gd name="connsiteY1" fmla="*/ 490884 h 1850557"/>
                  <a:gd name="connsiteX2" fmla="*/ 1634007 w 4122766"/>
                  <a:gd name="connsiteY2" fmla="*/ 912303 h 1850557"/>
                  <a:gd name="connsiteX3" fmla="*/ 2142892 w 4122766"/>
                  <a:gd name="connsiteY3" fmla="*/ 1007719 h 1850557"/>
                  <a:gd name="connsiteX4" fmla="*/ 2635872 w 4122766"/>
                  <a:gd name="connsiteY4" fmla="*/ 1293965 h 1850557"/>
                  <a:gd name="connsiteX5" fmla="*/ 3327635 w 4122766"/>
                  <a:gd name="connsiteY5" fmla="*/ 1850557 h 1850557"/>
                  <a:gd name="connsiteX6" fmla="*/ 4122766 w 4122766"/>
                  <a:gd name="connsiteY6" fmla="*/ 944109 h 1850557"/>
                  <a:gd name="connsiteX7" fmla="*/ 2842606 w 4122766"/>
                  <a:gd name="connsiteY7" fmla="*/ 13805 h 1850557"/>
                  <a:gd name="connsiteX8" fmla="*/ 2166745 w 4122766"/>
                  <a:gd name="connsiteY8" fmla="*/ 93319 h 1850557"/>
                  <a:gd name="connsiteX9" fmla="*/ 1435225 w 4122766"/>
                  <a:gd name="connsiteY9" fmla="*/ 339809 h 1850557"/>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76690 h 1887438"/>
                  <a:gd name="connsiteX1" fmla="*/ 59649 w 4122766"/>
                  <a:gd name="connsiteY1" fmla="*/ 527765 h 1887438"/>
                  <a:gd name="connsiteX2" fmla="*/ 1634007 w 4122766"/>
                  <a:gd name="connsiteY2" fmla="*/ 949184 h 1887438"/>
                  <a:gd name="connsiteX3" fmla="*/ 2142892 w 4122766"/>
                  <a:gd name="connsiteY3" fmla="*/ 1044600 h 1887438"/>
                  <a:gd name="connsiteX4" fmla="*/ 2635872 w 4122766"/>
                  <a:gd name="connsiteY4" fmla="*/ 1330846 h 1887438"/>
                  <a:gd name="connsiteX5" fmla="*/ 3327635 w 4122766"/>
                  <a:gd name="connsiteY5" fmla="*/ 1887438 h 1887438"/>
                  <a:gd name="connsiteX6" fmla="*/ 4122766 w 4122766"/>
                  <a:gd name="connsiteY6" fmla="*/ 980990 h 1887438"/>
                  <a:gd name="connsiteX7" fmla="*/ 2842606 w 4122766"/>
                  <a:gd name="connsiteY7" fmla="*/ 18881 h 1887438"/>
                  <a:gd name="connsiteX8" fmla="*/ 2166745 w 4122766"/>
                  <a:gd name="connsiteY8" fmla="*/ 130200 h 1887438"/>
                  <a:gd name="connsiteX9" fmla="*/ 1435225 w 4122766"/>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548408 w 4067107"/>
                  <a:gd name="connsiteY4" fmla="*/ 1275187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089096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747240"/>
                  <a:gd name="connsiteX1" fmla="*/ 59649 w 4067107"/>
                  <a:gd name="connsiteY1" fmla="*/ 527765 h 1747240"/>
                  <a:gd name="connsiteX2" fmla="*/ 1634007 w 4067107"/>
                  <a:gd name="connsiteY2" fmla="*/ 949184 h 1747240"/>
                  <a:gd name="connsiteX3" fmla="*/ 2142892 w 4067107"/>
                  <a:gd name="connsiteY3" fmla="*/ 1044600 h 1747240"/>
                  <a:gd name="connsiteX4" fmla="*/ 2476846 w 4067107"/>
                  <a:gd name="connsiteY4" fmla="*/ 1378554 h 1747240"/>
                  <a:gd name="connsiteX5" fmla="*/ 3004138 w 4067107"/>
                  <a:gd name="connsiteY5" fmla="*/ 1747240 h 1747240"/>
                  <a:gd name="connsiteX6" fmla="*/ 4067107 w 4067107"/>
                  <a:gd name="connsiteY6" fmla="*/ 1036649 h 1747240"/>
                  <a:gd name="connsiteX7" fmla="*/ 2842606 w 4067107"/>
                  <a:gd name="connsiteY7" fmla="*/ 18881 h 1747240"/>
                  <a:gd name="connsiteX8" fmla="*/ 2166745 w 4067107"/>
                  <a:gd name="connsiteY8" fmla="*/ 130200 h 1747240"/>
                  <a:gd name="connsiteX9" fmla="*/ 1435225 w 4067107"/>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3004138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2806187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7153" h="1747240">
                    <a:moveTo>
                      <a:pt x="1435225" y="376690"/>
                    </a:moveTo>
                    <a:cubicBezTo>
                      <a:pt x="921041" y="355486"/>
                      <a:pt x="168317" y="374040"/>
                      <a:pt x="59649" y="527765"/>
                    </a:cubicBezTo>
                    <a:cubicBezTo>
                      <a:pt x="-282257" y="890874"/>
                      <a:pt x="926341" y="920030"/>
                      <a:pt x="1634007" y="949184"/>
                    </a:cubicBezTo>
                    <a:cubicBezTo>
                      <a:pt x="1755927" y="988940"/>
                      <a:pt x="2020972" y="1004844"/>
                      <a:pt x="2142892" y="1044600"/>
                    </a:cubicBezTo>
                    <a:lnTo>
                      <a:pt x="2476846" y="1378554"/>
                    </a:lnTo>
                    <a:lnTo>
                      <a:pt x="2806187" y="1747240"/>
                    </a:lnTo>
                    <a:lnTo>
                      <a:pt x="3887153" y="784714"/>
                    </a:lnTo>
                    <a:cubicBezTo>
                      <a:pt x="3502840" y="495816"/>
                      <a:pt x="3512746" y="372650"/>
                      <a:pt x="2842606" y="18881"/>
                    </a:cubicBezTo>
                    <a:cubicBezTo>
                      <a:pt x="2541783" y="-38103"/>
                      <a:pt x="2417210" y="44060"/>
                      <a:pt x="2166745" y="130200"/>
                    </a:cubicBezTo>
                    <a:cubicBezTo>
                      <a:pt x="1932182" y="184534"/>
                      <a:pt x="1811587" y="315730"/>
                      <a:pt x="1435225" y="3766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Freeform 19">
                <a:extLst>
                  <a:ext uri="{FF2B5EF4-FFF2-40B4-BE49-F238E27FC236}">
                    <a16:creationId xmlns:a16="http://schemas.microsoft.com/office/drawing/2014/main" id="{E85E0B13-08E9-4BC3-AC8B-CE547B3B42BE}"/>
                  </a:ext>
                </a:extLst>
              </p:cNvPr>
              <p:cNvSpPr/>
              <p:nvPr/>
            </p:nvSpPr>
            <p:spPr>
              <a:xfrm flipH="1">
                <a:off x="2156087" y="2217893"/>
                <a:ext cx="1545584" cy="794676"/>
              </a:xfrm>
              <a:custGeom>
                <a:avLst/>
                <a:gdLst>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35267 h 1979038"/>
                  <a:gd name="connsiteX1" fmla="*/ 659958 w 3347499"/>
                  <a:gd name="connsiteY1" fmla="*/ 78676 h 1979038"/>
                  <a:gd name="connsiteX2" fmla="*/ 373711 w 3347499"/>
                  <a:gd name="connsiteY2" fmla="*/ 23017 h 1979038"/>
                  <a:gd name="connsiteX3" fmla="*/ 95416 w 3347499"/>
                  <a:gd name="connsiteY3" fmla="*/ 38919 h 1979038"/>
                  <a:gd name="connsiteX4" fmla="*/ 111318 w 3347499"/>
                  <a:gd name="connsiteY4" fmla="*/ 134335 h 1979038"/>
                  <a:gd name="connsiteX5" fmla="*/ 0 w 3347499"/>
                  <a:gd name="connsiteY5" fmla="*/ 197946 h 1979038"/>
                  <a:gd name="connsiteX6" fmla="*/ 779228 w 3347499"/>
                  <a:gd name="connsiteY6" fmla="*/ 1247518 h 1979038"/>
                  <a:gd name="connsiteX7" fmla="*/ 1900362 w 3347499"/>
                  <a:gd name="connsiteY7" fmla="*/ 1979038 h 1979038"/>
                  <a:gd name="connsiteX8" fmla="*/ 3347499 w 3347499"/>
                  <a:gd name="connsiteY8" fmla="*/ 1637132 h 1979038"/>
                  <a:gd name="connsiteX9" fmla="*/ 1304013 w 3347499"/>
                  <a:gd name="connsiteY9" fmla="*/ 635267 h 1979038"/>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11318 w 3347499"/>
                  <a:gd name="connsiteY4" fmla="*/ 153906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811033 w 3347499"/>
                  <a:gd name="connsiteY6" fmla="*/ 1243235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863437"/>
                  <a:gd name="connsiteX1" fmla="*/ 659958 w 3347499"/>
                  <a:gd name="connsiteY1" fmla="*/ 98247 h 1863437"/>
                  <a:gd name="connsiteX2" fmla="*/ 373711 w 3347499"/>
                  <a:gd name="connsiteY2" fmla="*/ 42588 h 1863437"/>
                  <a:gd name="connsiteX3" fmla="*/ 95416 w 3347499"/>
                  <a:gd name="connsiteY3" fmla="*/ 58490 h 1863437"/>
                  <a:gd name="connsiteX4" fmla="*/ 174928 w 3347499"/>
                  <a:gd name="connsiteY4" fmla="*/ 177759 h 1863437"/>
                  <a:gd name="connsiteX5" fmla="*/ 0 w 3347499"/>
                  <a:gd name="connsiteY5" fmla="*/ 217517 h 1863437"/>
                  <a:gd name="connsiteX6" fmla="*/ 811033 w 3347499"/>
                  <a:gd name="connsiteY6" fmla="*/ 1243235 h 1863437"/>
                  <a:gd name="connsiteX7" fmla="*/ 1924216 w 3347499"/>
                  <a:gd name="connsiteY7" fmla="*/ 1863437 h 1863437"/>
                  <a:gd name="connsiteX8" fmla="*/ 3347499 w 3347499"/>
                  <a:gd name="connsiteY8" fmla="*/ 1656703 h 1863437"/>
                  <a:gd name="connsiteX9" fmla="*/ 1304013 w 3347499"/>
                  <a:gd name="connsiteY9" fmla="*/ 654838 h 1863437"/>
                  <a:gd name="connsiteX0" fmla="*/ 1304013 w 3347499"/>
                  <a:gd name="connsiteY0" fmla="*/ 654838 h 1982707"/>
                  <a:gd name="connsiteX1" fmla="*/ 659958 w 3347499"/>
                  <a:gd name="connsiteY1" fmla="*/ 98247 h 1982707"/>
                  <a:gd name="connsiteX2" fmla="*/ 373711 w 3347499"/>
                  <a:gd name="connsiteY2" fmla="*/ 42588 h 1982707"/>
                  <a:gd name="connsiteX3" fmla="*/ 95416 w 3347499"/>
                  <a:gd name="connsiteY3" fmla="*/ 58490 h 1982707"/>
                  <a:gd name="connsiteX4" fmla="*/ 174928 w 3347499"/>
                  <a:gd name="connsiteY4" fmla="*/ 177759 h 1982707"/>
                  <a:gd name="connsiteX5" fmla="*/ 0 w 3347499"/>
                  <a:gd name="connsiteY5" fmla="*/ 217517 h 1982707"/>
                  <a:gd name="connsiteX6" fmla="*/ 811033 w 3347499"/>
                  <a:gd name="connsiteY6" fmla="*/ 1243235 h 1982707"/>
                  <a:gd name="connsiteX7" fmla="*/ 2146852 w 3347499"/>
                  <a:gd name="connsiteY7" fmla="*/ 1982707 h 1982707"/>
                  <a:gd name="connsiteX8" fmla="*/ 3347499 w 3347499"/>
                  <a:gd name="connsiteY8" fmla="*/ 1656703 h 1982707"/>
                  <a:gd name="connsiteX9" fmla="*/ 1304013 w 3347499"/>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1304013 w 3387256"/>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304013 w 3387256"/>
                  <a:gd name="connsiteY10" fmla="*/ 654838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72207 w 3753016"/>
                  <a:gd name="connsiteY11" fmla="*/ 630984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5192 h 1985110"/>
                  <a:gd name="connsiteX1" fmla="*/ 699714 w 3753016"/>
                  <a:gd name="connsiteY1" fmla="*/ 92698 h 1985110"/>
                  <a:gd name="connsiteX2" fmla="*/ 397565 w 3753016"/>
                  <a:gd name="connsiteY2" fmla="*/ 37040 h 1985110"/>
                  <a:gd name="connsiteX3" fmla="*/ 95416 w 3753016"/>
                  <a:gd name="connsiteY3" fmla="*/ 60893 h 1985110"/>
                  <a:gd name="connsiteX4" fmla="*/ 119269 w 3753016"/>
                  <a:gd name="connsiteY4" fmla="*/ 172211 h 1985110"/>
                  <a:gd name="connsiteX5" fmla="*/ 0 w 3753016"/>
                  <a:gd name="connsiteY5" fmla="*/ 219920 h 1985110"/>
                  <a:gd name="connsiteX6" fmla="*/ 811033 w 3753016"/>
                  <a:gd name="connsiteY6" fmla="*/ 1245638 h 1985110"/>
                  <a:gd name="connsiteX7" fmla="*/ 2146852 w 3753016"/>
                  <a:gd name="connsiteY7" fmla="*/ 1985110 h 1985110"/>
                  <a:gd name="connsiteX8" fmla="*/ 3753016 w 3753016"/>
                  <a:gd name="connsiteY8" fmla="*/ 1500080 h 1985110"/>
                  <a:gd name="connsiteX9" fmla="*/ 2409244 w 3753016"/>
                  <a:gd name="connsiteY9" fmla="*/ 1293347 h 1985110"/>
                  <a:gd name="connsiteX10" fmla="*/ 755373 w 3753016"/>
                  <a:gd name="connsiteY10" fmla="*/ 871927 h 1985110"/>
                  <a:gd name="connsiteX11" fmla="*/ 1311965 w 3753016"/>
                  <a:gd name="connsiteY11" fmla="*/ 665192 h 1985110"/>
                  <a:gd name="connsiteX0" fmla="*/ 1311965 w 3753016"/>
                  <a:gd name="connsiteY0" fmla="*/ 670630 h 1990548"/>
                  <a:gd name="connsiteX1" fmla="*/ 699714 w 3753016"/>
                  <a:gd name="connsiteY1" fmla="*/ 98136 h 1990548"/>
                  <a:gd name="connsiteX2" fmla="*/ 453224 w 3753016"/>
                  <a:gd name="connsiteY2" fmla="*/ 26576 h 1990548"/>
                  <a:gd name="connsiteX3" fmla="*/ 95416 w 3753016"/>
                  <a:gd name="connsiteY3" fmla="*/ 66331 h 1990548"/>
                  <a:gd name="connsiteX4" fmla="*/ 119269 w 3753016"/>
                  <a:gd name="connsiteY4" fmla="*/ 177649 h 1990548"/>
                  <a:gd name="connsiteX5" fmla="*/ 0 w 3753016"/>
                  <a:gd name="connsiteY5" fmla="*/ 225358 h 1990548"/>
                  <a:gd name="connsiteX6" fmla="*/ 811033 w 3753016"/>
                  <a:gd name="connsiteY6" fmla="*/ 1251076 h 1990548"/>
                  <a:gd name="connsiteX7" fmla="*/ 2146852 w 3753016"/>
                  <a:gd name="connsiteY7" fmla="*/ 1990548 h 1990548"/>
                  <a:gd name="connsiteX8" fmla="*/ 3753016 w 3753016"/>
                  <a:gd name="connsiteY8" fmla="*/ 1505518 h 1990548"/>
                  <a:gd name="connsiteX9" fmla="*/ 2409244 w 3753016"/>
                  <a:gd name="connsiteY9" fmla="*/ 1298785 h 1990548"/>
                  <a:gd name="connsiteX10" fmla="*/ 755373 w 3753016"/>
                  <a:gd name="connsiteY10" fmla="*/ 877365 h 1990548"/>
                  <a:gd name="connsiteX11" fmla="*/ 1311965 w 3753016"/>
                  <a:gd name="connsiteY11" fmla="*/ 670630 h 1990548"/>
                  <a:gd name="connsiteX0" fmla="*/ 1311965 w 3753016"/>
                  <a:gd name="connsiteY0" fmla="*/ 671729 h 1991647"/>
                  <a:gd name="connsiteX1" fmla="*/ 699714 w 3753016"/>
                  <a:gd name="connsiteY1" fmla="*/ 99235 h 1991647"/>
                  <a:gd name="connsiteX2" fmla="*/ 453224 w 3753016"/>
                  <a:gd name="connsiteY2" fmla="*/ 27675 h 1991647"/>
                  <a:gd name="connsiteX3" fmla="*/ 95416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37304 w 3778355"/>
                  <a:gd name="connsiteY0" fmla="*/ 671729 h 1991647"/>
                  <a:gd name="connsiteX1" fmla="*/ 725053 w 3778355"/>
                  <a:gd name="connsiteY1" fmla="*/ 99235 h 1991647"/>
                  <a:gd name="connsiteX2" fmla="*/ 478563 w 3778355"/>
                  <a:gd name="connsiteY2" fmla="*/ 27675 h 1991647"/>
                  <a:gd name="connsiteX3" fmla="*/ 152560 w 3778355"/>
                  <a:gd name="connsiteY3" fmla="*/ 67430 h 1991647"/>
                  <a:gd name="connsiteX4" fmla="*/ 232072 w 3778355"/>
                  <a:gd name="connsiteY4" fmla="*/ 186702 h 1991647"/>
                  <a:gd name="connsiteX5" fmla="*/ 25339 w 3778355"/>
                  <a:gd name="connsiteY5" fmla="*/ 226457 h 1991647"/>
                  <a:gd name="connsiteX6" fmla="*/ 836372 w 3778355"/>
                  <a:gd name="connsiteY6" fmla="*/ 1252175 h 1991647"/>
                  <a:gd name="connsiteX7" fmla="*/ 2172191 w 3778355"/>
                  <a:gd name="connsiteY7" fmla="*/ 1991647 h 1991647"/>
                  <a:gd name="connsiteX8" fmla="*/ 3778355 w 3778355"/>
                  <a:gd name="connsiteY8" fmla="*/ 1506617 h 1991647"/>
                  <a:gd name="connsiteX9" fmla="*/ 2434583 w 3778355"/>
                  <a:gd name="connsiteY9" fmla="*/ 1299884 h 1991647"/>
                  <a:gd name="connsiteX10" fmla="*/ 780712 w 3778355"/>
                  <a:gd name="connsiteY10" fmla="*/ 878464 h 1991647"/>
                  <a:gd name="connsiteX11" fmla="*/ 1337304 w 3778355"/>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206733 w 3753016"/>
                  <a:gd name="connsiteY4" fmla="*/ 186702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9647"/>
                  <a:gd name="connsiteX1" fmla="*/ 699714 w 3753016"/>
                  <a:gd name="connsiteY1" fmla="*/ 99235 h 1929647"/>
                  <a:gd name="connsiteX2" fmla="*/ 453224 w 3753016"/>
                  <a:gd name="connsiteY2" fmla="*/ 27675 h 1929647"/>
                  <a:gd name="connsiteX3" fmla="*/ 127221 w 3753016"/>
                  <a:gd name="connsiteY3" fmla="*/ 67430 h 1929647"/>
                  <a:gd name="connsiteX4" fmla="*/ 166977 w 3753016"/>
                  <a:gd name="connsiteY4" fmla="*/ 154897 h 1929647"/>
                  <a:gd name="connsiteX5" fmla="*/ 0 w 3753016"/>
                  <a:gd name="connsiteY5" fmla="*/ 226457 h 1929647"/>
                  <a:gd name="connsiteX6" fmla="*/ 818984 w 3753016"/>
                  <a:gd name="connsiteY6" fmla="*/ 1347591 h 1929647"/>
                  <a:gd name="connsiteX7" fmla="*/ 2011680 w 3753016"/>
                  <a:gd name="connsiteY7" fmla="*/ 1928037 h 1929647"/>
                  <a:gd name="connsiteX8" fmla="*/ 3753016 w 3753016"/>
                  <a:gd name="connsiteY8" fmla="*/ 1506617 h 1929647"/>
                  <a:gd name="connsiteX9" fmla="*/ 2409244 w 3753016"/>
                  <a:gd name="connsiteY9" fmla="*/ 1299884 h 1929647"/>
                  <a:gd name="connsiteX10" fmla="*/ 755373 w 3753016"/>
                  <a:gd name="connsiteY10" fmla="*/ 878464 h 1929647"/>
                  <a:gd name="connsiteX11" fmla="*/ 1311965 w 3753016"/>
                  <a:gd name="connsiteY11" fmla="*/ 671729 h 192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53016" h="1929647">
                    <a:moveTo>
                      <a:pt x="1311965" y="671729"/>
                    </a:moveTo>
                    <a:cubicBezTo>
                      <a:pt x="1166191" y="480897"/>
                      <a:pt x="893195" y="-35936"/>
                      <a:pt x="699714" y="99235"/>
                    </a:cubicBezTo>
                    <a:cubicBezTo>
                      <a:pt x="667909" y="136342"/>
                      <a:pt x="636104" y="-73042"/>
                      <a:pt x="453224" y="27675"/>
                    </a:cubicBezTo>
                    <a:cubicBezTo>
                      <a:pt x="360459" y="32976"/>
                      <a:pt x="331304" y="-57141"/>
                      <a:pt x="127221" y="67430"/>
                    </a:cubicBezTo>
                    <a:cubicBezTo>
                      <a:pt x="74212" y="88634"/>
                      <a:pt x="188181" y="128392"/>
                      <a:pt x="166977" y="154897"/>
                    </a:cubicBezTo>
                    <a:cubicBezTo>
                      <a:pt x="145773" y="181402"/>
                      <a:pt x="70236" y="131041"/>
                      <a:pt x="0" y="226457"/>
                    </a:cubicBezTo>
                    <a:cubicBezTo>
                      <a:pt x="272995" y="600168"/>
                      <a:pt x="673210" y="1283981"/>
                      <a:pt x="818984" y="1347591"/>
                    </a:cubicBezTo>
                    <a:cubicBezTo>
                      <a:pt x="1216549" y="1541073"/>
                      <a:pt x="1741336" y="1885630"/>
                      <a:pt x="2011680" y="1928037"/>
                    </a:cubicBezTo>
                    <a:cubicBezTo>
                      <a:pt x="2266121" y="1954542"/>
                      <a:pt x="3172571" y="1647090"/>
                      <a:pt x="3753016" y="1506617"/>
                    </a:cubicBezTo>
                    <a:cubicBezTo>
                      <a:pt x="3697357" y="1407226"/>
                      <a:pt x="3208351" y="1168688"/>
                      <a:pt x="2409244" y="1299884"/>
                    </a:cubicBezTo>
                    <a:cubicBezTo>
                      <a:pt x="489003" y="1295909"/>
                      <a:pt x="734169" y="972555"/>
                      <a:pt x="755373" y="878464"/>
                    </a:cubicBezTo>
                    <a:cubicBezTo>
                      <a:pt x="816333" y="727390"/>
                      <a:pt x="1115833" y="695583"/>
                      <a:pt x="1311965" y="67172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96" name="직사각형 95">
              <a:extLst>
                <a:ext uri="{FF2B5EF4-FFF2-40B4-BE49-F238E27FC236}">
                  <a16:creationId xmlns:a16="http://schemas.microsoft.com/office/drawing/2014/main" id="{7AD59791-93B8-4B60-ABFD-4B737DC7C127}"/>
                </a:ext>
              </a:extLst>
            </p:cNvPr>
            <p:cNvSpPr/>
            <p:nvPr/>
          </p:nvSpPr>
          <p:spPr>
            <a:xfrm rot="18740140">
              <a:off x="1894195" y="2506511"/>
              <a:ext cx="285737" cy="709307"/>
            </a:xfrm>
            <a:prstGeom prst="rect">
              <a:avLst/>
            </a:prstGeom>
            <a:solidFill>
              <a:schemeClr val="accent1"/>
            </a:solidFill>
            <a:ln>
              <a:no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99" name="그룹 98">
            <a:extLst>
              <a:ext uri="{FF2B5EF4-FFF2-40B4-BE49-F238E27FC236}">
                <a16:creationId xmlns:a16="http://schemas.microsoft.com/office/drawing/2014/main" id="{6D6E4393-00EF-4F06-9637-F3BB3DAFC4DE}"/>
              </a:ext>
            </a:extLst>
          </p:cNvPr>
          <p:cNvGrpSpPr/>
          <p:nvPr/>
        </p:nvGrpSpPr>
        <p:grpSpPr>
          <a:xfrm rot="10800000" flipV="1">
            <a:off x="8501224" y="3034626"/>
            <a:ext cx="2523434" cy="1065203"/>
            <a:chOff x="1682410" y="2217893"/>
            <a:chExt cx="2019261" cy="852379"/>
          </a:xfrm>
        </p:grpSpPr>
        <p:grpSp>
          <p:nvGrpSpPr>
            <p:cNvPr id="100" name="그룹 99">
              <a:extLst>
                <a:ext uri="{FF2B5EF4-FFF2-40B4-BE49-F238E27FC236}">
                  <a16:creationId xmlns:a16="http://schemas.microsoft.com/office/drawing/2014/main" id="{DC7520F6-6C1C-4E88-A21E-6CE958580CA0}"/>
                </a:ext>
              </a:extLst>
            </p:cNvPr>
            <p:cNvGrpSpPr/>
            <p:nvPr/>
          </p:nvGrpSpPr>
          <p:grpSpPr>
            <a:xfrm>
              <a:off x="1774163" y="2217893"/>
              <a:ext cx="1927508" cy="852379"/>
              <a:chOff x="1774163" y="2217893"/>
              <a:chExt cx="1927508" cy="852379"/>
            </a:xfrm>
            <a:solidFill>
              <a:schemeClr val="bg1"/>
            </a:solidFill>
          </p:grpSpPr>
          <p:sp>
            <p:nvSpPr>
              <p:cNvPr id="102" name="Freeform 18">
                <a:extLst>
                  <a:ext uri="{FF2B5EF4-FFF2-40B4-BE49-F238E27FC236}">
                    <a16:creationId xmlns:a16="http://schemas.microsoft.com/office/drawing/2014/main" id="{05CE9C11-E057-4B0B-9A42-0F5E5438D64E}"/>
                  </a:ext>
                </a:extLst>
              </p:cNvPr>
              <p:cNvSpPr/>
              <p:nvPr/>
            </p:nvSpPr>
            <p:spPr>
              <a:xfrm flipH="1">
                <a:off x="1774163" y="2350717"/>
                <a:ext cx="1600825" cy="719555"/>
              </a:xfrm>
              <a:custGeom>
                <a:avLst/>
                <a:gdLst>
                  <a:gd name="connsiteX0" fmla="*/ 4126727 w 4126727"/>
                  <a:gd name="connsiteY0" fmla="*/ 866693 h 1836752"/>
                  <a:gd name="connsiteX1" fmla="*/ 2782957 w 4126727"/>
                  <a:gd name="connsiteY1" fmla="*/ 0 h 1836752"/>
                  <a:gd name="connsiteX2" fmla="*/ 2703444 w 4126727"/>
                  <a:gd name="connsiteY2" fmla="*/ 7952 h 1836752"/>
                  <a:gd name="connsiteX3" fmla="*/ 1375576 w 4126727"/>
                  <a:gd name="connsiteY3" fmla="*/ 326004 h 1836752"/>
                  <a:gd name="connsiteX4" fmla="*/ 0 w 4126727"/>
                  <a:gd name="connsiteY4" fmla="*/ 477079 h 1836752"/>
                  <a:gd name="connsiteX5" fmla="*/ 1574358 w 4126727"/>
                  <a:gd name="connsiteY5" fmla="*/ 898498 h 1836752"/>
                  <a:gd name="connsiteX6" fmla="*/ 2576223 w 4126727"/>
                  <a:gd name="connsiteY6" fmla="*/ 1280160 h 1836752"/>
                  <a:gd name="connsiteX7" fmla="*/ 3267986 w 4126727"/>
                  <a:gd name="connsiteY7" fmla="*/ 1836752 h 1836752"/>
                  <a:gd name="connsiteX8" fmla="*/ 4126727 w 4126727"/>
                  <a:gd name="connsiteY8" fmla="*/ 866693 h 1836752"/>
                  <a:gd name="connsiteX0" fmla="*/ 4126727 w 4126727"/>
                  <a:gd name="connsiteY0" fmla="*/ 884466 h 1854525"/>
                  <a:gd name="connsiteX1" fmla="*/ 2782957 w 4126727"/>
                  <a:gd name="connsiteY1" fmla="*/ 17773 h 1854525"/>
                  <a:gd name="connsiteX2" fmla="*/ 2703444 w 4126727"/>
                  <a:gd name="connsiteY2" fmla="*/ 25725 h 1854525"/>
                  <a:gd name="connsiteX3" fmla="*/ 1375576 w 4126727"/>
                  <a:gd name="connsiteY3" fmla="*/ 343777 h 1854525"/>
                  <a:gd name="connsiteX4" fmla="*/ 0 w 4126727"/>
                  <a:gd name="connsiteY4" fmla="*/ 494852 h 1854525"/>
                  <a:gd name="connsiteX5" fmla="*/ 1574358 w 4126727"/>
                  <a:gd name="connsiteY5" fmla="*/ 916271 h 1854525"/>
                  <a:gd name="connsiteX6" fmla="*/ 2576223 w 4126727"/>
                  <a:gd name="connsiteY6" fmla="*/ 1297933 h 1854525"/>
                  <a:gd name="connsiteX7" fmla="*/ 3267986 w 4126727"/>
                  <a:gd name="connsiteY7" fmla="*/ 1854525 h 1854525"/>
                  <a:gd name="connsiteX8" fmla="*/ 4126727 w 4126727"/>
                  <a:gd name="connsiteY8" fmla="*/ 884466 h 1854525"/>
                  <a:gd name="connsiteX0" fmla="*/ 1375576 w 4126727"/>
                  <a:gd name="connsiteY0" fmla="*/ 331865 h 1842613"/>
                  <a:gd name="connsiteX1" fmla="*/ 0 w 4126727"/>
                  <a:gd name="connsiteY1" fmla="*/ 482940 h 1842613"/>
                  <a:gd name="connsiteX2" fmla="*/ 1574358 w 4126727"/>
                  <a:gd name="connsiteY2" fmla="*/ 904359 h 1842613"/>
                  <a:gd name="connsiteX3" fmla="*/ 2576223 w 4126727"/>
                  <a:gd name="connsiteY3" fmla="*/ 1286021 h 1842613"/>
                  <a:gd name="connsiteX4" fmla="*/ 3267986 w 4126727"/>
                  <a:gd name="connsiteY4" fmla="*/ 1842613 h 1842613"/>
                  <a:gd name="connsiteX5" fmla="*/ 4126727 w 4126727"/>
                  <a:gd name="connsiteY5" fmla="*/ 872554 h 1842613"/>
                  <a:gd name="connsiteX6" fmla="*/ 2782957 w 4126727"/>
                  <a:gd name="connsiteY6" fmla="*/ 5861 h 1842613"/>
                  <a:gd name="connsiteX7" fmla="*/ 2794884 w 4126727"/>
                  <a:gd name="connsiteY7" fmla="*/ 105253 h 1842613"/>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126727"/>
                  <a:gd name="connsiteY0" fmla="*/ 326004 h 1836752"/>
                  <a:gd name="connsiteX1" fmla="*/ 0 w 4126727"/>
                  <a:gd name="connsiteY1" fmla="*/ 477079 h 1836752"/>
                  <a:gd name="connsiteX2" fmla="*/ 1574358 w 4126727"/>
                  <a:gd name="connsiteY2" fmla="*/ 898498 h 1836752"/>
                  <a:gd name="connsiteX3" fmla="*/ 2576223 w 4126727"/>
                  <a:gd name="connsiteY3" fmla="*/ 1280160 h 1836752"/>
                  <a:gd name="connsiteX4" fmla="*/ 3267986 w 4126727"/>
                  <a:gd name="connsiteY4" fmla="*/ 1836752 h 1836752"/>
                  <a:gd name="connsiteX5" fmla="*/ 4126727 w 4126727"/>
                  <a:gd name="connsiteY5" fmla="*/ 866693 h 1836752"/>
                  <a:gd name="connsiteX6" fmla="*/ 2782957 w 412672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1375576 w 4063117"/>
                  <a:gd name="connsiteY7" fmla="*/ 326004 h 1836752"/>
                  <a:gd name="connsiteX0" fmla="*/ 1375576 w 4063117"/>
                  <a:gd name="connsiteY0" fmla="*/ 390578 h 1901326"/>
                  <a:gd name="connsiteX1" fmla="*/ 0 w 4063117"/>
                  <a:gd name="connsiteY1" fmla="*/ 541653 h 1901326"/>
                  <a:gd name="connsiteX2" fmla="*/ 1574358 w 4063117"/>
                  <a:gd name="connsiteY2" fmla="*/ 963072 h 1901326"/>
                  <a:gd name="connsiteX3" fmla="*/ 2576223 w 4063117"/>
                  <a:gd name="connsiteY3" fmla="*/ 1344734 h 1901326"/>
                  <a:gd name="connsiteX4" fmla="*/ 3267986 w 4063117"/>
                  <a:gd name="connsiteY4" fmla="*/ 1901326 h 1901326"/>
                  <a:gd name="connsiteX5" fmla="*/ 4063117 w 4063117"/>
                  <a:gd name="connsiteY5" fmla="*/ 994878 h 1901326"/>
                  <a:gd name="connsiteX6" fmla="*/ 2782957 w 4063117"/>
                  <a:gd name="connsiteY6" fmla="*/ 64574 h 1901326"/>
                  <a:gd name="connsiteX7" fmla="*/ 2178658 w 4063117"/>
                  <a:gd name="connsiteY7" fmla="*/ 96380 h 1901326"/>
                  <a:gd name="connsiteX8" fmla="*/ 1375576 w 4063117"/>
                  <a:gd name="connsiteY8" fmla="*/ 390578 h 1901326"/>
                  <a:gd name="connsiteX0" fmla="*/ 1375576 w 4063117"/>
                  <a:gd name="connsiteY0" fmla="*/ 383650 h 1894398"/>
                  <a:gd name="connsiteX1" fmla="*/ 0 w 4063117"/>
                  <a:gd name="connsiteY1" fmla="*/ 534725 h 1894398"/>
                  <a:gd name="connsiteX2" fmla="*/ 1574358 w 4063117"/>
                  <a:gd name="connsiteY2" fmla="*/ 956144 h 1894398"/>
                  <a:gd name="connsiteX3" fmla="*/ 2576223 w 4063117"/>
                  <a:gd name="connsiteY3" fmla="*/ 1337806 h 1894398"/>
                  <a:gd name="connsiteX4" fmla="*/ 3267986 w 4063117"/>
                  <a:gd name="connsiteY4" fmla="*/ 1894398 h 1894398"/>
                  <a:gd name="connsiteX5" fmla="*/ 4063117 w 4063117"/>
                  <a:gd name="connsiteY5" fmla="*/ 987950 h 1894398"/>
                  <a:gd name="connsiteX6" fmla="*/ 2782957 w 4063117"/>
                  <a:gd name="connsiteY6" fmla="*/ 57646 h 1894398"/>
                  <a:gd name="connsiteX7" fmla="*/ 2178658 w 4063117"/>
                  <a:gd name="connsiteY7" fmla="*/ 89452 h 1894398"/>
                  <a:gd name="connsiteX8" fmla="*/ 1375576 w 4063117"/>
                  <a:gd name="connsiteY8" fmla="*/ 383650 h 1894398"/>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375576 w 4063117"/>
                  <a:gd name="connsiteY0" fmla="*/ 326004 h 1836752"/>
                  <a:gd name="connsiteX1" fmla="*/ 0 w 4063117"/>
                  <a:gd name="connsiteY1" fmla="*/ 477079 h 1836752"/>
                  <a:gd name="connsiteX2" fmla="*/ 1574358 w 4063117"/>
                  <a:gd name="connsiteY2" fmla="*/ 898498 h 1836752"/>
                  <a:gd name="connsiteX3" fmla="*/ 2576223 w 4063117"/>
                  <a:gd name="connsiteY3" fmla="*/ 1280160 h 1836752"/>
                  <a:gd name="connsiteX4" fmla="*/ 3267986 w 4063117"/>
                  <a:gd name="connsiteY4" fmla="*/ 1836752 h 1836752"/>
                  <a:gd name="connsiteX5" fmla="*/ 4063117 w 4063117"/>
                  <a:gd name="connsiteY5" fmla="*/ 930304 h 1836752"/>
                  <a:gd name="connsiteX6" fmla="*/ 2782957 w 4063117"/>
                  <a:gd name="connsiteY6" fmla="*/ 0 h 1836752"/>
                  <a:gd name="connsiteX7" fmla="*/ 2178658 w 4063117"/>
                  <a:gd name="connsiteY7" fmla="*/ 31806 h 1836752"/>
                  <a:gd name="connsiteX8" fmla="*/ 1375576 w 4063117"/>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19093 w 4106634"/>
                  <a:gd name="connsiteY0" fmla="*/ 326004 h 1836752"/>
                  <a:gd name="connsiteX1" fmla="*/ 43517 w 4106634"/>
                  <a:gd name="connsiteY1" fmla="*/ 477079 h 1836752"/>
                  <a:gd name="connsiteX2" fmla="*/ 1617875 w 4106634"/>
                  <a:gd name="connsiteY2" fmla="*/ 898498 h 1836752"/>
                  <a:gd name="connsiteX3" fmla="*/ 2619740 w 4106634"/>
                  <a:gd name="connsiteY3" fmla="*/ 1280160 h 1836752"/>
                  <a:gd name="connsiteX4" fmla="*/ 3311503 w 4106634"/>
                  <a:gd name="connsiteY4" fmla="*/ 1836752 h 1836752"/>
                  <a:gd name="connsiteX5" fmla="*/ 4106634 w 4106634"/>
                  <a:gd name="connsiteY5" fmla="*/ 930304 h 1836752"/>
                  <a:gd name="connsiteX6" fmla="*/ 2826474 w 4106634"/>
                  <a:gd name="connsiteY6" fmla="*/ 0 h 1836752"/>
                  <a:gd name="connsiteX7" fmla="*/ 2222175 w 4106634"/>
                  <a:gd name="connsiteY7" fmla="*/ 31806 h 1836752"/>
                  <a:gd name="connsiteX8" fmla="*/ 1419093 w 4106634"/>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625109 w 4112003"/>
                  <a:gd name="connsiteY3" fmla="*/ 1280160 h 1836752"/>
                  <a:gd name="connsiteX4" fmla="*/ 3316872 w 4112003"/>
                  <a:gd name="connsiteY4" fmla="*/ 1836752 h 1836752"/>
                  <a:gd name="connsiteX5" fmla="*/ 4112003 w 4112003"/>
                  <a:gd name="connsiteY5" fmla="*/ 930304 h 1836752"/>
                  <a:gd name="connsiteX6" fmla="*/ 2831843 w 4112003"/>
                  <a:gd name="connsiteY6" fmla="*/ 0 h 1836752"/>
                  <a:gd name="connsiteX7" fmla="*/ 2227544 w 4112003"/>
                  <a:gd name="connsiteY7" fmla="*/ 31806 h 1836752"/>
                  <a:gd name="connsiteX8" fmla="*/ 1424462 w 4112003"/>
                  <a:gd name="connsiteY8" fmla="*/ 326004 h 1836752"/>
                  <a:gd name="connsiteX0" fmla="*/ 1424462 w 4112003"/>
                  <a:gd name="connsiteY0" fmla="*/ 326004 h 1836752"/>
                  <a:gd name="connsiteX1" fmla="*/ 48886 w 4112003"/>
                  <a:gd name="connsiteY1" fmla="*/ 477079 h 1836752"/>
                  <a:gd name="connsiteX2" fmla="*/ 1623244 w 4112003"/>
                  <a:gd name="connsiteY2" fmla="*/ 898498 h 1836752"/>
                  <a:gd name="connsiteX3" fmla="*/ 2132129 w 4112003"/>
                  <a:gd name="connsiteY3" fmla="*/ 993914 h 1836752"/>
                  <a:gd name="connsiteX4" fmla="*/ 2625109 w 4112003"/>
                  <a:gd name="connsiteY4" fmla="*/ 1280160 h 1836752"/>
                  <a:gd name="connsiteX5" fmla="*/ 3316872 w 4112003"/>
                  <a:gd name="connsiteY5" fmla="*/ 1836752 h 1836752"/>
                  <a:gd name="connsiteX6" fmla="*/ 4112003 w 4112003"/>
                  <a:gd name="connsiteY6" fmla="*/ 930304 h 1836752"/>
                  <a:gd name="connsiteX7" fmla="*/ 2831843 w 4112003"/>
                  <a:gd name="connsiteY7" fmla="*/ 0 h 1836752"/>
                  <a:gd name="connsiteX8" fmla="*/ 2227544 w 4112003"/>
                  <a:gd name="connsiteY8" fmla="*/ 31806 h 1836752"/>
                  <a:gd name="connsiteX9" fmla="*/ 1424462 w 4112003"/>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26004 h 1836752"/>
                  <a:gd name="connsiteX1" fmla="*/ 59649 w 4122766"/>
                  <a:gd name="connsiteY1" fmla="*/ 477079 h 1836752"/>
                  <a:gd name="connsiteX2" fmla="*/ 1634007 w 4122766"/>
                  <a:gd name="connsiteY2" fmla="*/ 898498 h 1836752"/>
                  <a:gd name="connsiteX3" fmla="*/ 2142892 w 4122766"/>
                  <a:gd name="connsiteY3" fmla="*/ 993914 h 1836752"/>
                  <a:gd name="connsiteX4" fmla="*/ 2635872 w 4122766"/>
                  <a:gd name="connsiteY4" fmla="*/ 1280160 h 1836752"/>
                  <a:gd name="connsiteX5" fmla="*/ 3327635 w 4122766"/>
                  <a:gd name="connsiteY5" fmla="*/ 1836752 h 1836752"/>
                  <a:gd name="connsiteX6" fmla="*/ 4122766 w 4122766"/>
                  <a:gd name="connsiteY6" fmla="*/ 930304 h 1836752"/>
                  <a:gd name="connsiteX7" fmla="*/ 2842606 w 4122766"/>
                  <a:gd name="connsiteY7" fmla="*/ 0 h 1836752"/>
                  <a:gd name="connsiteX8" fmla="*/ 2238307 w 4122766"/>
                  <a:gd name="connsiteY8" fmla="*/ 31806 h 1836752"/>
                  <a:gd name="connsiteX9" fmla="*/ 1435225 w 4122766"/>
                  <a:gd name="connsiteY9" fmla="*/ 326004 h 1836752"/>
                  <a:gd name="connsiteX0" fmla="*/ 1435225 w 4122766"/>
                  <a:gd name="connsiteY0" fmla="*/ 338408 h 1849156"/>
                  <a:gd name="connsiteX1" fmla="*/ 59649 w 4122766"/>
                  <a:gd name="connsiteY1" fmla="*/ 489483 h 1849156"/>
                  <a:gd name="connsiteX2" fmla="*/ 1634007 w 4122766"/>
                  <a:gd name="connsiteY2" fmla="*/ 910902 h 1849156"/>
                  <a:gd name="connsiteX3" fmla="*/ 2142892 w 4122766"/>
                  <a:gd name="connsiteY3" fmla="*/ 1006318 h 1849156"/>
                  <a:gd name="connsiteX4" fmla="*/ 2635872 w 4122766"/>
                  <a:gd name="connsiteY4" fmla="*/ 1292564 h 1849156"/>
                  <a:gd name="connsiteX5" fmla="*/ 3327635 w 4122766"/>
                  <a:gd name="connsiteY5" fmla="*/ 1849156 h 1849156"/>
                  <a:gd name="connsiteX6" fmla="*/ 4122766 w 4122766"/>
                  <a:gd name="connsiteY6" fmla="*/ 942708 h 1849156"/>
                  <a:gd name="connsiteX7" fmla="*/ 2842606 w 4122766"/>
                  <a:gd name="connsiteY7" fmla="*/ 12404 h 1849156"/>
                  <a:gd name="connsiteX8" fmla="*/ 2238307 w 4122766"/>
                  <a:gd name="connsiteY8" fmla="*/ 44210 h 1849156"/>
                  <a:gd name="connsiteX9" fmla="*/ 1435225 w 4122766"/>
                  <a:gd name="connsiteY9" fmla="*/ 338408 h 1849156"/>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54916 h 1865664"/>
                  <a:gd name="connsiteX1" fmla="*/ 59649 w 4122766"/>
                  <a:gd name="connsiteY1" fmla="*/ 505991 h 1865664"/>
                  <a:gd name="connsiteX2" fmla="*/ 1634007 w 4122766"/>
                  <a:gd name="connsiteY2" fmla="*/ 927410 h 1865664"/>
                  <a:gd name="connsiteX3" fmla="*/ 2142892 w 4122766"/>
                  <a:gd name="connsiteY3" fmla="*/ 1022826 h 1865664"/>
                  <a:gd name="connsiteX4" fmla="*/ 2635872 w 4122766"/>
                  <a:gd name="connsiteY4" fmla="*/ 1309072 h 1865664"/>
                  <a:gd name="connsiteX5" fmla="*/ 3327635 w 4122766"/>
                  <a:gd name="connsiteY5" fmla="*/ 1865664 h 1865664"/>
                  <a:gd name="connsiteX6" fmla="*/ 4122766 w 4122766"/>
                  <a:gd name="connsiteY6" fmla="*/ 959216 h 1865664"/>
                  <a:gd name="connsiteX7" fmla="*/ 2842606 w 4122766"/>
                  <a:gd name="connsiteY7" fmla="*/ 28912 h 1865664"/>
                  <a:gd name="connsiteX8" fmla="*/ 2238307 w 4122766"/>
                  <a:gd name="connsiteY8" fmla="*/ 60718 h 1865664"/>
                  <a:gd name="connsiteX9" fmla="*/ 1435225 w 4122766"/>
                  <a:gd name="connsiteY9" fmla="*/ 354916 h 1865664"/>
                  <a:gd name="connsiteX0" fmla="*/ 1435225 w 4122766"/>
                  <a:gd name="connsiteY0" fmla="*/ 339809 h 1850557"/>
                  <a:gd name="connsiteX1" fmla="*/ 59649 w 4122766"/>
                  <a:gd name="connsiteY1" fmla="*/ 490884 h 1850557"/>
                  <a:gd name="connsiteX2" fmla="*/ 1634007 w 4122766"/>
                  <a:gd name="connsiteY2" fmla="*/ 912303 h 1850557"/>
                  <a:gd name="connsiteX3" fmla="*/ 2142892 w 4122766"/>
                  <a:gd name="connsiteY3" fmla="*/ 1007719 h 1850557"/>
                  <a:gd name="connsiteX4" fmla="*/ 2635872 w 4122766"/>
                  <a:gd name="connsiteY4" fmla="*/ 1293965 h 1850557"/>
                  <a:gd name="connsiteX5" fmla="*/ 3327635 w 4122766"/>
                  <a:gd name="connsiteY5" fmla="*/ 1850557 h 1850557"/>
                  <a:gd name="connsiteX6" fmla="*/ 4122766 w 4122766"/>
                  <a:gd name="connsiteY6" fmla="*/ 944109 h 1850557"/>
                  <a:gd name="connsiteX7" fmla="*/ 2842606 w 4122766"/>
                  <a:gd name="connsiteY7" fmla="*/ 13805 h 1850557"/>
                  <a:gd name="connsiteX8" fmla="*/ 2166745 w 4122766"/>
                  <a:gd name="connsiteY8" fmla="*/ 93319 h 1850557"/>
                  <a:gd name="connsiteX9" fmla="*/ 1435225 w 4122766"/>
                  <a:gd name="connsiteY9" fmla="*/ 339809 h 1850557"/>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67230 h 1877978"/>
                  <a:gd name="connsiteX1" fmla="*/ 59649 w 4122766"/>
                  <a:gd name="connsiteY1" fmla="*/ 518305 h 1877978"/>
                  <a:gd name="connsiteX2" fmla="*/ 1634007 w 4122766"/>
                  <a:gd name="connsiteY2" fmla="*/ 939724 h 1877978"/>
                  <a:gd name="connsiteX3" fmla="*/ 2142892 w 4122766"/>
                  <a:gd name="connsiteY3" fmla="*/ 1035140 h 1877978"/>
                  <a:gd name="connsiteX4" fmla="*/ 2635872 w 4122766"/>
                  <a:gd name="connsiteY4" fmla="*/ 1321386 h 1877978"/>
                  <a:gd name="connsiteX5" fmla="*/ 3327635 w 4122766"/>
                  <a:gd name="connsiteY5" fmla="*/ 1877978 h 1877978"/>
                  <a:gd name="connsiteX6" fmla="*/ 4122766 w 4122766"/>
                  <a:gd name="connsiteY6" fmla="*/ 971530 h 1877978"/>
                  <a:gd name="connsiteX7" fmla="*/ 2842606 w 4122766"/>
                  <a:gd name="connsiteY7" fmla="*/ 9421 h 1877978"/>
                  <a:gd name="connsiteX8" fmla="*/ 2166745 w 4122766"/>
                  <a:gd name="connsiteY8" fmla="*/ 120740 h 1877978"/>
                  <a:gd name="connsiteX9" fmla="*/ 1435225 w 4122766"/>
                  <a:gd name="connsiteY9" fmla="*/ 367230 h 1877978"/>
                  <a:gd name="connsiteX0" fmla="*/ 1435225 w 4122766"/>
                  <a:gd name="connsiteY0" fmla="*/ 376690 h 1887438"/>
                  <a:gd name="connsiteX1" fmla="*/ 59649 w 4122766"/>
                  <a:gd name="connsiteY1" fmla="*/ 527765 h 1887438"/>
                  <a:gd name="connsiteX2" fmla="*/ 1634007 w 4122766"/>
                  <a:gd name="connsiteY2" fmla="*/ 949184 h 1887438"/>
                  <a:gd name="connsiteX3" fmla="*/ 2142892 w 4122766"/>
                  <a:gd name="connsiteY3" fmla="*/ 1044600 h 1887438"/>
                  <a:gd name="connsiteX4" fmla="*/ 2635872 w 4122766"/>
                  <a:gd name="connsiteY4" fmla="*/ 1330846 h 1887438"/>
                  <a:gd name="connsiteX5" fmla="*/ 3327635 w 4122766"/>
                  <a:gd name="connsiteY5" fmla="*/ 1887438 h 1887438"/>
                  <a:gd name="connsiteX6" fmla="*/ 4122766 w 4122766"/>
                  <a:gd name="connsiteY6" fmla="*/ 980990 h 1887438"/>
                  <a:gd name="connsiteX7" fmla="*/ 2842606 w 4122766"/>
                  <a:gd name="connsiteY7" fmla="*/ 18881 h 1887438"/>
                  <a:gd name="connsiteX8" fmla="*/ 2166745 w 4122766"/>
                  <a:gd name="connsiteY8" fmla="*/ 130200 h 1887438"/>
                  <a:gd name="connsiteX9" fmla="*/ 1435225 w 4122766"/>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635872 w 4067107"/>
                  <a:gd name="connsiteY4" fmla="*/ 1330846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887438"/>
                  <a:gd name="connsiteX1" fmla="*/ 59649 w 4067107"/>
                  <a:gd name="connsiteY1" fmla="*/ 527765 h 1887438"/>
                  <a:gd name="connsiteX2" fmla="*/ 1634007 w 4067107"/>
                  <a:gd name="connsiteY2" fmla="*/ 949184 h 1887438"/>
                  <a:gd name="connsiteX3" fmla="*/ 2142892 w 4067107"/>
                  <a:gd name="connsiteY3" fmla="*/ 1044600 h 1887438"/>
                  <a:gd name="connsiteX4" fmla="*/ 2548408 w 4067107"/>
                  <a:gd name="connsiteY4" fmla="*/ 1275187 h 1887438"/>
                  <a:gd name="connsiteX5" fmla="*/ 3327635 w 4067107"/>
                  <a:gd name="connsiteY5" fmla="*/ 1887438 h 1887438"/>
                  <a:gd name="connsiteX6" fmla="*/ 4067107 w 4067107"/>
                  <a:gd name="connsiteY6" fmla="*/ 1036649 h 1887438"/>
                  <a:gd name="connsiteX7" fmla="*/ 2842606 w 4067107"/>
                  <a:gd name="connsiteY7" fmla="*/ 18881 h 1887438"/>
                  <a:gd name="connsiteX8" fmla="*/ 2166745 w 4067107"/>
                  <a:gd name="connsiteY8" fmla="*/ 130200 h 1887438"/>
                  <a:gd name="connsiteX9" fmla="*/ 1435225 w 4067107"/>
                  <a:gd name="connsiteY9" fmla="*/ 376690 h 1887438"/>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089096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548408 w 4067107"/>
                  <a:gd name="connsiteY4" fmla="*/ 1275187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927194"/>
                  <a:gd name="connsiteX1" fmla="*/ 59649 w 4067107"/>
                  <a:gd name="connsiteY1" fmla="*/ 527765 h 1927194"/>
                  <a:gd name="connsiteX2" fmla="*/ 1634007 w 4067107"/>
                  <a:gd name="connsiteY2" fmla="*/ 949184 h 1927194"/>
                  <a:gd name="connsiteX3" fmla="*/ 2142892 w 4067107"/>
                  <a:gd name="connsiteY3" fmla="*/ 1044600 h 1927194"/>
                  <a:gd name="connsiteX4" fmla="*/ 2476846 w 4067107"/>
                  <a:gd name="connsiteY4" fmla="*/ 1378554 h 1927194"/>
                  <a:gd name="connsiteX5" fmla="*/ 3256074 w 4067107"/>
                  <a:gd name="connsiteY5" fmla="*/ 1927194 h 1927194"/>
                  <a:gd name="connsiteX6" fmla="*/ 4067107 w 4067107"/>
                  <a:gd name="connsiteY6" fmla="*/ 1036649 h 1927194"/>
                  <a:gd name="connsiteX7" fmla="*/ 2842606 w 4067107"/>
                  <a:gd name="connsiteY7" fmla="*/ 18881 h 1927194"/>
                  <a:gd name="connsiteX8" fmla="*/ 2166745 w 4067107"/>
                  <a:gd name="connsiteY8" fmla="*/ 130200 h 1927194"/>
                  <a:gd name="connsiteX9" fmla="*/ 1435225 w 4067107"/>
                  <a:gd name="connsiteY9" fmla="*/ 376690 h 1927194"/>
                  <a:gd name="connsiteX0" fmla="*/ 1435225 w 4067107"/>
                  <a:gd name="connsiteY0" fmla="*/ 376690 h 1747240"/>
                  <a:gd name="connsiteX1" fmla="*/ 59649 w 4067107"/>
                  <a:gd name="connsiteY1" fmla="*/ 527765 h 1747240"/>
                  <a:gd name="connsiteX2" fmla="*/ 1634007 w 4067107"/>
                  <a:gd name="connsiteY2" fmla="*/ 949184 h 1747240"/>
                  <a:gd name="connsiteX3" fmla="*/ 2142892 w 4067107"/>
                  <a:gd name="connsiteY3" fmla="*/ 1044600 h 1747240"/>
                  <a:gd name="connsiteX4" fmla="*/ 2476846 w 4067107"/>
                  <a:gd name="connsiteY4" fmla="*/ 1378554 h 1747240"/>
                  <a:gd name="connsiteX5" fmla="*/ 3004138 w 4067107"/>
                  <a:gd name="connsiteY5" fmla="*/ 1747240 h 1747240"/>
                  <a:gd name="connsiteX6" fmla="*/ 4067107 w 4067107"/>
                  <a:gd name="connsiteY6" fmla="*/ 1036649 h 1747240"/>
                  <a:gd name="connsiteX7" fmla="*/ 2842606 w 4067107"/>
                  <a:gd name="connsiteY7" fmla="*/ 18881 h 1747240"/>
                  <a:gd name="connsiteX8" fmla="*/ 2166745 w 4067107"/>
                  <a:gd name="connsiteY8" fmla="*/ 130200 h 1747240"/>
                  <a:gd name="connsiteX9" fmla="*/ 1435225 w 4067107"/>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3004138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 name="connsiteX0" fmla="*/ 1435225 w 3887153"/>
                  <a:gd name="connsiteY0" fmla="*/ 376690 h 1747240"/>
                  <a:gd name="connsiteX1" fmla="*/ 59649 w 3887153"/>
                  <a:gd name="connsiteY1" fmla="*/ 527765 h 1747240"/>
                  <a:gd name="connsiteX2" fmla="*/ 1634007 w 3887153"/>
                  <a:gd name="connsiteY2" fmla="*/ 949184 h 1747240"/>
                  <a:gd name="connsiteX3" fmla="*/ 2142892 w 3887153"/>
                  <a:gd name="connsiteY3" fmla="*/ 1044600 h 1747240"/>
                  <a:gd name="connsiteX4" fmla="*/ 2476846 w 3887153"/>
                  <a:gd name="connsiteY4" fmla="*/ 1378554 h 1747240"/>
                  <a:gd name="connsiteX5" fmla="*/ 2806187 w 3887153"/>
                  <a:gd name="connsiteY5" fmla="*/ 1747240 h 1747240"/>
                  <a:gd name="connsiteX6" fmla="*/ 3887153 w 3887153"/>
                  <a:gd name="connsiteY6" fmla="*/ 784714 h 1747240"/>
                  <a:gd name="connsiteX7" fmla="*/ 2842606 w 3887153"/>
                  <a:gd name="connsiteY7" fmla="*/ 18881 h 1747240"/>
                  <a:gd name="connsiteX8" fmla="*/ 2166745 w 3887153"/>
                  <a:gd name="connsiteY8" fmla="*/ 130200 h 1747240"/>
                  <a:gd name="connsiteX9" fmla="*/ 1435225 w 3887153"/>
                  <a:gd name="connsiteY9" fmla="*/ 376690 h 174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7153" h="1747240">
                    <a:moveTo>
                      <a:pt x="1435225" y="376690"/>
                    </a:moveTo>
                    <a:cubicBezTo>
                      <a:pt x="921041" y="355486"/>
                      <a:pt x="168317" y="374040"/>
                      <a:pt x="59649" y="527765"/>
                    </a:cubicBezTo>
                    <a:cubicBezTo>
                      <a:pt x="-282257" y="890874"/>
                      <a:pt x="926341" y="920030"/>
                      <a:pt x="1634007" y="949184"/>
                    </a:cubicBezTo>
                    <a:cubicBezTo>
                      <a:pt x="1755927" y="988940"/>
                      <a:pt x="2020972" y="1004844"/>
                      <a:pt x="2142892" y="1044600"/>
                    </a:cubicBezTo>
                    <a:lnTo>
                      <a:pt x="2476846" y="1378554"/>
                    </a:lnTo>
                    <a:lnTo>
                      <a:pt x="2806187" y="1747240"/>
                    </a:lnTo>
                    <a:lnTo>
                      <a:pt x="3887153" y="784714"/>
                    </a:lnTo>
                    <a:cubicBezTo>
                      <a:pt x="3502840" y="495816"/>
                      <a:pt x="3512746" y="372650"/>
                      <a:pt x="2842606" y="18881"/>
                    </a:cubicBezTo>
                    <a:cubicBezTo>
                      <a:pt x="2541783" y="-38103"/>
                      <a:pt x="2417210" y="44060"/>
                      <a:pt x="2166745" y="130200"/>
                    </a:cubicBezTo>
                    <a:cubicBezTo>
                      <a:pt x="1932182" y="184534"/>
                      <a:pt x="1811587" y="315730"/>
                      <a:pt x="1435225" y="37669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Freeform 19">
                <a:extLst>
                  <a:ext uri="{FF2B5EF4-FFF2-40B4-BE49-F238E27FC236}">
                    <a16:creationId xmlns:a16="http://schemas.microsoft.com/office/drawing/2014/main" id="{4B6F8DAF-FC46-4A97-BDE4-ED6D3FF48E2E}"/>
                  </a:ext>
                </a:extLst>
              </p:cNvPr>
              <p:cNvSpPr/>
              <p:nvPr/>
            </p:nvSpPr>
            <p:spPr>
              <a:xfrm flipH="1">
                <a:off x="2156087" y="2217893"/>
                <a:ext cx="1545584" cy="794676"/>
              </a:xfrm>
              <a:custGeom>
                <a:avLst/>
                <a:gdLst>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288111 w 3347499"/>
                  <a:gd name="connsiteY0" fmla="*/ 620202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288111 w 3347499"/>
                  <a:gd name="connsiteY9" fmla="*/ 620202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52007 h 1995778"/>
                  <a:gd name="connsiteX1" fmla="*/ 659958 w 3347499"/>
                  <a:gd name="connsiteY1" fmla="*/ 95416 h 1995778"/>
                  <a:gd name="connsiteX2" fmla="*/ 373711 w 3347499"/>
                  <a:gd name="connsiteY2" fmla="*/ 39757 h 1995778"/>
                  <a:gd name="connsiteX3" fmla="*/ 119270 w 3347499"/>
                  <a:gd name="connsiteY3" fmla="*/ 0 h 1995778"/>
                  <a:gd name="connsiteX4" fmla="*/ 111318 w 3347499"/>
                  <a:gd name="connsiteY4" fmla="*/ 151075 h 1995778"/>
                  <a:gd name="connsiteX5" fmla="*/ 0 w 3347499"/>
                  <a:gd name="connsiteY5" fmla="*/ 214686 h 1995778"/>
                  <a:gd name="connsiteX6" fmla="*/ 779228 w 3347499"/>
                  <a:gd name="connsiteY6" fmla="*/ 1264258 h 1995778"/>
                  <a:gd name="connsiteX7" fmla="*/ 1900362 w 3347499"/>
                  <a:gd name="connsiteY7" fmla="*/ 1995778 h 1995778"/>
                  <a:gd name="connsiteX8" fmla="*/ 3347499 w 3347499"/>
                  <a:gd name="connsiteY8" fmla="*/ 1653872 h 1995778"/>
                  <a:gd name="connsiteX9" fmla="*/ 1304013 w 3347499"/>
                  <a:gd name="connsiteY9" fmla="*/ 652007 h 1995778"/>
                  <a:gd name="connsiteX0" fmla="*/ 1304013 w 3347499"/>
                  <a:gd name="connsiteY0" fmla="*/ 635267 h 1979038"/>
                  <a:gd name="connsiteX1" fmla="*/ 659958 w 3347499"/>
                  <a:gd name="connsiteY1" fmla="*/ 78676 h 1979038"/>
                  <a:gd name="connsiteX2" fmla="*/ 373711 w 3347499"/>
                  <a:gd name="connsiteY2" fmla="*/ 23017 h 1979038"/>
                  <a:gd name="connsiteX3" fmla="*/ 95416 w 3347499"/>
                  <a:gd name="connsiteY3" fmla="*/ 38919 h 1979038"/>
                  <a:gd name="connsiteX4" fmla="*/ 111318 w 3347499"/>
                  <a:gd name="connsiteY4" fmla="*/ 134335 h 1979038"/>
                  <a:gd name="connsiteX5" fmla="*/ 0 w 3347499"/>
                  <a:gd name="connsiteY5" fmla="*/ 197946 h 1979038"/>
                  <a:gd name="connsiteX6" fmla="*/ 779228 w 3347499"/>
                  <a:gd name="connsiteY6" fmla="*/ 1247518 h 1979038"/>
                  <a:gd name="connsiteX7" fmla="*/ 1900362 w 3347499"/>
                  <a:gd name="connsiteY7" fmla="*/ 1979038 h 1979038"/>
                  <a:gd name="connsiteX8" fmla="*/ 3347499 w 3347499"/>
                  <a:gd name="connsiteY8" fmla="*/ 1637132 h 1979038"/>
                  <a:gd name="connsiteX9" fmla="*/ 1304013 w 3347499"/>
                  <a:gd name="connsiteY9" fmla="*/ 635267 h 1979038"/>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11318 w 3347499"/>
                  <a:gd name="connsiteY4" fmla="*/ 153906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779228 w 3347499"/>
                  <a:gd name="connsiteY6" fmla="*/ 1267089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998609"/>
                  <a:gd name="connsiteX1" fmla="*/ 659958 w 3347499"/>
                  <a:gd name="connsiteY1" fmla="*/ 98247 h 1998609"/>
                  <a:gd name="connsiteX2" fmla="*/ 373711 w 3347499"/>
                  <a:gd name="connsiteY2" fmla="*/ 42588 h 1998609"/>
                  <a:gd name="connsiteX3" fmla="*/ 95416 w 3347499"/>
                  <a:gd name="connsiteY3" fmla="*/ 58490 h 1998609"/>
                  <a:gd name="connsiteX4" fmla="*/ 174928 w 3347499"/>
                  <a:gd name="connsiteY4" fmla="*/ 177759 h 1998609"/>
                  <a:gd name="connsiteX5" fmla="*/ 0 w 3347499"/>
                  <a:gd name="connsiteY5" fmla="*/ 217517 h 1998609"/>
                  <a:gd name="connsiteX6" fmla="*/ 811033 w 3347499"/>
                  <a:gd name="connsiteY6" fmla="*/ 1243235 h 1998609"/>
                  <a:gd name="connsiteX7" fmla="*/ 1900362 w 3347499"/>
                  <a:gd name="connsiteY7" fmla="*/ 1998609 h 1998609"/>
                  <a:gd name="connsiteX8" fmla="*/ 3347499 w 3347499"/>
                  <a:gd name="connsiteY8" fmla="*/ 1656703 h 1998609"/>
                  <a:gd name="connsiteX9" fmla="*/ 1304013 w 3347499"/>
                  <a:gd name="connsiteY9" fmla="*/ 654838 h 1998609"/>
                  <a:gd name="connsiteX0" fmla="*/ 1304013 w 3347499"/>
                  <a:gd name="connsiteY0" fmla="*/ 654838 h 1863437"/>
                  <a:gd name="connsiteX1" fmla="*/ 659958 w 3347499"/>
                  <a:gd name="connsiteY1" fmla="*/ 98247 h 1863437"/>
                  <a:gd name="connsiteX2" fmla="*/ 373711 w 3347499"/>
                  <a:gd name="connsiteY2" fmla="*/ 42588 h 1863437"/>
                  <a:gd name="connsiteX3" fmla="*/ 95416 w 3347499"/>
                  <a:gd name="connsiteY3" fmla="*/ 58490 h 1863437"/>
                  <a:gd name="connsiteX4" fmla="*/ 174928 w 3347499"/>
                  <a:gd name="connsiteY4" fmla="*/ 177759 h 1863437"/>
                  <a:gd name="connsiteX5" fmla="*/ 0 w 3347499"/>
                  <a:gd name="connsiteY5" fmla="*/ 217517 h 1863437"/>
                  <a:gd name="connsiteX6" fmla="*/ 811033 w 3347499"/>
                  <a:gd name="connsiteY6" fmla="*/ 1243235 h 1863437"/>
                  <a:gd name="connsiteX7" fmla="*/ 1924216 w 3347499"/>
                  <a:gd name="connsiteY7" fmla="*/ 1863437 h 1863437"/>
                  <a:gd name="connsiteX8" fmla="*/ 3347499 w 3347499"/>
                  <a:gd name="connsiteY8" fmla="*/ 1656703 h 1863437"/>
                  <a:gd name="connsiteX9" fmla="*/ 1304013 w 3347499"/>
                  <a:gd name="connsiteY9" fmla="*/ 654838 h 1863437"/>
                  <a:gd name="connsiteX0" fmla="*/ 1304013 w 3347499"/>
                  <a:gd name="connsiteY0" fmla="*/ 654838 h 1982707"/>
                  <a:gd name="connsiteX1" fmla="*/ 659958 w 3347499"/>
                  <a:gd name="connsiteY1" fmla="*/ 98247 h 1982707"/>
                  <a:gd name="connsiteX2" fmla="*/ 373711 w 3347499"/>
                  <a:gd name="connsiteY2" fmla="*/ 42588 h 1982707"/>
                  <a:gd name="connsiteX3" fmla="*/ 95416 w 3347499"/>
                  <a:gd name="connsiteY3" fmla="*/ 58490 h 1982707"/>
                  <a:gd name="connsiteX4" fmla="*/ 174928 w 3347499"/>
                  <a:gd name="connsiteY4" fmla="*/ 177759 h 1982707"/>
                  <a:gd name="connsiteX5" fmla="*/ 0 w 3347499"/>
                  <a:gd name="connsiteY5" fmla="*/ 217517 h 1982707"/>
                  <a:gd name="connsiteX6" fmla="*/ 811033 w 3347499"/>
                  <a:gd name="connsiteY6" fmla="*/ 1243235 h 1982707"/>
                  <a:gd name="connsiteX7" fmla="*/ 2146852 w 3347499"/>
                  <a:gd name="connsiteY7" fmla="*/ 1982707 h 1982707"/>
                  <a:gd name="connsiteX8" fmla="*/ 3347499 w 3347499"/>
                  <a:gd name="connsiteY8" fmla="*/ 1656703 h 1982707"/>
                  <a:gd name="connsiteX9" fmla="*/ 1304013 w 3347499"/>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1304013 w 3387256"/>
                  <a:gd name="connsiteY9"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26401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15616 w 3387256"/>
                  <a:gd name="connsiteY9" fmla="*/ 782060 h 1982707"/>
                  <a:gd name="connsiteX10" fmla="*/ 1304013 w 3387256"/>
                  <a:gd name="connsiteY10" fmla="*/ 654838 h 1982707"/>
                  <a:gd name="connsiteX0" fmla="*/ 1304013 w 3387256"/>
                  <a:gd name="connsiteY0" fmla="*/ 654838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304013 w 3387256"/>
                  <a:gd name="connsiteY10" fmla="*/ 654838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739470 w 3387256"/>
                  <a:gd name="connsiteY9" fmla="*/ 813865 h 1982707"/>
                  <a:gd name="connsiteX10" fmla="*/ 1272207 w 3387256"/>
                  <a:gd name="connsiteY10"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387256"/>
                  <a:gd name="connsiteY0" fmla="*/ 630984 h 1982707"/>
                  <a:gd name="connsiteX1" fmla="*/ 659958 w 3387256"/>
                  <a:gd name="connsiteY1" fmla="*/ 98247 h 1982707"/>
                  <a:gd name="connsiteX2" fmla="*/ 373711 w 3387256"/>
                  <a:gd name="connsiteY2" fmla="*/ 42588 h 1982707"/>
                  <a:gd name="connsiteX3" fmla="*/ 95416 w 3387256"/>
                  <a:gd name="connsiteY3" fmla="*/ 58490 h 1982707"/>
                  <a:gd name="connsiteX4" fmla="*/ 174928 w 3387256"/>
                  <a:gd name="connsiteY4" fmla="*/ 177759 h 1982707"/>
                  <a:gd name="connsiteX5" fmla="*/ 0 w 3387256"/>
                  <a:gd name="connsiteY5" fmla="*/ 217517 h 1982707"/>
                  <a:gd name="connsiteX6" fmla="*/ 811033 w 3387256"/>
                  <a:gd name="connsiteY6" fmla="*/ 1243235 h 1982707"/>
                  <a:gd name="connsiteX7" fmla="*/ 2146852 w 3387256"/>
                  <a:gd name="connsiteY7" fmla="*/ 1982707 h 1982707"/>
                  <a:gd name="connsiteX8" fmla="*/ 3387256 w 3387256"/>
                  <a:gd name="connsiteY8" fmla="*/ 1648752 h 1982707"/>
                  <a:gd name="connsiteX9" fmla="*/ 2353585 w 3387256"/>
                  <a:gd name="connsiteY9" fmla="*/ 1267090 h 1982707"/>
                  <a:gd name="connsiteX10" fmla="*/ 739470 w 3387256"/>
                  <a:gd name="connsiteY10" fmla="*/ 813865 h 1982707"/>
                  <a:gd name="connsiteX11" fmla="*/ 1272207 w 338725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39470 w 3753016"/>
                  <a:gd name="connsiteY10" fmla="*/ 813865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53585 w 3753016"/>
                  <a:gd name="connsiteY9" fmla="*/ 1267090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385390 w 3753016"/>
                  <a:gd name="connsiteY9" fmla="*/ 1314798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1276 w 3753016"/>
                  <a:gd name="connsiteY10" fmla="*/ 861572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79227 w 3753016"/>
                  <a:gd name="connsiteY10" fmla="*/ 893377 h 1982707"/>
                  <a:gd name="connsiteX11" fmla="*/ 1272207 w 3753016"/>
                  <a:gd name="connsiteY11" fmla="*/ 630984 h 1982707"/>
                  <a:gd name="connsiteX0" fmla="*/ 1272207 w 3753016"/>
                  <a:gd name="connsiteY0" fmla="*/ 630984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72207 w 3753016"/>
                  <a:gd name="connsiteY11" fmla="*/ 630984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74928 w 3753016"/>
                  <a:gd name="connsiteY4" fmla="*/ 177759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659958 w 3753016"/>
                  <a:gd name="connsiteY1" fmla="*/ 98247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280159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280159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731519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2789 h 1982707"/>
                  <a:gd name="connsiteX1" fmla="*/ 699714 w 3753016"/>
                  <a:gd name="connsiteY1" fmla="*/ 90295 h 1982707"/>
                  <a:gd name="connsiteX2" fmla="*/ 373711 w 3753016"/>
                  <a:gd name="connsiteY2" fmla="*/ 42588 h 1982707"/>
                  <a:gd name="connsiteX3" fmla="*/ 95416 w 3753016"/>
                  <a:gd name="connsiteY3" fmla="*/ 58490 h 1982707"/>
                  <a:gd name="connsiteX4" fmla="*/ 119269 w 3753016"/>
                  <a:gd name="connsiteY4" fmla="*/ 169808 h 1982707"/>
                  <a:gd name="connsiteX5" fmla="*/ 0 w 3753016"/>
                  <a:gd name="connsiteY5" fmla="*/ 217517 h 1982707"/>
                  <a:gd name="connsiteX6" fmla="*/ 811033 w 3753016"/>
                  <a:gd name="connsiteY6" fmla="*/ 1243235 h 1982707"/>
                  <a:gd name="connsiteX7" fmla="*/ 2146852 w 3753016"/>
                  <a:gd name="connsiteY7" fmla="*/ 1982707 h 1982707"/>
                  <a:gd name="connsiteX8" fmla="*/ 3753016 w 3753016"/>
                  <a:gd name="connsiteY8" fmla="*/ 1497677 h 1982707"/>
                  <a:gd name="connsiteX9" fmla="*/ 2409244 w 3753016"/>
                  <a:gd name="connsiteY9" fmla="*/ 1290944 h 1982707"/>
                  <a:gd name="connsiteX10" fmla="*/ 755373 w 3753016"/>
                  <a:gd name="connsiteY10" fmla="*/ 869524 h 1982707"/>
                  <a:gd name="connsiteX11" fmla="*/ 1311965 w 3753016"/>
                  <a:gd name="connsiteY11" fmla="*/ 662789 h 1982707"/>
                  <a:gd name="connsiteX0" fmla="*/ 1311965 w 3753016"/>
                  <a:gd name="connsiteY0" fmla="*/ 665192 h 1985110"/>
                  <a:gd name="connsiteX1" fmla="*/ 699714 w 3753016"/>
                  <a:gd name="connsiteY1" fmla="*/ 92698 h 1985110"/>
                  <a:gd name="connsiteX2" fmla="*/ 397565 w 3753016"/>
                  <a:gd name="connsiteY2" fmla="*/ 37040 h 1985110"/>
                  <a:gd name="connsiteX3" fmla="*/ 95416 w 3753016"/>
                  <a:gd name="connsiteY3" fmla="*/ 60893 h 1985110"/>
                  <a:gd name="connsiteX4" fmla="*/ 119269 w 3753016"/>
                  <a:gd name="connsiteY4" fmla="*/ 172211 h 1985110"/>
                  <a:gd name="connsiteX5" fmla="*/ 0 w 3753016"/>
                  <a:gd name="connsiteY5" fmla="*/ 219920 h 1985110"/>
                  <a:gd name="connsiteX6" fmla="*/ 811033 w 3753016"/>
                  <a:gd name="connsiteY6" fmla="*/ 1245638 h 1985110"/>
                  <a:gd name="connsiteX7" fmla="*/ 2146852 w 3753016"/>
                  <a:gd name="connsiteY7" fmla="*/ 1985110 h 1985110"/>
                  <a:gd name="connsiteX8" fmla="*/ 3753016 w 3753016"/>
                  <a:gd name="connsiteY8" fmla="*/ 1500080 h 1985110"/>
                  <a:gd name="connsiteX9" fmla="*/ 2409244 w 3753016"/>
                  <a:gd name="connsiteY9" fmla="*/ 1293347 h 1985110"/>
                  <a:gd name="connsiteX10" fmla="*/ 755373 w 3753016"/>
                  <a:gd name="connsiteY10" fmla="*/ 871927 h 1985110"/>
                  <a:gd name="connsiteX11" fmla="*/ 1311965 w 3753016"/>
                  <a:gd name="connsiteY11" fmla="*/ 665192 h 1985110"/>
                  <a:gd name="connsiteX0" fmla="*/ 1311965 w 3753016"/>
                  <a:gd name="connsiteY0" fmla="*/ 670630 h 1990548"/>
                  <a:gd name="connsiteX1" fmla="*/ 699714 w 3753016"/>
                  <a:gd name="connsiteY1" fmla="*/ 98136 h 1990548"/>
                  <a:gd name="connsiteX2" fmla="*/ 453224 w 3753016"/>
                  <a:gd name="connsiteY2" fmla="*/ 26576 h 1990548"/>
                  <a:gd name="connsiteX3" fmla="*/ 95416 w 3753016"/>
                  <a:gd name="connsiteY3" fmla="*/ 66331 h 1990548"/>
                  <a:gd name="connsiteX4" fmla="*/ 119269 w 3753016"/>
                  <a:gd name="connsiteY4" fmla="*/ 177649 h 1990548"/>
                  <a:gd name="connsiteX5" fmla="*/ 0 w 3753016"/>
                  <a:gd name="connsiteY5" fmla="*/ 225358 h 1990548"/>
                  <a:gd name="connsiteX6" fmla="*/ 811033 w 3753016"/>
                  <a:gd name="connsiteY6" fmla="*/ 1251076 h 1990548"/>
                  <a:gd name="connsiteX7" fmla="*/ 2146852 w 3753016"/>
                  <a:gd name="connsiteY7" fmla="*/ 1990548 h 1990548"/>
                  <a:gd name="connsiteX8" fmla="*/ 3753016 w 3753016"/>
                  <a:gd name="connsiteY8" fmla="*/ 1505518 h 1990548"/>
                  <a:gd name="connsiteX9" fmla="*/ 2409244 w 3753016"/>
                  <a:gd name="connsiteY9" fmla="*/ 1298785 h 1990548"/>
                  <a:gd name="connsiteX10" fmla="*/ 755373 w 3753016"/>
                  <a:gd name="connsiteY10" fmla="*/ 877365 h 1990548"/>
                  <a:gd name="connsiteX11" fmla="*/ 1311965 w 3753016"/>
                  <a:gd name="connsiteY11" fmla="*/ 670630 h 1990548"/>
                  <a:gd name="connsiteX0" fmla="*/ 1311965 w 3753016"/>
                  <a:gd name="connsiteY0" fmla="*/ 671729 h 1991647"/>
                  <a:gd name="connsiteX1" fmla="*/ 699714 w 3753016"/>
                  <a:gd name="connsiteY1" fmla="*/ 99235 h 1991647"/>
                  <a:gd name="connsiteX2" fmla="*/ 453224 w 3753016"/>
                  <a:gd name="connsiteY2" fmla="*/ 27675 h 1991647"/>
                  <a:gd name="connsiteX3" fmla="*/ 95416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19269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78748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0 w 3753016"/>
                  <a:gd name="connsiteY4" fmla="*/ 226457 h 1991647"/>
                  <a:gd name="connsiteX5" fmla="*/ 811033 w 3753016"/>
                  <a:gd name="connsiteY5" fmla="*/ 1252175 h 1991647"/>
                  <a:gd name="connsiteX6" fmla="*/ 2146852 w 3753016"/>
                  <a:gd name="connsiteY6" fmla="*/ 1991647 h 1991647"/>
                  <a:gd name="connsiteX7" fmla="*/ 3753016 w 3753016"/>
                  <a:gd name="connsiteY7" fmla="*/ 1506617 h 1991647"/>
                  <a:gd name="connsiteX8" fmla="*/ 2409244 w 3753016"/>
                  <a:gd name="connsiteY8" fmla="*/ 1299884 h 1991647"/>
                  <a:gd name="connsiteX9" fmla="*/ 755373 w 3753016"/>
                  <a:gd name="connsiteY9" fmla="*/ 878464 h 1991647"/>
                  <a:gd name="connsiteX10" fmla="*/ 1311965 w 3753016"/>
                  <a:gd name="connsiteY10" fmla="*/ 671729 h 1991647"/>
                  <a:gd name="connsiteX0" fmla="*/ 1337304 w 3778355"/>
                  <a:gd name="connsiteY0" fmla="*/ 671729 h 1991647"/>
                  <a:gd name="connsiteX1" fmla="*/ 725053 w 3778355"/>
                  <a:gd name="connsiteY1" fmla="*/ 99235 h 1991647"/>
                  <a:gd name="connsiteX2" fmla="*/ 478563 w 3778355"/>
                  <a:gd name="connsiteY2" fmla="*/ 27675 h 1991647"/>
                  <a:gd name="connsiteX3" fmla="*/ 152560 w 3778355"/>
                  <a:gd name="connsiteY3" fmla="*/ 67430 h 1991647"/>
                  <a:gd name="connsiteX4" fmla="*/ 232072 w 3778355"/>
                  <a:gd name="connsiteY4" fmla="*/ 186702 h 1991647"/>
                  <a:gd name="connsiteX5" fmla="*/ 25339 w 3778355"/>
                  <a:gd name="connsiteY5" fmla="*/ 226457 h 1991647"/>
                  <a:gd name="connsiteX6" fmla="*/ 836372 w 3778355"/>
                  <a:gd name="connsiteY6" fmla="*/ 1252175 h 1991647"/>
                  <a:gd name="connsiteX7" fmla="*/ 2172191 w 3778355"/>
                  <a:gd name="connsiteY7" fmla="*/ 1991647 h 1991647"/>
                  <a:gd name="connsiteX8" fmla="*/ 3778355 w 3778355"/>
                  <a:gd name="connsiteY8" fmla="*/ 1506617 h 1991647"/>
                  <a:gd name="connsiteX9" fmla="*/ 2434583 w 3778355"/>
                  <a:gd name="connsiteY9" fmla="*/ 1299884 h 1991647"/>
                  <a:gd name="connsiteX10" fmla="*/ 780712 w 3778355"/>
                  <a:gd name="connsiteY10" fmla="*/ 878464 h 1991647"/>
                  <a:gd name="connsiteX11" fmla="*/ 1337304 w 3778355"/>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206733 w 3753016"/>
                  <a:gd name="connsiteY4" fmla="*/ 186702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1033 w 3753016"/>
                  <a:gd name="connsiteY6" fmla="*/ 1252175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91647"/>
                  <a:gd name="connsiteX1" fmla="*/ 699714 w 3753016"/>
                  <a:gd name="connsiteY1" fmla="*/ 99235 h 1991647"/>
                  <a:gd name="connsiteX2" fmla="*/ 453224 w 3753016"/>
                  <a:gd name="connsiteY2" fmla="*/ 27675 h 1991647"/>
                  <a:gd name="connsiteX3" fmla="*/ 127221 w 3753016"/>
                  <a:gd name="connsiteY3" fmla="*/ 67430 h 1991647"/>
                  <a:gd name="connsiteX4" fmla="*/ 166977 w 3753016"/>
                  <a:gd name="connsiteY4" fmla="*/ 154897 h 1991647"/>
                  <a:gd name="connsiteX5" fmla="*/ 0 w 3753016"/>
                  <a:gd name="connsiteY5" fmla="*/ 226457 h 1991647"/>
                  <a:gd name="connsiteX6" fmla="*/ 818984 w 3753016"/>
                  <a:gd name="connsiteY6" fmla="*/ 1347591 h 1991647"/>
                  <a:gd name="connsiteX7" fmla="*/ 2146852 w 3753016"/>
                  <a:gd name="connsiteY7" fmla="*/ 1991647 h 1991647"/>
                  <a:gd name="connsiteX8" fmla="*/ 3753016 w 3753016"/>
                  <a:gd name="connsiteY8" fmla="*/ 1506617 h 1991647"/>
                  <a:gd name="connsiteX9" fmla="*/ 2409244 w 3753016"/>
                  <a:gd name="connsiteY9" fmla="*/ 1299884 h 1991647"/>
                  <a:gd name="connsiteX10" fmla="*/ 755373 w 3753016"/>
                  <a:gd name="connsiteY10" fmla="*/ 878464 h 1991647"/>
                  <a:gd name="connsiteX11" fmla="*/ 1311965 w 3753016"/>
                  <a:gd name="connsiteY11" fmla="*/ 671729 h 199164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8037"/>
                  <a:gd name="connsiteX1" fmla="*/ 699714 w 3753016"/>
                  <a:gd name="connsiteY1" fmla="*/ 99235 h 1928037"/>
                  <a:gd name="connsiteX2" fmla="*/ 453224 w 3753016"/>
                  <a:gd name="connsiteY2" fmla="*/ 27675 h 1928037"/>
                  <a:gd name="connsiteX3" fmla="*/ 127221 w 3753016"/>
                  <a:gd name="connsiteY3" fmla="*/ 67430 h 1928037"/>
                  <a:gd name="connsiteX4" fmla="*/ 166977 w 3753016"/>
                  <a:gd name="connsiteY4" fmla="*/ 154897 h 1928037"/>
                  <a:gd name="connsiteX5" fmla="*/ 0 w 3753016"/>
                  <a:gd name="connsiteY5" fmla="*/ 226457 h 1928037"/>
                  <a:gd name="connsiteX6" fmla="*/ 818984 w 3753016"/>
                  <a:gd name="connsiteY6" fmla="*/ 1347591 h 1928037"/>
                  <a:gd name="connsiteX7" fmla="*/ 2011680 w 3753016"/>
                  <a:gd name="connsiteY7" fmla="*/ 1928037 h 1928037"/>
                  <a:gd name="connsiteX8" fmla="*/ 3753016 w 3753016"/>
                  <a:gd name="connsiteY8" fmla="*/ 1506617 h 1928037"/>
                  <a:gd name="connsiteX9" fmla="*/ 2409244 w 3753016"/>
                  <a:gd name="connsiteY9" fmla="*/ 1299884 h 1928037"/>
                  <a:gd name="connsiteX10" fmla="*/ 755373 w 3753016"/>
                  <a:gd name="connsiteY10" fmla="*/ 878464 h 1928037"/>
                  <a:gd name="connsiteX11" fmla="*/ 1311965 w 3753016"/>
                  <a:gd name="connsiteY11" fmla="*/ 671729 h 1928037"/>
                  <a:gd name="connsiteX0" fmla="*/ 1311965 w 3753016"/>
                  <a:gd name="connsiteY0" fmla="*/ 671729 h 1929647"/>
                  <a:gd name="connsiteX1" fmla="*/ 699714 w 3753016"/>
                  <a:gd name="connsiteY1" fmla="*/ 99235 h 1929647"/>
                  <a:gd name="connsiteX2" fmla="*/ 453224 w 3753016"/>
                  <a:gd name="connsiteY2" fmla="*/ 27675 h 1929647"/>
                  <a:gd name="connsiteX3" fmla="*/ 127221 w 3753016"/>
                  <a:gd name="connsiteY3" fmla="*/ 67430 h 1929647"/>
                  <a:gd name="connsiteX4" fmla="*/ 166977 w 3753016"/>
                  <a:gd name="connsiteY4" fmla="*/ 154897 h 1929647"/>
                  <a:gd name="connsiteX5" fmla="*/ 0 w 3753016"/>
                  <a:gd name="connsiteY5" fmla="*/ 226457 h 1929647"/>
                  <a:gd name="connsiteX6" fmla="*/ 818984 w 3753016"/>
                  <a:gd name="connsiteY6" fmla="*/ 1347591 h 1929647"/>
                  <a:gd name="connsiteX7" fmla="*/ 2011680 w 3753016"/>
                  <a:gd name="connsiteY7" fmla="*/ 1928037 h 1929647"/>
                  <a:gd name="connsiteX8" fmla="*/ 3753016 w 3753016"/>
                  <a:gd name="connsiteY8" fmla="*/ 1506617 h 1929647"/>
                  <a:gd name="connsiteX9" fmla="*/ 2409244 w 3753016"/>
                  <a:gd name="connsiteY9" fmla="*/ 1299884 h 1929647"/>
                  <a:gd name="connsiteX10" fmla="*/ 755373 w 3753016"/>
                  <a:gd name="connsiteY10" fmla="*/ 878464 h 1929647"/>
                  <a:gd name="connsiteX11" fmla="*/ 1311965 w 3753016"/>
                  <a:gd name="connsiteY11" fmla="*/ 671729 h 192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53016" h="1929647">
                    <a:moveTo>
                      <a:pt x="1311965" y="671729"/>
                    </a:moveTo>
                    <a:cubicBezTo>
                      <a:pt x="1166191" y="480897"/>
                      <a:pt x="893195" y="-35936"/>
                      <a:pt x="699714" y="99235"/>
                    </a:cubicBezTo>
                    <a:cubicBezTo>
                      <a:pt x="667909" y="136342"/>
                      <a:pt x="636104" y="-73042"/>
                      <a:pt x="453224" y="27675"/>
                    </a:cubicBezTo>
                    <a:cubicBezTo>
                      <a:pt x="360459" y="32976"/>
                      <a:pt x="331304" y="-57141"/>
                      <a:pt x="127221" y="67430"/>
                    </a:cubicBezTo>
                    <a:cubicBezTo>
                      <a:pt x="74212" y="88634"/>
                      <a:pt x="188181" y="128392"/>
                      <a:pt x="166977" y="154897"/>
                    </a:cubicBezTo>
                    <a:cubicBezTo>
                      <a:pt x="145773" y="181402"/>
                      <a:pt x="70236" y="131041"/>
                      <a:pt x="0" y="226457"/>
                    </a:cubicBezTo>
                    <a:cubicBezTo>
                      <a:pt x="272995" y="600168"/>
                      <a:pt x="673210" y="1283981"/>
                      <a:pt x="818984" y="1347591"/>
                    </a:cubicBezTo>
                    <a:cubicBezTo>
                      <a:pt x="1216549" y="1541073"/>
                      <a:pt x="1741336" y="1885630"/>
                      <a:pt x="2011680" y="1928037"/>
                    </a:cubicBezTo>
                    <a:cubicBezTo>
                      <a:pt x="2266121" y="1954542"/>
                      <a:pt x="3172571" y="1647090"/>
                      <a:pt x="3753016" y="1506617"/>
                    </a:cubicBezTo>
                    <a:cubicBezTo>
                      <a:pt x="3697357" y="1407226"/>
                      <a:pt x="3208351" y="1168688"/>
                      <a:pt x="2409244" y="1299884"/>
                    </a:cubicBezTo>
                    <a:cubicBezTo>
                      <a:pt x="489003" y="1295909"/>
                      <a:pt x="734169" y="972555"/>
                      <a:pt x="755373" y="878464"/>
                    </a:cubicBezTo>
                    <a:cubicBezTo>
                      <a:pt x="816333" y="727390"/>
                      <a:pt x="1115833" y="695583"/>
                      <a:pt x="1311965" y="67172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1" name="직사각형 100">
              <a:extLst>
                <a:ext uri="{FF2B5EF4-FFF2-40B4-BE49-F238E27FC236}">
                  <a16:creationId xmlns:a16="http://schemas.microsoft.com/office/drawing/2014/main" id="{093F8A8B-E73D-4B99-8B62-9B47408E81C9}"/>
                </a:ext>
              </a:extLst>
            </p:cNvPr>
            <p:cNvSpPr/>
            <p:nvPr/>
          </p:nvSpPr>
          <p:spPr>
            <a:xfrm rot="18740140">
              <a:off x="1894195" y="2506511"/>
              <a:ext cx="285737" cy="709307"/>
            </a:xfrm>
            <a:prstGeom prst="rect">
              <a:avLst/>
            </a:prstGeom>
            <a:solidFill>
              <a:schemeClr val="accent3"/>
            </a:solidFill>
            <a:ln>
              <a:noFill/>
            </a:ln>
            <a:effectLst>
              <a:outerShdw blurRad="50800" dist="50800" dir="5400000" algn="ctr" rotWithShape="0">
                <a:srgbClr val="0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75" name="Rectangle 21">
            <a:extLst>
              <a:ext uri="{FF2B5EF4-FFF2-40B4-BE49-F238E27FC236}">
                <a16:creationId xmlns:a16="http://schemas.microsoft.com/office/drawing/2014/main" id="{952719A9-9DD6-4BF4-A296-FE59348AC1F0}"/>
              </a:ext>
            </a:extLst>
          </p:cNvPr>
          <p:cNvSpPr/>
          <p:nvPr/>
        </p:nvSpPr>
        <p:spPr>
          <a:xfrm>
            <a:off x="9191774" y="2426166"/>
            <a:ext cx="1142334" cy="639925"/>
          </a:xfrm>
          <a:custGeom>
            <a:avLst/>
            <a:gdLst/>
            <a:ahLst/>
            <a:cxnLst/>
            <a:rect l="l" t="t" r="r" b="b"/>
            <a:pathLst>
              <a:path w="4560938" h="2554996">
                <a:moveTo>
                  <a:pt x="2315585" y="1351978"/>
                </a:moveTo>
                <a:lnTo>
                  <a:pt x="2315585" y="1608128"/>
                </a:lnTo>
                <a:cubicBezTo>
                  <a:pt x="2332000" y="1604085"/>
                  <a:pt x="2347685" y="1596777"/>
                  <a:pt x="2361832" y="1586519"/>
                </a:cubicBezTo>
                <a:cubicBezTo>
                  <a:pt x="2403345" y="1556419"/>
                  <a:pt x="2424829" y="1505846"/>
                  <a:pt x="2417675" y="1455070"/>
                </a:cubicBezTo>
                <a:cubicBezTo>
                  <a:pt x="2409025" y="1388817"/>
                  <a:pt x="2368208" y="1366470"/>
                  <a:pt x="2315585" y="1351978"/>
                </a:cubicBezTo>
                <a:close/>
                <a:moveTo>
                  <a:pt x="3612086" y="989467"/>
                </a:moveTo>
                <a:cubicBezTo>
                  <a:pt x="3453010" y="989467"/>
                  <a:pt x="3324054" y="1118423"/>
                  <a:pt x="3324054" y="1277499"/>
                </a:cubicBezTo>
                <a:cubicBezTo>
                  <a:pt x="3324054" y="1436575"/>
                  <a:pt x="3453010" y="1565531"/>
                  <a:pt x="3612086" y="1565531"/>
                </a:cubicBezTo>
                <a:cubicBezTo>
                  <a:pt x="3771162" y="1565531"/>
                  <a:pt x="3900118" y="1436575"/>
                  <a:pt x="3900118" y="1277499"/>
                </a:cubicBezTo>
                <a:cubicBezTo>
                  <a:pt x="3900118" y="1118423"/>
                  <a:pt x="3771162" y="989467"/>
                  <a:pt x="3612086" y="989467"/>
                </a:cubicBezTo>
                <a:close/>
                <a:moveTo>
                  <a:pt x="948854" y="989467"/>
                </a:moveTo>
                <a:cubicBezTo>
                  <a:pt x="789778" y="989467"/>
                  <a:pt x="660822" y="1118423"/>
                  <a:pt x="660822" y="1277499"/>
                </a:cubicBezTo>
                <a:cubicBezTo>
                  <a:pt x="660822" y="1436575"/>
                  <a:pt x="789778" y="1565531"/>
                  <a:pt x="948854" y="1565531"/>
                </a:cubicBezTo>
                <a:cubicBezTo>
                  <a:pt x="1107930" y="1565531"/>
                  <a:pt x="1236886" y="1436575"/>
                  <a:pt x="1236886" y="1277499"/>
                </a:cubicBezTo>
                <a:cubicBezTo>
                  <a:pt x="1236886" y="1118423"/>
                  <a:pt x="1107930" y="989467"/>
                  <a:pt x="948854" y="989467"/>
                </a:cubicBezTo>
                <a:close/>
                <a:moveTo>
                  <a:pt x="2247651" y="946230"/>
                </a:moveTo>
                <a:cubicBezTo>
                  <a:pt x="2230469" y="950266"/>
                  <a:pt x="2214012" y="957763"/>
                  <a:pt x="2199233" y="968479"/>
                </a:cubicBezTo>
                <a:cubicBezTo>
                  <a:pt x="2157721" y="998579"/>
                  <a:pt x="2136236" y="1049152"/>
                  <a:pt x="2143390" y="1099928"/>
                </a:cubicBezTo>
                <a:cubicBezTo>
                  <a:pt x="2157154" y="1167662"/>
                  <a:pt x="2197550" y="1197656"/>
                  <a:pt x="2247651" y="1217102"/>
                </a:cubicBezTo>
                <a:close/>
                <a:moveTo>
                  <a:pt x="2247651" y="785264"/>
                </a:moveTo>
                <a:lnTo>
                  <a:pt x="2315585" y="785264"/>
                </a:lnTo>
                <a:lnTo>
                  <a:pt x="2315585" y="832380"/>
                </a:lnTo>
                <a:cubicBezTo>
                  <a:pt x="2341411" y="835890"/>
                  <a:pt x="2366862" y="843587"/>
                  <a:pt x="2390991" y="855423"/>
                </a:cubicBezTo>
                <a:cubicBezTo>
                  <a:pt x="2474360" y="896319"/>
                  <a:pt x="2528313" y="979930"/>
                  <a:pt x="2531223" y="1072743"/>
                </a:cubicBezTo>
                <a:lnTo>
                  <a:pt x="2418963" y="1076264"/>
                </a:lnTo>
                <a:cubicBezTo>
                  <a:pt x="2417356" y="1025012"/>
                  <a:pt x="2387564" y="978842"/>
                  <a:pt x="2341528" y="956260"/>
                </a:cubicBezTo>
                <a:cubicBezTo>
                  <a:pt x="2333151" y="952151"/>
                  <a:pt x="2324486" y="948946"/>
                  <a:pt x="2315585" y="946938"/>
                </a:cubicBezTo>
                <a:lnTo>
                  <a:pt x="2315585" y="1239083"/>
                </a:lnTo>
                <a:cubicBezTo>
                  <a:pt x="2404308" y="1264638"/>
                  <a:pt x="2499083" y="1293869"/>
                  <a:pt x="2528899" y="1441205"/>
                </a:cubicBezTo>
                <a:cubicBezTo>
                  <a:pt x="2541347" y="1532528"/>
                  <a:pt x="2502457" y="1623287"/>
                  <a:pt x="2427762" y="1677447"/>
                </a:cubicBezTo>
                <a:cubicBezTo>
                  <a:pt x="2394006" y="1701923"/>
                  <a:pt x="2355419" y="1717125"/>
                  <a:pt x="2315585" y="1722661"/>
                </a:cubicBezTo>
                <a:lnTo>
                  <a:pt x="2315585" y="1769734"/>
                </a:lnTo>
                <a:lnTo>
                  <a:pt x="2247651" y="1769734"/>
                </a:lnTo>
                <a:lnTo>
                  <a:pt x="2247651" y="1722944"/>
                </a:lnTo>
                <a:cubicBezTo>
                  <a:pt x="2221084" y="1719537"/>
                  <a:pt x="2194881" y="1711743"/>
                  <a:pt x="2170074" y="1699575"/>
                </a:cubicBezTo>
                <a:cubicBezTo>
                  <a:pt x="2086705" y="1658679"/>
                  <a:pt x="2032752" y="1575069"/>
                  <a:pt x="2029842" y="1482255"/>
                </a:cubicBezTo>
                <a:lnTo>
                  <a:pt x="2142102" y="1478734"/>
                </a:lnTo>
                <a:cubicBezTo>
                  <a:pt x="2143709" y="1529986"/>
                  <a:pt x="2173501" y="1576156"/>
                  <a:pt x="2219537" y="1598738"/>
                </a:cubicBezTo>
                <a:cubicBezTo>
                  <a:pt x="2228602" y="1603184"/>
                  <a:pt x="2238004" y="1606573"/>
                  <a:pt x="2247651" y="1608616"/>
                </a:cubicBezTo>
                <a:lnTo>
                  <a:pt x="2247651" y="1335176"/>
                </a:lnTo>
                <a:cubicBezTo>
                  <a:pt x="2162261" y="1314127"/>
                  <a:pt x="2069489" y="1278142"/>
                  <a:pt x="2032173" y="1115597"/>
                </a:cubicBezTo>
                <a:cubicBezTo>
                  <a:pt x="2019217" y="1023646"/>
                  <a:pt x="2058125" y="932061"/>
                  <a:pt x="2133303" y="877552"/>
                </a:cubicBezTo>
                <a:cubicBezTo>
                  <a:pt x="2167670" y="852632"/>
                  <a:pt x="2207046" y="837325"/>
                  <a:pt x="2247651" y="832077"/>
                </a:cubicBezTo>
                <a:close/>
                <a:moveTo>
                  <a:pt x="2280470" y="617534"/>
                </a:moveTo>
                <a:cubicBezTo>
                  <a:pt x="1915981" y="617534"/>
                  <a:pt x="1620504" y="913011"/>
                  <a:pt x="1620504" y="1277500"/>
                </a:cubicBezTo>
                <a:cubicBezTo>
                  <a:pt x="1620504" y="1641989"/>
                  <a:pt x="1915981" y="1937466"/>
                  <a:pt x="2280470" y="1937466"/>
                </a:cubicBezTo>
                <a:cubicBezTo>
                  <a:pt x="2644959" y="1937466"/>
                  <a:pt x="2940436" y="1641989"/>
                  <a:pt x="2940436" y="1277500"/>
                </a:cubicBezTo>
                <a:cubicBezTo>
                  <a:pt x="2940436" y="913011"/>
                  <a:pt x="2644959" y="617534"/>
                  <a:pt x="2280470" y="617534"/>
                </a:cubicBezTo>
                <a:close/>
                <a:moveTo>
                  <a:pt x="284505" y="265281"/>
                </a:moveTo>
                <a:lnTo>
                  <a:pt x="4276434" y="265281"/>
                </a:lnTo>
                <a:lnTo>
                  <a:pt x="4276434" y="2289716"/>
                </a:lnTo>
                <a:lnTo>
                  <a:pt x="284505" y="2289716"/>
                </a:lnTo>
                <a:close/>
                <a:moveTo>
                  <a:pt x="180344" y="148161"/>
                </a:moveTo>
                <a:lnTo>
                  <a:pt x="180344" y="2406836"/>
                </a:lnTo>
                <a:lnTo>
                  <a:pt x="4380595" y="2406836"/>
                </a:lnTo>
                <a:lnTo>
                  <a:pt x="4380595" y="148161"/>
                </a:lnTo>
                <a:close/>
                <a:moveTo>
                  <a:pt x="0" y="0"/>
                </a:moveTo>
                <a:lnTo>
                  <a:pt x="4560938" y="0"/>
                </a:lnTo>
                <a:lnTo>
                  <a:pt x="4560938" y="2554996"/>
                </a:lnTo>
                <a:lnTo>
                  <a:pt x="0" y="255499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 name="그룹 3">
            <a:extLst>
              <a:ext uri="{FF2B5EF4-FFF2-40B4-BE49-F238E27FC236}">
                <a16:creationId xmlns:a16="http://schemas.microsoft.com/office/drawing/2014/main" id="{ED46AD8A-32E9-4F9F-AE40-6100C085266C}"/>
              </a:ext>
            </a:extLst>
          </p:cNvPr>
          <p:cNvGrpSpPr/>
          <p:nvPr/>
        </p:nvGrpSpPr>
        <p:grpSpPr>
          <a:xfrm>
            <a:off x="2273627" y="1861346"/>
            <a:ext cx="1116529" cy="741016"/>
            <a:chOff x="9017332" y="4660057"/>
            <a:chExt cx="1116529" cy="741016"/>
          </a:xfrm>
        </p:grpSpPr>
        <p:grpSp>
          <p:nvGrpSpPr>
            <p:cNvPr id="107" name="그룹 106">
              <a:extLst>
                <a:ext uri="{FF2B5EF4-FFF2-40B4-BE49-F238E27FC236}">
                  <a16:creationId xmlns:a16="http://schemas.microsoft.com/office/drawing/2014/main" id="{B642618B-645D-4632-A30B-0DD1AB8E6190}"/>
                </a:ext>
              </a:extLst>
            </p:cNvPr>
            <p:cNvGrpSpPr/>
            <p:nvPr/>
          </p:nvGrpSpPr>
          <p:grpSpPr>
            <a:xfrm>
              <a:off x="9017332" y="4660057"/>
              <a:ext cx="1116529" cy="741016"/>
              <a:chOff x="8890504" y="1819747"/>
              <a:chExt cx="2424749" cy="1609253"/>
            </a:xfrm>
          </p:grpSpPr>
          <p:sp>
            <p:nvSpPr>
              <p:cNvPr id="109" name="사각형: 둥근 모서리 108">
                <a:extLst>
                  <a:ext uri="{FF2B5EF4-FFF2-40B4-BE49-F238E27FC236}">
                    <a16:creationId xmlns:a16="http://schemas.microsoft.com/office/drawing/2014/main" id="{4B88EA61-A305-4A2A-A40B-57A7FD741C57}"/>
                  </a:ext>
                </a:extLst>
              </p:cNvPr>
              <p:cNvSpPr/>
              <p:nvPr/>
            </p:nvSpPr>
            <p:spPr>
              <a:xfrm>
                <a:off x="8890504" y="1819747"/>
                <a:ext cx="2338544" cy="160925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사각형: 둥근 모서리 109">
                <a:extLst>
                  <a:ext uri="{FF2B5EF4-FFF2-40B4-BE49-F238E27FC236}">
                    <a16:creationId xmlns:a16="http://schemas.microsoft.com/office/drawing/2014/main" id="{26FE5491-5880-4DCF-A9F9-1113235F0C94}"/>
                  </a:ext>
                </a:extLst>
              </p:cNvPr>
              <p:cNvSpPr/>
              <p:nvPr/>
            </p:nvSpPr>
            <p:spPr>
              <a:xfrm>
                <a:off x="9000521" y="1954285"/>
                <a:ext cx="2118510" cy="1340176"/>
              </a:xfrm>
              <a:prstGeom prst="roundRect">
                <a:avLst>
                  <a:gd name="adj" fmla="val 12614"/>
                </a:avLst>
              </a:prstGeom>
              <a:noFill/>
              <a:ln w="222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사각형: 둥근 모서리 110">
                <a:extLst>
                  <a:ext uri="{FF2B5EF4-FFF2-40B4-BE49-F238E27FC236}">
                    <a16:creationId xmlns:a16="http://schemas.microsoft.com/office/drawing/2014/main" id="{F0FF245C-0E65-420F-8094-493B8E0B9D70}"/>
                  </a:ext>
                </a:extLst>
              </p:cNvPr>
              <p:cNvSpPr/>
              <p:nvPr/>
            </p:nvSpPr>
            <p:spPr>
              <a:xfrm>
                <a:off x="10616628" y="2383996"/>
                <a:ext cx="698625" cy="480754"/>
              </a:xfrm>
              <a:prstGeom prst="roundRect">
                <a:avLst/>
              </a:prstGeom>
              <a:solidFill>
                <a:schemeClr val="accent4"/>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타원 111">
                <a:extLst>
                  <a:ext uri="{FF2B5EF4-FFF2-40B4-BE49-F238E27FC236}">
                    <a16:creationId xmlns:a16="http://schemas.microsoft.com/office/drawing/2014/main" id="{B808CF0B-5075-43CE-B5E2-F431D83EFD1D}"/>
                  </a:ext>
                </a:extLst>
              </p:cNvPr>
              <p:cNvSpPr/>
              <p:nvPr/>
            </p:nvSpPr>
            <p:spPr>
              <a:xfrm>
                <a:off x="10732612" y="2479518"/>
                <a:ext cx="289711" cy="28971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4" name="Block Arc 11">
              <a:extLst>
                <a:ext uri="{FF2B5EF4-FFF2-40B4-BE49-F238E27FC236}">
                  <a16:creationId xmlns:a16="http://schemas.microsoft.com/office/drawing/2014/main" id="{4BD70A49-EDCE-4025-B8C7-48031D32FB98}"/>
                </a:ext>
              </a:extLst>
            </p:cNvPr>
            <p:cNvSpPr/>
            <p:nvPr/>
          </p:nvSpPr>
          <p:spPr>
            <a:xfrm>
              <a:off x="9415738" y="4824489"/>
              <a:ext cx="255069" cy="415030"/>
            </a:xfrm>
            <a:custGeom>
              <a:avLst/>
              <a:gdLst/>
              <a:ahLst/>
              <a:cxnLst/>
              <a:rect l="l" t="t" r="r" b="b"/>
              <a:pathLst>
                <a:path w="3636337" h="7138182">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3" name="그룹 2">
            <a:extLst>
              <a:ext uri="{FF2B5EF4-FFF2-40B4-BE49-F238E27FC236}">
                <a16:creationId xmlns:a16="http://schemas.microsoft.com/office/drawing/2014/main" id="{A98B380A-D791-4FF5-864D-C637DE1234C6}"/>
              </a:ext>
            </a:extLst>
          </p:cNvPr>
          <p:cNvGrpSpPr/>
          <p:nvPr/>
        </p:nvGrpSpPr>
        <p:grpSpPr>
          <a:xfrm>
            <a:off x="2145648" y="3418107"/>
            <a:ext cx="1181456" cy="1172060"/>
            <a:chOff x="2112749" y="3418107"/>
            <a:chExt cx="1181456" cy="1172060"/>
          </a:xfrm>
        </p:grpSpPr>
        <p:sp>
          <p:nvSpPr>
            <p:cNvPr id="114" name="자유형: 도형 113">
              <a:extLst>
                <a:ext uri="{FF2B5EF4-FFF2-40B4-BE49-F238E27FC236}">
                  <a16:creationId xmlns:a16="http://schemas.microsoft.com/office/drawing/2014/main" id="{EBCC84DC-B8E6-47C3-B6CB-CC3C64A4D991}"/>
                </a:ext>
              </a:extLst>
            </p:cNvPr>
            <p:cNvSpPr>
              <a:spLocks noChangeAspect="1"/>
            </p:cNvSpPr>
            <p:nvPr/>
          </p:nvSpPr>
          <p:spPr>
            <a:xfrm rot="2848566">
              <a:off x="2117447" y="3413409"/>
              <a:ext cx="1172060" cy="1181456"/>
            </a:xfrm>
            <a:custGeom>
              <a:avLst/>
              <a:gdLst>
                <a:gd name="connsiteX0" fmla="*/ 302812 w 1172060"/>
                <a:gd name="connsiteY0" fmla="*/ 668924 h 1181456"/>
                <a:gd name="connsiteX1" fmla="*/ 629231 w 1172060"/>
                <a:gd name="connsiteY1" fmla="*/ 315506 h 1181456"/>
                <a:gd name="connsiteX2" fmla="*/ 1063707 w 1172060"/>
                <a:gd name="connsiteY2" fmla="*/ 395423 h 1181456"/>
                <a:gd name="connsiteX3" fmla="*/ 998378 w 1172060"/>
                <a:gd name="connsiteY3" fmla="*/ 964382 h 1181456"/>
                <a:gd name="connsiteX4" fmla="*/ 403821 w 1172060"/>
                <a:gd name="connsiteY4" fmla="*/ 1073546 h 1181456"/>
                <a:gd name="connsiteX5" fmla="*/ 403085 w 1172060"/>
                <a:gd name="connsiteY5" fmla="*/ 1072441 h 1181456"/>
                <a:gd name="connsiteX6" fmla="*/ 302812 w 1172060"/>
                <a:gd name="connsiteY6" fmla="*/ 668924 h 1181456"/>
                <a:gd name="connsiteX7" fmla="*/ 237854 w 1172060"/>
                <a:gd name="connsiteY7" fmla="*/ 595408 h 1181456"/>
                <a:gd name="connsiteX8" fmla="*/ 542985 w 1172060"/>
                <a:gd name="connsiteY8" fmla="*/ 262697 h 1181456"/>
                <a:gd name="connsiteX9" fmla="*/ 561746 w 1172060"/>
                <a:gd name="connsiteY9" fmla="*/ 261886 h 1181456"/>
                <a:gd name="connsiteX10" fmla="*/ 600889 w 1172060"/>
                <a:gd name="connsiteY10" fmla="*/ 297782 h 1181456"/>
                <a:gd name="connsiteX11" fmla="*/ 601700 w 1172060"/>
                <a:gd name="connsiteY11" fmla="*/ 316543 h 1181456"/>
                <a:gd name="connsiteX12" fmla="*/ 296568 w 1172060"/>
                <a:gd name="connsiteY12" fmla="*/ 649254 h 1181456"/>
                <a:gd name="connsiteX13" fmla="*/ 277807 w 1172060"/>
                <a:gd name="connsiteY13" fmla="*/ 650065 h 1181456"/>
                <a:gd name="connsiteX14" fmla="*/ 238665 w 1172060"/>
                <a:gd name="connsiteY14" fmla="*/ 614168 h 1181456"/>
                <a:gd name="connsiteX15" fmla="*/ 237854 w 1172060"/>
                <a:gd name="connsiteY15" fmla="*/ 595408 h 1181456"/>
                <a:gd name="connsiteX16" fmla="*/ 170715 w 1172060"/>
                <a:gd name="connsiteY16" fmla="*/ 196213 h 1181456"/>
                <a:gd name="connsiteX17" fmla="*/ 330127 w 1172060"/>
                <a:gd name="connsiteY17" fmla="*/ 165192 h 1181456"/>
                <a:gd name="connsiteX18" fmla="*/ 440075 w 1172060"/>
                <a:gd name="connsiteY18" fmla="*/ 1218 h 1181456"/>
                <a:gd name="connsiteX19" fmla="*/ 521596 w 1172060"/>
                <a:gd name="connsiteY19" fmla="*/ 248757 h 1181456"/>
                <a:gd name="connsiteX20" fmla="*/ 234141 w 1172060"/>
                <a:gd name="connsiteY20" fmla="*/ 569990 h 1181456"/>
                <a:gd name="connsiteX21" fmla="*/ 35337 w 1172060"/>
                <a:gd name="connsiteY21" fmla="*/ 578003 h 1181456"/>
                <a:gd name="connsiteX22" fmla="*/ 123970 w 1172060"/>
                <a:gd name="connsiteY22" fmla="*/ 403571 h 1181456"/>
                <a:gd name="connsiteX23" fmla="*/ 170715 w 1172060"/>
                <a:gd name="connsiteY23" fmla="*/ 196213 h 118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72060" h="1181456">
                  <a:moveTo>
                    <a:pt x="302812" y="668924"/>
                  </a:moveTo>
                  <a:lnTo>
                    <a:pt x="629231" y="315506"/>
                  </a:lnTo>
                  <a:cubicBezTo>
                    <a:pt x="848283" y="306381"/>
                    <a:pt x="978182" y="305056"/>
                    <a:pt x="1063707" y="395423"/>
                  </a:cubicBezTo>
                  <a:cubicBezTo>
                    <a:pt x="1170280" y="508029"/>
                    <a:pt x="1267197" y="650379"/>
                    <a:pt x="998378" y="964382"/>
                  </a:cubicBezTo>
                  <a:cubicBezTo>
                    <a:pt x="696240" y="1276281"/>
                    <a:pt x="521556" y="1194524"/>
                    <a:pt x="403821" y="1073546"/>
                  </a:cubicBezTo>
                  <a:lnTo>
                    <a:pt x="403085" y="1072441"/>
                  </a:lnTo>
                  <a:cubicBezTo>
                    <a:pt x="324908" y="984678"/>
                    <a:pt x="302320" y="883213"/>
                    <a:pt x="302812" y="668924"/>
                  </a:cubicBezTo>
                  <a:close/>
                  <a:moveTo>
                    <a:pt x="237854" y="595408"/>
                  </a:moveTo>
                  <a:lnTo>
                    <a:pt x="542985" y="262697"/>
                  </a:lnTo>
                  <a:cubicBezTo>
                    <a:pt x="547942" y="257292"/>
                    <a:pt x="556341" y="256929"/>
                    <a:pt x="561746" y="261886"/>
                  </a:cubicBezTo>
                  <a:lnTo>
                    <a:pt x="600889" y="297782"/>
                  </a:lnTo>
                  <a:cubicBezTo>
                    <a:pt x="606293" y="302739"/>
                    <a:pt x="606657" y="311139"/>
                    <a:pt x="601700" y="316543"/>
                  </a:cubicBezTo>
                  <a:lnTo>
                    <a:pt x="296568" y="649254"/>
                  </a:lnTo>
                  <a:cubicBezTo>
                    <a:pt x="291611" y="654659"/>
                    <a:pt x="283212" y="655022"/>
                    <a:pt x="277807" y="650065"/>
                  </a:cubicBezTo>
                  <a:lnTo>
                    <a:pt x="238665" y="614168"/>
                  </a:lnTo>
                  <a:cubicBezTo>
                    <a:pt x="233260" y="609211"/>
                    <a:pt x="232898" y="600812"/>
                    <a:pt x="237854" y="595408"/>
                  </a:cubicBezTo>
                  <a:close/>
                  <a:moveTo>
                    <a:pt x="170715" y="196213"/>
                  </a:moveTo>
                  <a:cubicBezTo>
                    <a:pt x="239941" y="133429"/>
                    <a:pt x="250327" y="149631"/>
                    <a:pt x="330127" y="165192"/>
                  </a:cubicBezTo>
                  <a:cubicBezTo>
                    <a:pt x="445765" y="184636"/>
                    <a:pt x="396659" y="17962"/>
                    <a:pt x="440075" y="1218"/>
                  </a:cubicBezTo>
                  <a:cubicBezTo>
                    <a:pt x="478089" y="-13442"/>
                    <a:pt x="565874" y="106294"/>
                    <a:pt x="521596" y="248757"/>
                  </a:cubicBezTo>
                  <a:cubicBezTo>
                    <a:pt x="421713" y="357668"/>
                    <a:pt x="334023" y="461079"/>
                    <a:pt x="234141" y="569990"/>
                  </a:cubicBezTo>
                  <a:cubicBezTo>
                    <a:pt x="126009" y="620334"/>
                    <a:pt x="81210" y="609522"/>
                    <a:pt x="35337" y="578003"/>
                  </a:cubicBezTo>
                  <a:cubicBezTo>
                    <a:pt x="-10537" y="546484"/>
                    <a:pt x="-37835" y="446419"/>
                    <a:pt x="123970" y="403571"/>
                  </a:cubicBezTo>
                  <a:cubicBezTo>
                    <a:pt x="185254" y="392132"/>
                    <a:pt x="69653" y="346354"/>
                    <a:pt x="170715" y="19621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05" name="Block Arc 11">
              <a:extLst>
                <a:ext uri="{FF2B5EF4-FFF2-40B4-BE49-F238E27FC236}">
                  <a16:creationId xmlns:a16="http://schemas.microsoft.com/office/drawing/2014/main" id="{5032F9FE-7B6C-486D-B2E8-422C859AA449}"/>
                </a:ext>
              </a:extLst>
            </p:cNvPr>
            <p:cNvSpPr/>
            <p:nvPr/>
          </p:nvSpPr>
          <p:spPr>
            <a:xfrm>
              <a:off x="2575943" y="4011357"/>
              <a:ext cx="253754" cy="389193"/>
            </a:xfrm>
            <a:custGeom>
              <a:avLst/>
              <a:gdLst/>
              <a:ahLst/>
              <a:cxnLst/>
              <a:rect l="l" t="t" r="r" b="b"/>
              <a:pathLst>
                <a:path w="3636337" h="7138182">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6" name="그룹 5">
            <a:extLst>
              <a:ext uri="{FF2B5EF4-FFF2-40B4-BE49-F238E27FC236}">
                <a16:creationId xmlns:a16="http://schemas.microsoft.com/office/drawing/2014/main" id="{F97074C6-DAB8-4AA4-A906-A7BE17B647D3}"/>
              </a:ext>
            </a:extLst>
          </p:cNvPr>
          <p:cNvGrpSpPr/>
          <p:nvPr/>
        </p:nvGrpSpPr>
        <p:grpSpPr>
          <a:xfrm>
            <a:off x="9305741" y="4552694"/>
            <a:ext cx="914400" cy="914400"/>
            <a:chOff x="2460435" y="1380960"/>
            <a:chExt cx="914400" cy="914400"/>
          </a:xfrm>
        </p:grpSpPr>
        <p:sp>
          <p:nvSpPr>
            <p:cNvPr id="5" name="타원 4">
              <a:extLst>
                <a:ext uri="{FF2B5EF4-FFF2-40B4-BE49-F238E27FC236}">
                  <a16:creationId xmlns:a16="http://schemas.microsoft.com/office/drawing/2014/main" id="{1ECDCCC1-2570-42D1-8BB6-774EBE450B9A}"/>
                </a:ext>
              </a:extLst>
            </p:cNvPr>
            <p:cNvSpPr/>
            <p:nvPr/>
          </p:nvSpPr>
          <p:spPr>
            <a:xfrm>
              <a:off x="2460435" y="1380960"/>
              <a:ext cx="914400" cy="914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타원 105">
              <a:extLst>
                <a:ext uri="{FF2B5EF4-FFF2-40B4-BE49-F238E27FC236}">
                  <a16:creationId xmlns:a16="http://schemas.microsoft.com/office/drawing/2014/main" id="{81B43ABC-40DB-46E7-A469-824258AAC0B2}"/>
                </a:ext>
              </a:extLst>
            </p:cNvPr>
            <p:cNvSpPr/>
            <p:nvPr/>
          </p:nvSpPr>
          <p:spPr>
            <a:xfrm>
              <a:off x="2529738" y="1453602"/>
              <a:ext cx="778252" cy="778252"/>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5" name="Block Arc 11">
              <a:extLst>
                <a:ext uri="{FF2B5EF4-FFF2-40B4-BE49-F238E27FC236}">
                  <a16:creationId xmlns:a16="http://schemas.microsoft.com/office/drawing/2014/main" id="{C6B25ABC-CB3C-4181-B0BA-0447D821696E}"/>
                </a:ext>
              </a:extLst>
            </p:cNvPr>
            <p:cNvSpPr/>
            <p:nvPr/>
          </p:nvSpPr>
          <p:spPr>
            <a:xfrm>
              <a:off x="2761961" y="1573266"/>
              <a:ext cx="311347" cy="506602"/>
            </a:xfrm>
            <a:custGeom>
              <a:avLst/>
              <a:gdLst/>
              <a:ahLst/>
              <a:cxnLst/>
              <a:rect l="l" t="t" r="r" b="b"/>
              <a:pathLst>
                <a:path w="3636337" h="7138182">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8" name="Rectangle: Rounded Corners 7">
            <a:extLst>
              <a:ext uri="{FF2B5EF4-FFF2-40B4-BE49-F238E27FC236}">
                <a16:creationId xmlns:a16="http://schemas.microsoft.com/office/drawing/2014/main" id="{BB5266C9-F3BA-C037-1F00-4BB62DF0449E}"/>
              </a:ext>
            </a:extLst>
          </p:cNvPr>
          <p:cNvSpPr/>
          <p:nvPr/>
        </p:nvSpPr>
        <p:spPr>
          <a:xfrm>
            <a:off x="2950364" y="917772"/>
            <a:ext cx="4569552" cy="797455"/>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3FFF691-DEC5-4C66-65F1-364AB0762C38}"/>
              </a:ext>
            </a:extLst>
          </p:cNvPr>
          <p:cNvSpPr txBox="1"/>
          <p:nvPr/>
        </p:nvSpPr>
        <p:spPr>
          <a:xfrm>
            <a:off x="3525492" y="1047888"/>
            <a:ext cx="4364152" cy="1077218"/>
          </a:xfrm>
          <a:prstGeom prst="rect">
            <a:avLst/>
          </a:prstGeom>
          <a:noFill/>
        </p:spPr>
        <p:txBody>
          <a:bodyPr wrap="square" rtlCol="0">
            <a:spAutoFit/>
          </a:bodyPr>
          <a:lstStyle/>
          <a:p>
            <a:r>
              <a:rPr lang="en-US" sz="3200" dirty="0">
                <a:solidFill>
                  <a:schemeClr val="tx2"/>
                </a:solidFill>
                <a:latin typeface="Calibri" panose="020F0502020204030204" pitchFamily="34" charset="0"/>
                <a:cs typeface="Calibri" panose="020F0502020204030204" pitchFamily="34" charset="0"/>
              </a:rPr>
              <a:t>Executive Summary</a:t>
            </a:r>
          </a:p>
          <a:p>
            <a:endParaRPr lang="en-US"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779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272555A-0091-4964-8F1A-3E9500875DBE}"/>
              </a:ext>
            </a:extLst>
          </p:cNvPr>
          <p:cNvSpPr txBox="1"/>
          <p:nvPr/>
        </p:nvSpPr>
        <p:spPr>
          <a:xfrm>
            <a:off x="7184179" y="3055304"/>
            <a:ext cx="3963735" cy="1015663"/>
          </a:xfrm>
          <a:prstGeom prst="rect">
            <a:avLst/>
          </a:prstGeom>
          <a:noFill/>
        </p:spPr>
        <p:txBody>
          <a:bodyPr wrap="square" rtlCol="0">
            <a:spAutoFit/>
          </a:bodyPr>
          <a:lstStyle/>
          <a:p>
            <a:r>
              <a:rPr lang="en-US" altLang="ko-KR" sz="1200" dirty="0">
                <a:solidFill>
                  <a:schemeClr val="bg1"/>
                </a:solidFill>
                <a:cs typeface="Arial" pitchFamily="34" charset="0"/>
              </a:rPr>
              <a:t>Here are five transaction types the bank use as payment type. They are; PAYMENT, TRANSFER, CASH OUT, DEBIT, CASH IN, CASH OUT was the most conducted transaction type and generated the highest number of transactions</a:t>
            </a:r>
          </a:p>
        </p:txBody>
      </p:sp>
      <p:sp>
        <p:nvSpPr>
          <p:cNvPr id="15" name="TextBox 14">
            <a:extLst>
              <a:ext uri="{FF2B5EF4-FFF2-40B4-BE49-F238E27FC236}">
                <a16:creationId xmlns:a16="http://schemas.microsoft.com/office/drawing/2014/main" id="{1269BAAF-F64A-488B-ACF8-6CFF9C3B928A}"/>
              </a:ext>
            </a:extLst>
          </p:cNvPr>
          <p:cNvSpPr txBox="1"/>
          <p:nvPr/>
        </p:nvSpPr>
        <p:spPr>
          <a:xfrm>
            <a:off x="7137288" y="352822"/>
            <a:ext cx="4161561" cy="1261884"/>
          </a:xfrm>
          <a:prstGeom prst="rect">
            <a:avLst/>
          </a:prstGeom>
          <a:noFill/>
        </p:spPr>
        <p:txBody>
          <a:bodyPr wrap="square" rtlCol="0">
            <a:spAutoFit/>
          </a:bodyPr>
          <a:lstStyle/>
          <a:p>
            <a:r>
              <a:rPr lang="en-US" altLang="ko-KR" sz="2800" b="1" dirty="0">
                <a:solidFill>
                  <a:schemeClr val="accent1"/>
                </a:solidFill>
                <a:latin typeface="+mj-lt"/>
                <a:cs typeface="Arial" pitchFamily="34" charset="0"/>
              </a:rPr>
              <a:t>Exploratory Data Analysis:</a:t>
            </a:r>
          </a:p>
          <a:p>
            <a:r>
              <a:rPr lang="en-US" altLang="ko-KR" sz="2000" b="1" dirty="0">
                <a:solidFill>
                  <a:schemeClr val="accent1"/>
                </a:solidFill>
                <a:latin typeface="+mj-lt"/>
                <a:cs typeface="Arial" pitchFamily="34" charset="0"/>
              </a:rPr>
              <a:t>Insights </a:t>
            </a:r>
            <a:r>
              <a:rPr lang="en-US" altLang="ko-KR" sz="2000" b="1" dirty="0">
                <a:solidFill>
                  <a:schemeClr val="bg1"/>
                </a:solidFill>
                <a:latin typeface="+mj-lt"/>
                <a:cs typeface="Arial" pitchFamily="34" charset="0"/>
              </a:rPr>
              <a:t>and Visualizations.</a:t>
            </a:r>
          </a:p>
        </p:txBody>
      </p:sp>
      <p:sp>
        <p:nvSpPr>
          <p:cNvPr id="16" name="TextBox 15">
            <a:extLst>
              <a:ext uri="{FF2B5EF4-FFF2-40B4-BE49-F238E27FC236}">
                <a16:creationId xmlns:a16="http://schemas.microsoft.com/office/drawing/2014/main" id="{C048F2D0-B8C4-4023-81B9-84C295B5C51D}"/>
              </a:ext>
            </a:extLst>
          </p:cNvPr>
          <p:cNvSpPr txBox="1"/>
          <p:nvPr/>
        </p:nvSpPr>
        <p:spPr>
          <a:xfrm>
            <a:off x="7137288" y="1928145"/>
            <a:ext cx="3726342" cy="954107"/>
          </a:xfrm>
          <a:prstGeom prst="rect">
            <a:avLst/>
          </a:prstGeom>
          <a:noFill/>
        </p:spPr>
        <p:txBody>
          <a:bodyPr wrap="square" rtlCol="0">
            <a:spAutoFit/>
          </a:bodyPr>
          <a:lstStyle/>
          <a:p>
            <a:r>
              <a:rPr lang="en-US" altLang="ko-KR" sz="1400" b="1" dirty="0">
                <a:solidFill>
                  <a:schemeClr val="bg1"/>
                </a:solidFill>
                <a:cs typeface="Arial" pitchFamily="34" charset="0"/>
              </a:rPr>
              <a:t>Insights are generated through exploratory Data Analysis done to help the stakeholders of the bank make informed business decision to increase revenue.</a:t>
            </a:r>
            <a:endParaRPr lang="ko-KR" altLang="en-US" sz="1400" b="1" dirty="0">
              <a:solidFill>
                <a:schemeClr val="bg1"/>
              </a:solidFill>
              <a:cs typeface="Arial" pitchFamily="34" charset="0"/>
            </a:endParaRPr>
          </a:p>
        </p:txBody>
      </p:sp>
      <p:grpSp>
        <p:nvGrpSpPr>
          <p:cNvPr id="20" name="Group 16">
            <a:extLst>
              <a:ext uri="{FF2B5EF4-FFF2-40B4-BE49-F238E27FC236}">
                <a16:creationId xmlns:a16="http://schemas.microsoft.com/office/drawing/2014/main" id="{9DD8CF41-AC68-49C5-B501-C386F2417967}"/>
              </a:ext>
            </a:extLst>
          </p:cNvPr>
          <p:cNvGrpSpPr/>
          <p:nvPr/>
        </p:nvGrpSpPr>
        <p:grpSpPr>
          <a:xfrm>
            <a:off x="7266973" y="1682332"/>
            <a:ext cx="1080120" cy="116632"/>
            <a:chOff x="4031940" y="0"/>
            <a:chExt cx="1080120" cy="116632"/>
          </a:xfrm>
        </p:grpSpPr>
        <p:sp>
          <p:nvSpPr>
            <p:cNvPr id="21" name="Rectangle 17">
              <a:extLst>
                <a:ext uri="{FF2B5EF4-FFF2-40B4-BE49-F238E27FC236}">
                  <a16:creationId xmlns:a16="http://schemas.microsoft.com/office/drawing/2014/main" id="{E02A963C-7EAF-4741-860C-3C681F1A0E46}"/>
                </a:ext>
              </a:extLst>
            </p:cNvPr>
            <p:cNvSpPr/>
            <p:nvPr userDrawn="1"/>
          </p:nvSpPr>
          <p:spPr>
            <a:xfrm>
              <a:off x="4031940" y="0"/>
              <a:ext cx="1080120" cy="1166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18">
              <a:extLst>
                <a:ext uri="{FF2B5EF4-FFF2-40B4-BE49-F238E27FC236}">
                  <a16:creationId xmlns:a16="http://schemas.microsoft.com/office/drawing/2014/main" id="{1E72FBC4-79D2-4B95-AB18-202CE8532F64}"/>
                </a:ext>
              </a:extLst>
            </p:cNvPr>
            <p:cNvSpPr/>
            <p:nvPr userDrawn="1"/>
          </p:nvSpPr>
          <p:spPr>
            <a:xfrm>
              <a:off x="4572000" y="0"/>
              <a:ext cx="540000" cy="1166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TextBox 16">
            <a:extLst>
              <a:ext uri="{FF2B5EF4-FFF2-40B4-BE49-F238E27FC236}">
                <a16:creationId xmlns:a16="http://schemas.microsoft.com/office/drawing/2014/main" id="{A457A603-8EA2-4507-9741-8E572AEBCF2F}"/>
              </a:ext>
            </a:extLst>
          </p:cNvPr>
          <p:cNvSpPr txBox="1"/>
          <p:nvPr/>
        </p:nvSpPr>
        <p:spPr>
          <a:xfrm>
            <a:off x="0" y="0"/>
            <a:ext cx="809625"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1</a:t>
            </a:r>
          </a:p>
        </p:txBody>
      </p:sp>
      <p:pic>
        <p:nvPicPr>
          <p:cNvPr id="1026" name="Picture 2">
            <a:extLst>
              <a:ext uri="{FF2B5EF4-FFF2-40B4-BE49-F238E27FC236}">
                <a16:creationId xmlns:a16="http://schemas.microsoft.com/office/drawing/2014/main" id="{08A2244B-2341-86C2-F721-1AE6B1D6A91D}"/>
              </a:ext>
            </a:extLst>
          </p:cNvPr>
          <p:cNvPicPr>
            <a:picLocks noGrp="1" noChangeAspect="1" noChangeArrowheads="1"/>
          </p:cNvPicPr>
          <p:nvPr>
            <p:ph type="pic" idx="17"/>
          </p:nvPr>
        </p:nvPicPr>
        <p:blipFill>
          <a:blip r:embed="rId2">
            <a:extLst>
              <a:ext uri="{28A0092B-C50C-407E-A947-70E740481C1C}">
                <a14:useLocalDpi xmlns:a14="http://schemas.microsoft.com/office/drawing/2010/main" val="0"/>
              </a:ext>
            </a:extLst>
          </a:blip>
          <a:srcRect l="2014" r="2014"/>
          <a:stretch>
            <a:fillRect/>
          </a:stretch>
        </p:blipFill>
        <p:spPr bwMode="auto">
          <a:xfrm>
            <a:off x="247650" y="230832"/>
            <a:ext cx="5678183" cy="3097516"/>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3501BD64-6B09-1088-6A1F-844827C59146}"/>
              </a:ext>
            </a:extLst>
          </p:cNvPr>
          <p:cNvSpPr txBox="1"/>
          <p:nvPr/>
        </p:nvSpPr>
        <p:spPr>
          <a:xfrm>
            <a:off x="0" y="3705508"/>
            <a:ext cx="809625"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2</a:t>
            </a:r>
          </a:p>
        </p:txBody>
      </p:sp>
      <p:pic>
        <p:nvPicPr>
          <p:cNvPr id="1028" name="Picture 4">
            <a:extLst>
              <a:ext uri="{FF2B5EF4-FFF2-40B4-BE49-F238E27FC236}">
                <a16:creationId xmlns:a16="http://schemas.microsoft.com/office/drawing/2014/main" id="{D52BC575-3FC2-439F-2282-7566BD9B5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7287" y="3695015"/>
            <a:ext cx="4573283" cy="3097516"/>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ABA9454A-0211-DA03-2176-41789F3FF1F1}"/>
              </a:ext>
            </a:extLst>
          </p:cNvPr>
          <p:cNvSpPr txBox="1"/>
          <p:nvPr/>
        </p:nvSpPr>
        <p:spPr>
          <a:xfrm>
            <a:off x="11345740" y="3292138"/>
            <a:ext cx="483878"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1</a:t>
            </a:r>
          </a:p>
        </p:txBody>
      </p:sp>
      <p:grpSp>
        <p:nvGrpSpPr>
          <p:cNvPr id="40" name="그룹 3">
            <a:extLst>
              <a:ext uri="{FF2B5EF4-FFF2-40B4-BE49-F238E27FC236}">
                <a16:creationId xmlns:a16="http://schemas.microsoft.com/office/drawing/2014/main" id="{2C75943D-4898-C2DB-5EB3-C28330A41F27}"/>
              </a:ext>
            </a:extLst>
          </p:cNvPr>
          <p:cNvGrpSpPr/>
          <p:nvPr/>
        </p:nvGrpSpPr>
        <p:grpSpPr>
          <a:xfrm>
            <a:off x="6480951" y="3152462"/>
            <a:ext cx="703228" cy="601341"/>
            <a:chOff x="9017332" y="4660057"/>
            <a:chExt cx="1116529" cy="741016"/>
          </a:xfrm>
        </p:grpSpPr>
        <p:grpSp>
          <p:nvGrpSpPr>
            <p:cNvPr id="41" name="그룹 106">
              <a:extLst>
                <a:ext uri="{FF2B5EF4-FFF2-40B4-BE49-F238E27FC236}">
                  <a16:creationId xmlns:a16="http://schemas.microsoft.com/office/drawing/2014/main" id="{07DD6955-8F5D-D740-1C92-AD756E0587D7}"/>
                </a:ext>
              </a:extLst>
            </p:cNvPr>
            <p:cNvGrpSpPr/>
            <p:nvPr/>
          </p:nvGrpSpPr>
          <p:grpSpPr>
            <a:xfrm>
              <a:off x="9017332" y="4660057"/>
              <a:ext cx="1116529" cy="741016"/>
              <a:chOff x="8890504" y="1819747"/>
              <a:chExt cx="2424749" cy="1609253"/>
            </a:xfrm>
          </p:grpSpPr>
          <p:sp>
            <p:nvSpPr>
              <p:cNvPr id="43" name="사각형: 둥근 모서리 108">
                <a:extLst>
                  <a:ext uri="{FF2B5EF4-FFF2-40B4-BE49-F238E27FC236}">
                    <a16:creationId xmlns:a16="http://schemas.microsoft.com/office/drawing/2014/main" id="{0315B77B-0882-86D5-36CE-96855EE3F3AF}"/>
                  </a:ext>
                </a:extLst>
              </p:cNvPr>
              <p:cNvSpPr/>
              <p:nvPr/>
            </p:nvSpPr>
            <p:spPr>
              <a:xfrm>
                <a:off x="8890504" y="1819747"/>
                <a:ext cx="2338544" cy="160925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사각형: 둥근 모서리 109">
                <a:extLst>
                  <a:ext uri="{FF2B5EF4-FFF2-40B4-BE49-F238E27FC236}">
                    <a16:creationId xmlns:a16="http://schemas.microsoft.com/office/drawing/2014/main" id="{4E7BD0B9-4F03-DF2A-D550-563F5B8A0A4E}"/>
                  </a:ext>
                </a:extLst>
              </p:cNvPr>
              <p:cNvSpPr/>
              <p:nvPr/>
            </p:nvSpPr>
            <p:spPr>
              <a:xfrm>
                <a:off x="9000521" y="1954285"/>
                <a:ext cx="2118510" cy="1340176"/>
              </a:xfrm>
              <a:prstGeom prst="roundRect">
                <a:avLst>
                  <a:gd name="adj" fmla="val 12614"/>
                </a:avLst>
              </a:prstGeom>
              <a:noFill/>
              <a:ln w="222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사각형: 둥근 모서리 110">
                <a:extLst>
                  <a:ext uri="{FF2B5EF4-FFF2-40B4-BE49-F238E27FC236}">
                    <a16:creationId xmlns:a16="http://schemas.microsoft.com/office/drawing/2014/main" id="{33C943D5-1597-FCF5-AB52-E0A696BF2D07}"/>
                  </a:ext>
                </a:extLst>
              </p:cNvPr>
              <p:cNvSpPr/>
              <p:nvPr/>
            </p:nvSpPr>
            <p:spPr>
              <a:xfrm>
                <a:off x="10616628" y="2383996"/>
                <a:ext cx="698625" cy="480754"/>
              </a:xfrm>
              <a:prstGeom prst="roundRect">
                <a:avLst/>
              </a:prstGeom>
              <a:solidFill>
                <a:schemeClr val="accent4"/>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111">
                <a:extLst>
                  <a:ext uri="{FF2B5EF4-FFF2-40B4-BE49-F238E27FC236}">
                    <a16:creationId xmlns:a16="http://schemas.microsoft.com/office/drawing/2014/main" id="{D3CB3E51-22BB-DCB2-0127-E1BA0C033F00}"/>
                  </a:ext>
                </a:extLst>
              </p:cNvPr>
              <p:cNvSpPr/>
              <p:nvPr/>
            </p:nvSpPr>
            <p:spPr>
              <a:xfrm>
                <a:off x="10732612" y="2479518"/>
                <a:ext cx="289711" cy="28971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2" name="Block Arc 11">
              <a:extLst>
                <a:ext uri="{FF2B5EF4-FFF2-40B4-BE49-F238E27FC236}">
                  <a16:creationId xmlns:a16="http://schemas.microsoft.com/office/drawing/2014/main" id="{9EB991EA-6DD6-1D62-A50B-75BD90C0B989}"/>
                </a:ext>
              </a:extLst>
            </p:cNvPr>
            <p:cNvSpPr/>
            <p:nvPr/>
          </p:nvSpPr>
          <p:spPr>
            <a:xfrm>
              <a:off x="9415738" y="4824489"/>
              <a:ext cx="255069" cy="415030"/>
            </a:xfrm>
            <a:custGeom>
              <a:avLst/>
              <a:gdLst/>
              <a:ahLst/>
              <a:cxnLst/>
              <a:rect l="l" t="t" r="r" b="b"/>
              <a:pathLst>
                <a:path w="3636337" h="7138182">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7" name="TextBox 46">
            <a:extLst>
              <a:ext uri="{FF2B5EF4-FFF2-40B4-BE49-F238E27FC236}">
                <a16:creationId xmlns:a16="http://schemas.microsoft.com/office/drawing/2014/main" id="{C7546147-B4CF-EB4D-9F78-9744596AA8A7}"/>
              </a:ext>
            </a:extLst>
          </p:cNvPr>
          <p:cNvSpPr txBox="1"/>
          <p:nvPr/>
        </p:nvSpPr>
        <p:spPr>
          <a:xfrm>
            <a:off x="7184179" y="4857974"/>
            <a:ext cx="3963735" cy="1015663"/>
          </a:xfrm>
          <a:prstGeom prst="rect">
            <a:avLst/>
          </a:prstGeom>
          <a:noFill/>
        </p:spPr>
        <p:txBody>
          <a:bodyPr wrap="square" rtlCol="0">
            <a:spAutoFit/>
          </a:bodyPr>
          <a:lstStyle/>
          <a:p>
            <a:r>
              <a:rPr lang="en-US" altLang="ko-KR" sz="1200" dirty="0">
                <a:solidFill>
                  <a:schemeClr val="bg1"/>
                </a:solidFill>
                <a:cs typeface="Arial" pitchFamily="34" charset="0"/>
              </a:rPr>
              <a:t>Based on the percentage of Transaction types by Top five Total Balance before transaction. The CASH IN payment type was the most conducted transaction type with the highest sum of total balance before transaction was carried on the account.</a:t>
            </a:r>
          </a:p>
        </p:txBody>
      </p:sp>
      <p:sp>
        <p:nvSpPr>
          <p:cNvPr id="48" name="TextBox 47">
            <a:extLst>
              <a:ext uri="{FF2B5EF4-FFF2-40B4-BE49-F238E27FC236}">
                <a16:creationId xmlns:a16="http://schemas.microsoft.com/office/drawing/2014/main" id="{4E0C63E8-9A47-4AE5-AE1A-33304E4F2A41}"/>
              </a:ext>
            </a:extLst>
          </p:cNvPr>
          <p:cNvSpPr txBox="1"/>
          <p:nvPr/>
        </p:nvSpPr>
        <p:spPr>
          <a:xfrm>
            <a:off x="8678072" y="4361821"/>
            <a:ext cx="487974"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2</a:t>
            </a:r>
          </a:p>
        </p:txBody>
      </p:sp>
      <p:grpSp>
        <p:nvGrpSpPr>
          <p:cNvPr id="49" name="그룹 5">
            <a:extLst>
              <a:ext uri="{FF2B5EF4-FFF2-40B4-BE49-F238E27FC236}">
                <a16:creationId xmlns:a16="http://schemas.microsoft.com/office/drawing/2014/main" id="{D89E445E-E0D5-98E3-8CF3-EFC82A1528E6}"/>
              </a:ext>
            </a:extLst>
          </p:cNvPr>
          <p:cNvGrpSpPr/>
          <p:nvPr/>
        </p:nvGrpSpPr>
        <p:grpSpPr>
          <a:xfrm>
            <a:off x="6480951" y="4882081"/>
            <a:ext cx="612874" cy="601341"/>
            <a:chOff x="2460435" y="1380960"/>
            <a:chExt cx="914400" cy="914400"/>
          </a:xfrm>
        </p:grpSpPr>
        <p:sp>
          <p:nvSpPr>
            <p:cNvPr id="50" name="타원 4">
              <a:extLst>
                <a:ext uri="{FF2B5EF4-FFF2-40B4-BE49-F238E27FC236}">
                  <a16:creationId xmlns:a16="http://schemas.microsoft.com/office/drawing/2014/main" id="{7A7420A8-A556-6EDD-E06D-CBFA337A1D5C}"/>
                </a:ext>
              </a:extLst>
            </p:cNvPr>
            <p:cNvSpPr/>
            <p:nvPr/>
          </p:nvSpPr>
          <p:spPr>
            <a:xfrm>
              <a:off x="2460435" y="1380960"/>
              <a:ext cx="914400" cy="914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타원 105">
              <a:extLst>
                <a:ext uri="{FF2B5EF4-FFF2-40B4-BE49-F238E27FC236}">
                  <a16:creationId xmlns:a16="http://schemas.microsoft.com/office/drawing/2014/main" id="{799319E1-CB4A-495B-E663-09AF6F18DC7B}"/>
                </a:ext>
              </a:extLst>
            </p:cNvPr>
            <p:cNvSpPr/>
            <p:nvPr/>
          </p:nvSpPr>
          <p:spPr>
            <a:xfrm>
              <a:off x="2529738" y="1453602"/>
              <a:ext cx="778252" cy="778252"/>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Block Arc 11">
              <a:extLst>
                <a:ext uri="{FF2B5EF4-FFF2-40B4-BE49-F238E27FC236}">
                  <a16:creationId xmlns:a16="http://schemas.microsoft.com/office/drawing/2014/main" id="{E938EBEB-3758-3210-AF38-1EA372CAE778}"/>
                </a:ext>
              </a:extLst>
            </p:cNvPr>
            <p:cNvSpPr/>
            <p:nvPr/>
          </p:nvSpPr>
          <p:spPr>
            <a:xfrm>
              <a:off x="2761961" y="1573266"/>
              <a:ext cx="311347" cy="506602"/>
            </a:xfrm>
            <a:custGeom>
              <a:avLst/>
              <a:gdLst/>
              <a:ahLst/>
              <a:cxnLst/>
              <a:rect l="l" t="t" r="r" b="b"/>
              <a:pathLst>
                <a:path w="3636337" h="7138182">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3180846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272555A-0091-4964-8F1A-3E9500875DBE}"/>
              </a:ext>
            </a:extLst>
          </p:cNvPr>
          <p:cNvSpPr txBox="1"/>
          <p:nvPr/>
        </p:nvSpPr>
        <p:spPr>
          <a:xfrm>
            <a:off x="7184179" y="3055304"/>
            <a:ext cx="3963735" cy="1015663"/>
          </a:xfrm>
          <a:prstGeom prst="rect">
            <a:avLst/>
          </a:prstGeom>
          <a:noFill/>
        </p:spPr>
        <p:txBody>
          <a:bodyPr wrap="square" rtlCol="0">
            <a:spAutoFit/>
          </a:bodyPr>
          <a:lstStyle/>
          <a:p>
            <a:r>
              <a:rPr lang="en-US" altLang="ko-KR" sz="1200" dirty="0">
                <a:solidFill>
                  <a:schemeClr val="bg1"/>
                </a:solidFill>
                <a:cs typeface="Arial" pitchFamily="34" charset="0"/>
              </a:rPr>
              <a:t>TRANSFER was the most conducted transaction payment type and generated the highest average of transactions amount 63.1% for the bank. This shows that people do more of online transfer type of payment to recipients.</a:t>
            </a:r>
          </a:p>
        </p:txBody>
      </p:sp>
      <p:sp>
        <p:nvSpPr>
          <p:cNvPr id="16" name="TextBox 15">
            <a:extLst>
              <a:ext uri="{FF2B5EF4-FFF2-40B4-BE49-F238E27FC236}">
                <a16:creationId xmlns:a16="http://schemas.microsoft.com/office/drawing/2014/main" id="{C048F2D0-B8C4-4023-81B9-84C295B5C51D}"/>
              </a:ext>
            </a:extLst>
          </p:cNvPr>
          <p:cNvSpPr txBox="1"/>
          <p:nvPr/>
        </p:nvSpPr>
        <p:spPr>
          <a:xfrm>
            <a:off x="7137288" y="1928145"/>
            <a:ext cx="3726342" cy="954107"/>
          </a:xfrm>
          <a:prstGeom prst="rect">
            <a:avLst/>
          </a:prstGeom>
          <a:noFill/>
        </p:spPr>
        <p:txBody>
          <a:bodyPr wrap="square" rtlCol="0">
            <a:spAutoFit/>
          </a:bodyPr>
          <a:lstStyle/>
          <a:p>
            <a:r>
              <a:rPr lang="en-US" altLang="ko-KR" sz="1400" b="1" dirty="0">
                <a:solidFill>
                  <a:schemeClr val="bg1"/>
                </a:solidFill>
                <a:cs typeface="Arial" pitchFamily="34" charset="0"/>
              </a:rPr>
              <a:t>Insights are generated through exploratory Data Analysis done to help the stakeholders of the bank make informed business decision to increase revenue.</a:t>
            </a:r>
            <a:endParaRPr lang="ko-KR" altLang="en-US" sz="1400" b="1" dirty="0">
              <a:solidFill>
                <a:schemeClr val="bg1"/>
              </a:solidFill>
              <a:cs typeface="Arial" pitchFamily="34" charset="0"/>
            </a:endParaRPr>
          </a:p>
        </p:txBody>
      </p:sp>
      <p:grpSp>
        <p:nvGrpSpPr>
          <p:cNvPr id="20" name="Group 16">
            <a:extLst>
              <a:ext uri="{FF2B5EF4-FFF2-40B4-BE49-F238E27FC236}">
                <a16:creationId xmlns:a16="http://schemas.microsoft.com/office/drawing/2014/main" id="{9DD8CF41-AC68-49C5-B501-C386F2417967}"/>
              </a:ext>
            </a:extLst>
          </p:cNvPr>
          <p:cNvGrpSpPr/>
          <p:nvPr/>
        </p:nvGrpSpPr>
        <p:grpSpPr>
          <a:xfrm>
            <a:off x="7266973" y="1682332"/>
            <a:ext cx="1080120" cy="116632"/>
            <a:chOff x="4031940" y="0"/>
            <a:chExt cx="1080120" cy="116632"/>
          </a:xfrm>
        </p:grpSpPr>
        <p:sp>
          <p:nvSpPr>
            <p:cNvPr id="21" name="Rectangle 17">
              <a:extLst>
                <a:ext uri="{FF2B5EF4-FFF2-40B4-BE49-F238E27FC236}">
                  <a16:creationId xmlns:a16="http://schemas.microsoft.com/office/drawing/2014/main" id="{E02A963C-7EAF-4741-860C-3C681F1A0E46}"/>
                </a:ext>
              </a:extLst>
            </p:cNvPr>
            <p:cNvSpPr/>
            <p:nvPr userDrawn="1"/>
          </p:nvSpPr>
          <p:spPr>
            <a:xfrm>
              <a:off x="4031940" y="0"/>
              <a:ext cx="1080120" cy="1166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18">
              <a:extLst>
                <a:ext uri="{FF2B5EF4-FFF2-40B4-BE49-F238E27FC236}">
                  <a16:creationId xmlns:a16="http://schemas.microsoft.com/office/drawing/2014/main" id="{1E72FBC4-79D2-4B95-AB18-202CE8532F64}"/>
                </a:ext>
              </a:extLst>
            </p:cNvPr>
            <p:cNvSpPr/>
            <p:nvPr userDrawn="1"/>
          </p:nvSpPr>
          <p:spPr>
            <a:xfrm>
              <a:off x="4572000" y="0"/>
              <a:ext cx="540000" cy="1166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TextBox 16">
            <a:extLst>
              <a:ext uri="{FF2B5EF4-FFF2-40B4-BE49-F238E27FC236}">
                <a16:creationId xmlns:a16="http://schemas.microsoft.com/office/drawing/2014/main" id="{A457A603-8EA2-4507-9741-8E572AEBCF2F}"/>
              </a:ext>
            </a:extLst>
          </p:cNvPr>
          <p:cNvSpPr txBox="1"/>
          <p:nvPr/>
        </p:nvSpPr>
        <p:spPr>
          <a:xfrm>
            <a:off x="0" y="0"/>
            <a:ext cx="809625"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3</a:t>
            </a:r>
          </a:p>
        </p:txBody>
      </p:sp>
      <p:sp>
        <p:nvSpPr>
          <p:cNvPr id="38" name="TextBox 37">
            <a:extLst>
              <a:ext uri="{FF2B5EF4-FFF2-40B4-BE49-F238E27FC236}">
                <a16:creationId xmlns:a16="http://schemas.microsoft.com/office/drawing/2014/main" id="{3501BD64-6B09-1088-6A1F-844827C59146}"/>
              </a:ext>
            </a:extLst>
          </p:cNvPr>
          <p:cNvSpPr txBox="1"/>
          <p:nvPr/>
        </p:nvSpPr>
        <p:spPr>
          <a:xfrm>
            <a:off x="0" y="3705508"/>
            <a:ext cx="809625"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4</a:t>
            </a:r>
          </a:p>
        </p:txBody>
      </p:sp>
      <p:sp>
        <p:nvSpPr>
          <p:cNvPr id="39" name="TextBox 38">
            <a:extLst>
              <a:ext uri="{FF2B5EF4-FFF2-40B4-BE49-F238E27FC236}">
                <a16:creationId xmlns:a16="http://schemas.microsoft.com/office/drawing/2014/main" id="{ABA9454A-0211-DA03-2176-41789F3FF1F1}"/>
              </a:ext>
            </a:extLst>
          </p:cNvPr>
          <p:cNvSpPr txBox="1"/>
          <p:nvPr/>
        </p:nvSpPr>
        <p:spPr>
          <a:xfrm>
            <a:off x="11345740" y="3292138"/>
            <a:ext cx="483878"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3</a:t>
            </a:r>
          </a:p>
        </p:txBody>
      </p:sp>
      <p:sp>
        <p:nvSpPr>
          <p:cNvPr id="47" name="TextBox 46">
            <a:extLst>
              <a:ext uri="{FF2B5EF4-FFF2-40B4-BE49-F238E27FC236}">
                <a16:creationId xmlns:a16="http://schemas.microsoft.com/office/drawing/2014/main" id="{C7546147-B4CF-EB4D-9F78-9744596AA8A7}"/>
              </a:ext>
            </a:extLst>
          </p:cNvPr>
          <p:cNvSpPr txBox="1"/>
          <p:nvPr/>
        </p:nvSpPr>
        <p:spPr>
          <a:xfrm>
            <a:off x="7184179" y="4857974"/>
            <a:ext cx="3963735" cy="1384995"/>
          </a:xfrm>
          <a:prstGeom prst="rect">
            <a:avLst/>
          </a:prstGeom>
          <a:noFill/>
        </p:spPr>
        <p:txBody>
          <a:bodyPr wrap="square" rtlCol="0">
            <a:spAutoFit/>
          </a:bodyPr>
          <a:lstStyle/>
          <a:p>
            <a:r>
              <a:rPr lang="en-US" altLang="ko-KR" sz="1200" dirty="0">
                <a:solidFill>
                  <a:schemeClr val="bg1"/>
                </a:solidFill>
                <a:cs typeface="Arial" pitchFamily="34" charset="0"/>
              </a:rPr>
              <a:t>Horizontal bar chart was used to visualize top 10 customers by Total balance after Transaction was done.</a:t>
            </a:r>
          </a:p>
          <a:p>
            <a:r>
              <a:rPr lang="en-US" altLang="ko-KR" sz="1200" dirty="0">
                <a:solidFill>
                  <a:schemeClr val="bg1"/>
                </a:solidFill>
                <a:cs typeface="Arial" pitchFamily="34" charset="0"/>
              </a:rPr>
              <a:t>It was observed that the Customer with the customer ID - C1450387949 has the highest Total Balance after Transaction completed with the bank while customer with the customer ID - C2104815114 has the lowest balance .</a:t>
            </a:r>
          </a:p>
        </p:txBody>
      </p:sp>
      <p:sp>
        <p:nvSpPr>
          <p:cNvPr id="48" name="TextBox 47">
            <a:extLst>
              <a:ext uri="{FF2B5EF4-FFF2-40B4-BE49-F238E27FC236}">
                <a16:creationId xmlns:a16="http://schemas.microsoft.com/office/drawing/2014/main" id="{4E0C63E8-9A47-4AE5-AE1A-33304E4F2A41}"/>
              </a:ext>
            </a:extLst>
          </p:cNvPr>
          <p:cNvSpPr txBox="1"/>
          <p:nvPr/>
        </p:nvSpPr>
        <p:spPr>
          <a:xfrm>
            <a:off x="8678072" y="4361821"/>
            <a:ext cx="487974"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4</a:t>
            </a:r>
          </a:p>
        </p:txBody>
      </p:sp>
      <p:pic>
        <p:nvPicPr>
          <p:cNvPr id="2050" name="Picture 2">
            <a:extLst>
              <a:ext uri="{FF2B5EF4-FFF2-40B4-BE49-F238E27FC236}">
                <a16:creationId xmlns:a16="http://schemas.microsoft.com/office/drawing/2014/main" id="{DE7B76AA-8534-7B7D-545A-B303DDF9C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371" y="196097"/>
            <a:ext cx="3629925" cy="295901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ABBE513-F78A-6E66-B912-A41284A533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5266" y="3429000"/>
            <a:ext cx="5044875" cy="327267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1">
            <a:extLst>
              <a:ext uri="{FF2B5EF4-FFF2-40B4-BE49-F238E27FC236}">
                <a16:creationId xmlns:a16="http://schemas.microsoft.com/office/drawing/2014/main" id="{EBD45637-021E-58A0-29B5-FE254E71CFBE}"/>
              </a:ext>
            </a:extLst>
          </p:cNvPr>
          <p:cNvSpPr/>
          <p:nvPr/>
        </p:nvSpPr>
        <p:spPr>
          <a:xfrm>
            <a:off x="6619875" y="3179475"/>
            <a:ext cx="579094" cy="574327"/>
          </a:xfrm>
          <a:custGeom>
            <a:avLst/>
            <a:gdLst/>
            <a:ahLst/>
            <a:cxnLst/>
            <a:rect l="l" t="t" r="r" b="b"/>
            <a:pathLst>
              <a:path w="4560938" h="2554996">
                <a:moveTo>
                  <a:pt x="2315585" y="1351978"/>
                </a:moveTo>
                <a:lnTo>
                  <a:pt x="2315585" y="1608128"/>
                </a:lnTo>
                <a:cubicBezTo>
                  <a:pt x="2332000" y="1604085"/>
                  <a:pt x="2347685" y="1596777"/>
                  <a:pt x="2361832" y="1586519"/>
                </a:cubicBezTo>
                <a:cubicBezTo>
                  <a:pt x="2403345" y="1556419"/>
                  <a:pt x="2424829" y="1505846"/>
                  <a:pt x="2417675" y="1455070"/>
                </a:cubicBezTo>
                <a:cubicBezTo>
                  <a:pt x="2409025" y="1388817"/>
                  <a:pt x="2368208" y="1366470"/>
                  <a:pt x="2315585" y="1351978"/>
                </a:cubicBezTo>
                <a:close/>
                <a:moveTo>
                  <a:pt x="3612086" y="989467"/>
                </a:moveTo>
                <a:cubicBezTo>
                  <a:pt x="3453010" y="989467"/>
                  <a:pt x="3324054" y="1118423"/>
                  <a:pt x="3324054" y="1277499"/>
                </a:cubicBezTo>
                <a:cubicBezTo>
                  <a:pt x="3324054" y="1436575"/>
                  <a:pt x="3453010" y="1565531"/>
                  <a:pt x="3612086" y="1565531"/>
                </a:cubicBezTo>
                <a:cubicBezTo>
                  <a:pt x="3771162" y="1565531"/>
                  <a:pt x="3900118" y="1436575"/>
                  <a:pt x="3900118" y="1277499"/>
                </a:cubicBezTo>
                <a:cubicBezTo>
                  <a:pt x="3900118" y="1118423"/>
                  <a:pt x="3771162" y="989467"/>
                  <a:pt x="3612086" y="989467"/>
                </a:cubicBezTo>
                <a:close/>
                <a:moveTo>
                  <a:pt x="948854" y="989467"/>
                </a:moveTo>
                <a:cubicBezTo>
                  <a:pt x="789778" y="989467"/>
                  <a:pt x="660822" y="1118423"/>
                  <a:pt x="660822" y="1277499"/>
                </a:cubicBezTo>
                <a:cubicBezTo>
                  <a:pt x="660822" y="1436575"/>
                  <a:pt x="789778" y="1565531"/>
                  <a:pt x="948854" y="1565531"/>
                </a:cubicBezTo>
                <a:cubicBezTo>
                  <a:pt x="1107930" y="1565531"/>
                  <a:pt x="1236886" y="1436575"/>
                  <a:pt x="1236886" y="1277499"/>
                </a:cubicBezTo>
                <a:cubicBezTo>
                  <a:pt x="1236886" y="1118423"/>
                  <a:pt x="1107930" y="989467"/>
                  <a:pt x="948854" y="989467"/>
                </a:cubicBezTo>
                <a:close/>
                <a:moveTo>
                  <a:pt x="2247651" y="946230"/>
                </a:moveTo>
                <a:cubicBezTo>
                  <a:pt x="2230469" y="950266"/>
                  <a:pt x="2214012" y="957763"/>
                  <a:pt x="2199233" y="968479"/>
                </a:cubicBezTo>
                <a:cubicBezTo>
                  <a:pt x="2157721" y="998579"/>
                  <a:pt x="2136236" y="1049152"/>
                  <a:pt x="2143390" y="1099928"/>
                </a:cubicBezTo>
                <a:cubicBezTo>
                  <a:pt x="2157154" y="1167662"/>
                  <a:pt x="2197550" y="1197656"/>
                  <a:pt x="2247651" y="1217102"/>
                </a:cubicBezTo>
                <a:close/>
                <a:moveTo>
                  <a:pt x="2247651" y="785264"/>
                </a:moveTo>
                <a:lnTo>
                  <a:pt x="2315585" y="785264"/>
                </a:lnTo>
                <a:lnTo>
                  <a:pt x="2315585" y="832380"/>
                </a:lnTo>
                <a:cubicBezTo>
                  <a:pt x="2341411" y="835890"/>
                  <a:pt x="2366862" y="843587"/>
                  <a:pt x="2390991" y="855423"/>
                </a:cubicBezTo>
                <a:cubicBezTo>
                  <a:pt x="2474360" y="896319"/>
                  <a:pt x="2528313" y="979930"/>
                  <a:pt x="2531223" y="1072743"/>
                </a:cubicBezTo>
                <a:lnTo>
                  <a:pt x="2418963" y="1076264"/>
                </a:lnTo>
                <a:cubicBezTo>
                  <a:pt x="2417356" y="1025012"/>
                  <a:pt x="2387564" y="978842"/>
                  <a:pt x="2341528" y="956260"/>
                </a:cubicBezTo>
                <a:cubicBezTo>
                  <a:pt x="2333151" y="952151"/>
                  <a:pt x="2324486" y="948946"/>
                  <a:pt x="2315585" y="946938"/>
                </a:cubicBezTo>
                <a:lnTo>
                  <a:pt x="2315585" y="1239083"/>
                </a:lnTo>
                <a:cubicBezTo>
                  <a:pt x="2404308" y="1264638"/>
                  <a:pt x="2499083" y="1293869"/>
                  <a:pt x="2528899" y="1441205"/>
                </a:cubicBezTo>
                <a:cubicBezTo>
                  <a:pt x="2541347" y="1532528"/>
                  <a:pt x="2502457" y="1623287"/>
                  <a:pt x="2427762" y="1677447"/>
                </a:cubicBezTo>
                <a:cubicBezTo>
                  <a:pt x="2394006" y="1701923"/>
                  <a:pt x="2355419" y="1717125"/>
                  <a:pt x="2315585" y="1722661"/>
                </a:cubicBezTo>
                <a:lnTo>
                  <a:pt x="2315585" y="1769734"/>
                </a:lnTo>
                <a:lnTo>
                  <a:pt x="2247651" y="1769734"/>
                </a:lnTo>
                <a:lnTo>
                  <a:pt x="2247651" y="1722944"/>
                </a:lnTo>
                <a:cubicBezTo>
                  <a:pt x="2221084" y="1719537"/>
                  <a:pt x="2194881" y="1711743"/>
                  <a:pt x="2170074" y="1699575"/>
                </a:cubicBezTo>
                <a:cubicBezTo>
                  <a:pt x="2086705" y="1658679"/>
                  <a:pt x="2032752" y="1575069"/>
                  <a:pt x="2029842" y="1482255"/>
                </a:cubicBezTo>
                <a:lnTo>
                  <a:pt x="2142102" y="1478734"/>
                </a:lnTo>
                <a:cubicBezTo>
                  <a:pt x="2143709" y="1529986"/>
                  <a:pt x="2173501" y="1576156"/>
                  <a:pt x="2219537" y="1598738"/>
                </a:cubicBezTo>
                <a:cubicBezTo>
                  <a:pt x="2228602" y="1603184"/>
                  <a:pt x="2238004" y="1606573"/>
                  <a:pt x="2247651" y="1608616"/>
                </a:cubicBezTo>
                <a:lnTo>
                  <a:pt x="2247651" y="1335176"/>
                </a:lnTo>
                <a:cubicBezTo>
                  <a:pt x="2162261" y="1314127"/>
                  <a:pt x="2069489" y="1278142"/>
                  <a:pt x="2032173" y="1115597"/>
                </a:cubicBezTo>
                <a:cubicBezTo>
                  <a:pt x="2019217" y="1023646"/>
                  <a:pt x="2058125" y="932061"/>
                  <a:pt x="2133303" y="877552"/>
                </a:cubicBezTo>
                <a:cubicBezTo>
                  <a:pt x="2167670" y="852632"/>
                  <a:pt x="2207046" y="837325"/>
                  <a:pt x="2247651" y="832077"/>
                </a:cubicBezTo>
                <a:close/>
                <a:moveTo>
                  <a:pt x="2280470" y="617534"/>
                </a:moveTo>
                <a:cubicBezTo>
                  <a:pt x="1915981" y="617534"/>
                  <a:pt x="1620504" y="913011"/>
                  <a:pt x="1620504" y="1277500"/>
                </a:cubicBezTo>
                <a:cubicBezTo>
                  <a:pt x="1620504" y="1641989"/>
                  <a:pt x="1915981" y="1937466"/>
                  <a:pt x="2280470" y="1937466"/>
                </a:cubicBezTo>
                <a:cubicBezTo>
                  <a:pt x="2644959" y="1937466"/>
                  <a:pt x="2940436" y="1641989"/>
                  <a:pt x="2940436" y="1277500"/>
                </a:cubicBezTo>
                <a:cubicBezTo>
                  <a:pt x="2940436" y="913011"/>
                  <a:pt x="2644959" y="617534"/>
                  <a:pt x="2280470" y="617534"/>
                </a:cubicBezTo>
                <a:close/>
                <a:moveTo>
                  <a:pt x="284505" y="265281"/>
                </a:moveTo>
                <a:lnTo>
                  <a:pt x="4276434" y="265281"/>
                </a:lnTo>
                <a:lnTo>
                  <a:pt x="4276434" y="2289716"/>
                </a:lnTo>
                <a:lnTo>
                  <a:pt x="284505" y="2289716"/>
                </a:lnTo>
                <a:close/>
                <a:moveTo>
                  <a:pt x="180344" y="148161"/>
                </a:moveTo>
                <a:lnTo>
                  <a:pt x="180344" y="2406836"/>
                </a:lnTo>
                <a:lnTo>
                  <a:pt x="4380595" y="2406836"/>
                </a:lnTo>
                <a:lnTo>
                  <a:pt x="4380595" y="148161"/>
                </a:lnTo>
                <a:close/>
                <a:moveTo>
                  <a:pt x="0" y="0"/>
                </a:moveTo>
                <a:lnTo>
                  <a:pt x="4560938" y="0"/>
                </a:lnTo>
                <a:lnTo>
                  <a:pt x="4560938" y="2554996"/>
                </a:lnTo>
                <a:lnTo>
                  <a:pt x="0" y="255499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2">
            <a:extLst>
              <a:ext uri="{FF2B5EF4-FFF2-40B4-BE49-F238E27FC236}">
                <a16:creationId xmlns:a16="http://schemas.microsoft.com/office/drawing/2014/main" id="{B080A5A3-4448-9318-10F0-B4D0D42CAD75}"/>
              </a:ext>
            </a:extLst>
          </p:cNvPr>
          <p:cNvGrpSpPr/>
          <p:nvPr/>
        </p:nvGrpSpPr>
        <p:grpSpPr>
          <a:xfrm>
            <a:off x="6610350" y="5015887"/>
            <a:ext cx="656623" cy="664368"/>
            <a:chOff x="2112749" y="3418107"/>
            <a:chExt cx="1181456" cy="1172060"/>
          </a:xfrm>
        </p:grpSpPr>
        <p:sp>
          <p:nvSpPr>
            <p:cNvPr id="8" name="자유형: 도형 113">
              <a:extLst>
                <a:ext uri="{FF2B5EF4-FFF2-40B4-BE49-F238E27FC236}">
                  <a16:creationId xmlns:a16="http://schemas.microsoft.com/office/drawing/2014/main" id="{C5FD7C51-FE5B-98E4-7517-02C69655D493}"/>
                </a:ext>
              </a:extLst>
            </p:cNvPr>
            <p:cNvSpPr>
              <a:spLocks noChangeAspect="1"/>
            </p:cNvSpPr>
            <p:nvPr/>
          </p:nvSpPr>
          <p:spPr>
            <a:xfrm rot="2848566">
              <a:off x="2117447" y="3413409"/>
              <a:ext cx="1172060" cy="1181456"/>
            </a:xfrm>
            <a:custGeom>
              <a:avLst/>
              <a:gdLst>
                <a:gd name="connsiteX0" fmla="*/ 302812 w 1172060"/>
                <a:gd name="connsiteY0" fmla="*/ 668924 h 1181456"/>
                <a:gd name="connsiteX1" fmla="*/ 629231 w 1172060"/>
                <a:gd name="connsiteY1" fmla="*/ 315506 h 1181456"/>
                <a:gd name="connsiteX2" fmla="*/ 1063707 w 1172060"/>
                <a:gd name="connsiteY2" fmla="*/ 395423 h 1181456"/>
                <a:gd name="connsiteX3" fmla="*/ 998378 w 1172060"/>
                <a:gd name="connsiteY3" fmla="*/ 964382 h 1181456"/>
                <a:gd name="connsiteX4" fmla="*/ 403821 w 1172060"/>
                <a:gd name="connsiteY4" fmla="*/ 1073546 h 1181456"/>
                <a:gd name="connsiteX5" fmla="*/ 403085 w 1172060"/>
                <a:gd name="connsiteY5" fmla="*/ 1072441 h 1181456"/>
                <a:gd name="connsiteX6" fmla="*/ 302812 w 1172060"/>
                <a:gd name="connsiteY6" fmla="*/ 668924 h 1181456"/>
                <a:gd name="connsiteX7" fmla="*/ 237854 w 1172060"/>
                <a:gd name="connsiteY7" fmla="*/ 595408 h 1181456"/>
                <a:gd name="connsiteX8" fmla="*/ 542985 w 1172060"/>
                <a:gd name="connsiteY8" fmla="*/ 262697 h 1181456"/>
                <a:gd name="connsiteX9" fmla="*/ 561746 w 1172060"/>
                <a:gd name="connsiteY9" fmla="*/ 261886 h 1181456"/>
                <a:gd name="connsiteX10" fmla="*/ 600889 w 1172060"/>
                <a:gd name="connsiteY10" fmla="*/ 297782 h 1181456"/>
                <a:gd name="connsiteX11" fmla="*/ 601700 w 1172060"/>
                <a:gd name="connsiteY11" fmla="*/ 316543 h 1181456"/>
                <a:gd name="connsiteX12" fmla="*/ 296568 w 1172060"/>
                <a:gd name="connsiteY12" fmla="*/ 649254 h 1181456"/>
                <a:gd name="connsiteX13" fmla="*/ 277807 w 1172060"/>
                <a:gd name="connsiteY13" fmla="*/ 650065 h 1181456"/>
                <a:gd name="connsiteX14" fmla="*/ 238665 w 1172060"/>
                <a:gd name="connsiteY14" fmla="*/ 614168 h 1181456"/>
                <a:gd name="connsiteX15" fmla="*/ 237854 w 1172060"/>
                <a:gd name="connsiteY15" fmla="*/ 595408 h 1181456"/>
                <a:gd name="connsiteX16" fmla="*/ 170715 w 1172060"/>
                <a:gd name="connsiteY16" fmla="*/ 196213 h 1181456"/>
                <a:gd name="connsiteX17" fmla="*/ 330127 w 1172060"/>
                <a:gd name="connsiteY17" fmla="*/ 165192 h 1181456"/>
                <a:gd name="connsiteX18" fmla="*/ 440075 w 1172060"/>
                <a:gd name="connsiteY18" fmla="*/ 1218 h 1181456"/>
                <a:gd name="connsiteX19" fmla="*/ 521596 w 1172060"/>
                <a:gd name="connsiteY19" fmla="*/ 248757 h 1181456"/>
                <a:gd name="connsiteX20" fmla="*/ 234141 w 1172060"/>
                <a:gd name="connsiteY20" fmla="*/ 569990 h 1181456"/>
                <a:gd name="connsiteX21" fmla="*/ 35337 w 1172060"/>
                <a:gd name="connsiteY21" fmla="*/ 578003 h 1181456"/>
                <a:gd name="connsiteX22" fmla="*/ 123970 w 1172060"/>
                <a:gd name="connsiteY22" fmla="*/ 403571 h 1181456"/>
                <a:gd name="connsiteX23" fmla="*/ 170715 w 1172060"/>
                <a:gd name="connsiteY23" fmla="*/ 196213 h 118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72060" h="1181456">
                  <a:moveTo>
                    <a:pt x="302812" y="668924"/>
                  </a:moveTo>
                  <a:lnTo>
                    <a:pt x="629231" y="315506"/>
                  </a:lnTo>
                  <a:cubicBezTo>
                    <a:pt x="848283" y="306381"/>
                    <a:pt x="978182" y="305056"/>
                    <a:pt x="1063707" y="395423"/>
                  </a:cubicBezTo>
                  <a:cubicBezTo>
                    <a:pt x="1170280" y="508029"/>
                    <a:pt x="1267197" y="650379"/>
                    <a:pt x="998378" y="964382"/>
                  </a:cubicBezTo>
                  <a:cubicBezTo>
                    <a:pt x="696240" y="1276281"/>
                    <a:pt x="521556" y="1194524"/>
                    <a:pt x="403821" y="1073546"/>
                  </a:cubicBezTo>
                  <a:lnTo>
                    <a:pt x="403085" y="1072441"/>
                  </a:lnTo>
                  <a:cubicBezTo>
                    <a:pt x="324908" y="984678"/>
                    <a:pt x="302320" y="883213"/>
                    <a:pt x="302812" y="668924"/>
                  </a:cubicBezTo>
                  <a:close/>
                  <a:moveTo>
                    <a:pt x="237854" y="595408"/>
                  </a:moveTo>
                  <a:lnTo>
                    <a:pt x="542985" y="262697"/>
                  </a:lnTo>
                  <a:cubicBezTo>
                    <a:pt x="547942" y="257292"/>
                    <a:pt x="556341" y="256929"/>
                    <a:pt x="561746" y="261886"/>
                  </a:cubicBezTo>
                  <a:lnTo>
                    <a:pt x="600889" y="297782"/>
                  </a:lnTo>
                  <a:cubicBezTo>
                    <a:pt x="606293" y="302739"/>
                    <a:pt x="606657" y="311139"/>
                    <a:pt x="601700" y="316543"/>
                  </a:cubicBezTo>
                  <a:lnTo>
                    <a:pt x="296568" y="649254"/>
                  </a:lnTo>
                  <a:cubicBezTo>
                    <a:pt x="291611" y="654659"/>
                    <a:pt x="283212" y="655022"/>
                    <a:pt x="277807" y="650065"/>
                  </a:cubicBezTo>
                  <a:lnTo>
                    <a:pt x="238665" y="614168"/>
                  </a:lnTo>
                  <a:cubicBezTo>
                    <a:pt x="233260" y="609211"/>
                    <a:pt x="232898" y="600812"/>
                    <a:pt x="237854" y="595408"/>
                  </a:cubicBezTo>
                  <a:close/>
                  <a:moveTo>
                    <a:pt x="170715" y="196213"/>
                  </a:moveTo>
                  <a:cubicBezTo>
                    <a:pt x="239941" y="133429"/>
                    <a:pt x="250327" y="149631"/>
                    <a:pt x="330127" y="165192"/>
                  </a:cubicBezTo>
                  <a:cubicBezTo>
                    <a:pt x="445765" y="184636"/>
                    <a:pt x="396659" y="17962"/>
                    <a:pt x="440075" y="1218"/>
                  </a:cubicBezTo>
                  <a:cubicBezTo>
                    <a:pt x="478089" y="-13442"/>
                    <a:pt x="565874" y="106294"/>
                    <a:pt x="521596" y="248757"/>
                  </a:cubicBezTo>
                  <a:cubicBezTo>
                    <a:pt x="421713" y="357668"/>
                    <a:pt x="334023" y="461079"/>
                    <a:pt x="234141" y="569990"/>
                  </a:cubicBezTo>
                  <a:cubicBezTo>
                    <a:pt x="126009" y="620334"/>
                    <a:pt x="81210" y="609522"/>
                    <a:pt x="35337" y="578003"/>
                  </a:cubicBezTo>
                  <a:cubicBezTo>
                    <a:pt x="-10537" y="546484"/>
                    <a:pt x="-37835" y="446419"/>
                    <a:pt x="123970" y="403571"/>
                  </a:cubicBezTo>
                  <a:cubicBezTo>
                    <a:pt x="185254" y="392132"/>
                    <a:pt x="69653" y="346354"/>
                    <a:pt x="170715" y="19621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9" name="Block Arc 11">
              <a:extLst>
                <a:ext uri="{FF2B5EF4-FFF2-40B4-BE49-F238E27FC236}">
                  <a16:creationId xmlns:a16="http://schemas.microsoft.com/office/drawing/2014/main" id="{7BEF6DA5-6AFB-5848-3835-EF4892E6B9FE}"/>
                </a:ext>
              </a:extLst>
            </p:cNvPr>
            <p:cNvSpPr/>
            <p:nvPr/>
          </p:nvSpPr>
          <p:spPr>
            <a:xfrm>
              <a:off x="2575943" y="4011357"/>
              <a:ext cx="253754" cy="389193"/>
            </a:xfrm>
            <a:custGeom>
              <a:avLst/>
              <a:gdLst/>
              <a:ahLst/>
              <a:cxnLst/>
              <a:rect l="l" t="t" r="r" b="b"/>
              <a:pathLst>
                <a:path w="3636337" h="7138182">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10" name="TextBox 9">
            <a:extLst>
              <a:ext uri="{FF2B5EF4-FFF2-40B4-BE49-F238E27FC236}">
                <a16:creationId xmlns:a16="http://schemas.microsoft.com/office/drawing/2014/main" id="{19D36796-048F-21CF-4C6F-00DB2574F84E}"/>
              </a:ext>
            </a:extLst>
          </p:cNvPr>
          <p:cNvSpPr txBox="1"/>
          <p:nvPr/>
        </p:nvSpPr>
        <p:spPr>
          <a:xfrm>
            <a:off x="7137288" y="352822"/>
            <a:ext cx="4161561" cy="1261884"/>
          </a:xfrm>
          <a:prstGeom prst="rect">
            <a:avLst/>
          </a:prstGeom>
          <a:noFill/>
        </p:spPr>
        <p:txBody>
          <a:bodyPr wrap="square" rtlCol="0">
            <a:spAutoFit/>
          </a:bodyPr>
          <a:lstStyle/>
          <a:p>
            <a:r>
              <a:rPr lang="en-US" altLang="ko-KR" sz="2800" b="1" dirty="0">
                <a:solidFill>
                  <a:schemeClr val="accent1"/>
                </a:solidFill>
                <a:latin typeface="+mj-lt"/>
                <a:cs typeface="Arial" pitchFamily="34" charset="0"/>
              </a:rPr>
              <a:t>Exploratory Data Analysis:</a:t>
            </a:r>
          </a:p>
          <a:p>
            <a:r>
              <a:rPr lang="en-US" altLang="ko-KR" sz="2000" b="1" dirty="0">
                <a:solidFill>
                  <a:schemeClr val="accent1"/>
                </a:solidFill>
                <a:latin typeface="+mj-lt"/>
                <a:cs typeface="Arial" pitchFamily="34" charset="0"/>
              </a:rPr>
              <a:t>Insights </a:t>
            </a:r>
            <a:r>
              <a:rPr lang="en-US" altLang="ko-KR" sz="2000" b="1" dirty="0">
                <a:solidFill>
                  <a:schemeClr val="bg1"/>
                </a:solidFill>
                <a:latin typeface="+mj-lt"/>
                <a:cs typeface="Arial" pitchFamily="34" charset="0"/>
              </a:rPr>
              <a:t>and Visualizations.</a:t>
            </a:r>
          </a:p>
        </p:txBody>
      </p:sp>
    </p:spTree>
    <p:extLst>
      <p:ext uri="{BB962C8B-B14F-4D97-AF65-F5344CB8AC3E}">
        <p14:creationId xmlns:p14="http://schemas.microsoft.com/office/powerpoint/2010/main" val="1554547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272555A-0091-4964-8F1A-3E9500875DBE}"/>
              </a:ext>
            </a:extLst>
          </p:cNvPr>
          <p:cNvSpPr txBox="1"/>
          <p:nvPr/>
        </p:nvSpPr>
        <p:spPr>
          <a:xfrm>
            <a:off x="7184179" y="3063837"/>
            <a:ext cx="3963735" cy="830997"/>
          </a:xfrm>
          <a:prstGeom prst="rect">
            <a:avLst/>
          </a:prstGeom>
          <a:noFill/>
        </p:spPr>
        <p:txBody>
          <a:bodyPr wrap="square" rtlCol="0">
            <a:spAutoFit/>
          </a:bodyPr>
          <a:lstStyle/>
          <a:p>
            <a:r>
              <a:rPr lang="en-US" altLang="ko-KR" sz="1200" dirty="0">
                <a:solidFill>
                  <a:schemeClr val="bg1"/>
                </a:solidFill>
                <a:cs typeface="Arial" pitchFamily="34" charset="0"/>
              </a:rPr>
              <a:t>Based on Fraud status, it is observed that Cash_Out payment type of transaction is Not Fraud though generated the highest number of transactions done in the Bank.</a:t>
            </a:r>
          </a:p>
        </p:txBody>
      </p:sp>
      <p:sp>
        <p:nvSpPr>
          <p:cNvPr id="15" name="TextBox 14">
            <a:extLst>
              <a:ext uri="{FF2B5EF4-FFF2-40B4-BE49-F238E27FC236}">
                <a16:creationId xmlns:a16="http://schemas.microsoft.com/office/drawing/2014/main" id="{1269BAAF-F64A-488B-ACF8-6CFF9C3B928A}"/>
              </a:ext>
            </a:extLst>
          </p:cNvPr>
          <p:cNvSpPr txBox="1"/>
          <p:nvPr/>
        </p:nvSpPr>
        <p:spPr>
          <a:xfrm>
            <a:off x="7137288" y="352822"/>
            <a:ext cx="4161561" cy="1261884"/>
          </a:xfrm>
          <a:prstGeom prst="rect">
            <a:avLst/>
          </a:prstGeom>
          <a:noFill/>
        </p:spPr>
        <p:txBody>
          <a:bodyPr wrap="square" rtlCol="0">
            <a:spAutoFit/>
          </a:bodyPr>
          <a:lstStyle/>
          <a:p>
            <a:r>
              <a:rPr lang="en-US" altLang="ko-KR" sz="2800" b="1" dirty="0">
                <a:solidFill>
                  <a:schemeClr val="accent1"/>
                </a:solidFill>
                <a:latin typeface="+mj-lt"/>
                <a:cs typeface="Arial" pitchFamily="34" charset="0"/>
              </a:rPr>
              <a:t>Exploratory Data Analysis:</a:t>
            </a:r>
          </a:p>
          <a:p>
            <a:r>
              <a:rPr lang="en-US" altLang="ko-KR" sz="2000" b="1" dirty="0">
                <a:solidFill>
                  <a:schemeClr val="accent1"/>
                </a:solidFill>
                <a:latin typeface="+mj-lt"/>
                <a:cs typeface="Arial" pitchFamily="34" charset="0"/>
              </a:rPr>
              <a:t>Insights </a:t>
            </a:r>
            <a:r>
              <a:rPr lang="en-US" altLang="ko-KR" sz="2000" b="1" dirty="0">
                <a:solidFill>
                  <a:schemeClr val="bg1"/>
                </a:solidFill>
                <a:latin typeface="+mj-lt"/>
                <a:cs typeface="Arial" pitchFamily="34" charset="0"/>
              </a:rPr>
              <a:t>and Visualizations.</a:t>
            </a:r>
          </a:p>
        </p:txBody>
      </p:sp>
      <p:sp>
        <p:nvSpPr>
          <p:cNvPr id="16" name="TextBox 15">
            <a:extLst>
              <a:ext uri="{FF2B5EF4-FFF2-40B4-BE49-F238E27FC236}">
                <a16:creationId xmlns:a16="http://schemas.microsoft.com/office/drawing/2014/main" id="{C048F2D0-B8C4-4023-81B9-84C295B5C51D}"/>
              </a:ext>
            </a:extLst>
          </p:cNvPr>
          <p:cNvSpPr txBox="1"/>
          <p:nvPr/>
        </p:nvSpPr>
        <p:spPr>
          <a:xfrm>
            <a:off x="7137288" y="1928145"/>
            <a:ext cx="3726342" cy="954107"/>
          </a:xfrm>
          <a:prstGeom prst="rect">
            <a:avLst/>
          </a:prstGeom>
          <a:noFill/>
        </p:spPr>
        <p:txBody>
          <a:bodyPr wrap="square" rtlCol="0">
            <a:spAutoFit/>
          </a:bodyPr>
          <a:lstStyle/>
          <a:p>
            <a:r>
              <a:rPr lang="en-US" altLang="ko-KR" sz="1400" b="1" dirty="0">
                <a:solidFill>
                  <a:schemeClr val="bg1"/>
                </a:solidFill>
                <a:cs typeface="Arial" pitchFamily="34" charset="0"/>
              </a:rPr>
              <a:t>Insights are generated through exploratory Data Analysis done to help the stakeholders of the bank make informed business decision to increase revenue.</a:t>
            </a:r>
            <a:endParaRPr lang="ko-KR" altLang="en-US" sz="1400" b="1" dirty="0">
              <a:solidFill>
                <a:schemeClr val="bg1"/>
              </a:solidFill>
              <a:cs typeface="Arial" pitchFamily="34" charset="0"/>
            </a:endParaRPr>
          </a:p>
        </p:txBody>
      </p:sp>
      <p:grpSp>
        <p:nvGrpSpPr>
          <p:cNvPr id="20" name="Group 16">
            <a:extLst>
              <a:ext uri="{FF2B5EF4-FFF2-40B4-BE49-F238E27FC236}">
                <a16:creationId xmlns:a16="http://schemas.microsoft.com/office/drawing/2014/main" id="{9DD8CF41-AC68-49C5-B501-C386F2417967}"/>
              </a:ext>
            </a:extLst>
          </p:cNvPr>
          <p:cNvGrpSpPr/>
          <p:nvPr/>
        </p:nvGrpSpPr>
        <p:grpSpPr>
          <a:xfrm>
            <a:off x="7266973" y="1682332"/>
            <a:ext cx="1080120" cy="116632"/>
            <a:chOff x="4031940" y="0"/>
            <a:chExt cx="1080120" cy="116632"/>
          </a:xfrm>
        </p:grpSpPr>
        <p:sp>
          <p:nvSpPr>
            <p:cNvPr id="21" name="Rectangle 17">
              <a:extLst>
                <a:ext uri="{FF2B5EF4-FFF2-40B4-BE49-F238E27FC236}">
                  <a16:creationId xmlns:a16="http://schemas.microsoft.com/office/drawing/2014/main" id="{E02A963C-7EAF-4741-860C-3C681F1A0E46}"/>
                </a:ext>
              </a:extLst>
            </p:cNvPr>
            <p:cNvSpPr/>
            <p:nvPr userDrawn="1"/>
          </p:nvSpPr>
          <p:spPr>
            <a:xfrm>
              <a:off x="4031940" y="0"/>
              <a:ext cx="1080120" cy="1166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18">
              <a:extLst>
                <a:ext uri="{FF2B5EF4-FFF2-40B4-BE49-F238E27FC236}">
                  <a16:creationId xmlns:a16="http://schemas.microsoft.com/office/drawing/2014/main" id="{1E72FBC4-79D2-4B95-AB18-202CE8532F64}"/>
                </a:ext>
              </a:extLst>
            </p:cNvPr>
            <p:cNvSpPr/>
            <p:nvPr userDrawn="1"/>
          </p:nvSpPr>
          <p:spPr>
            <a:xfrm>
              <a:off x="4572000" y="0"/>
              <a:ext cx="540000" cy="1166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TextBox 16">
            <a:extLst>
              <a:ext uri="{FF2B5EF4-FFF2-40B4-BE49-F238E27FC236}">
                <a16:creationId xmlns:a16="http://schemas.microsoft.com/office/drawing/2014/main" id="{A457A603-8EA2-4507-9741-8E572AEBCF2F}"/>
              </a:ext>
            </a:extLst>
          </p:cNvPr>
          <p:cNvSpPr txBox="1"/>
          <p:nvPr/>
        </p:nvSpPr>
        <p:spPr>
          <a:xfrm>
            <a:off x="0" y="0"/>
            <a:ext cx="809625"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5</a:t>
            </a:r>
          </a:p>
        </p:txBody>
      </p:sp>
      <p:sp>
        <p:nvSpPr>
          <p:cNvPr id="38" name="TextBox 37">
            <a:extLst>
              <a:ext uri="{FF2B5EF4-FFF2-40B4-BE49-F238E27FC236}">
                <a16:creationId xmlns:a16="http://schemas.microsoft.com/office/drawing/2014/main" id="{3501BD64-6B09-1088-6A1F-844827C59146}"/>
              </a:ext>
            </a:extLst>
          </p:cNvPr>
          <p:cNvSpPr txBox="1"/>
          <p:nvPr/>
        </p:nvSpPr>
        <p:spPr>
          <a:xfrm>
            <a:off x="0" y="3705508"/>
            <a:ext cx="809625"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6</a:t>
            </a:r>
          </a:p>
        </p:txBody>
      </p:sp>
      <p:sp>
        <p:nvSpPr>
          <p:cNvPr id="39" name="TextBox 38">
            <a:extLst>
              <a:ext uri="{FF2B5EF4-FFF2-40B4-BE49-F238E27FC236}">
                <a16:creationId xmlns:a16="http://schemas.microsoft.com/office/drawing/2014/main" id="{ABA9454A-0211-DA03-2176-41789F3FF1F1}"/>
              </a:ext>
            </a:extLst>
          </p:cNvPr>
          <p:cNvSpPr txBox="1"/>
          <p:nvPr/>
        </p:nvSpPr>
        <p:spPr>
          <a:xfrm>
            <a:off x="11345740" y="3292138"/>
            <a:ext cx="483878"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5</a:t>
            </a:r>
          </a:p>
        </p:txBody>
      </p:sp>
      <p:grpSp>
        <p:nvGrpSpPr>
          <p:cNvPr id="40" name="그룹 3">
            <a:extLst>
              <a:ext uri="{FF2B5EF4-FFF2-40B4-BE49-F238E27FC236}">
                <a16:creationId xmlns:a16="http://schemas.microsoft.com/office/drawing/2014/main" id="{2C75943D-4898-C2DB-5EB3-C28330A41F27}"/>
              </a:ext>
            </a:extLst>
          </p:cNvPr>
          <p:cNvGrpSpPr/>
          <p:nvPr/>
        </p:nvGrpSpPr>
        <p:grpSpPr>
          <a:xfrm>
            <a:off x="6480951" y="3152462"/>
            <a:ext cx="703228" cy="601341"/>
            <a:chOff x="9017332" y="4660057"/>
            <a:chExt cx="1116529" cy="741016"/>
          </a:xfrm>
        </p:grpSpPr>
        <p:grpSp>
          <p:nvGrpSpPr>
            <p:cNvPr id="41" name="그룹 106">
              <a:extLst>
                <a:ext uri="{FF2B5EF4-FFF2-40B4-BE49-F238E27FC236}">
                  <a16:creationId xmlns:a16="http://schemas.microsoft.com/office/drawing/2014/main" id="{07DD6955-8F5D-D740-1C92-AD756E0587D7}"/>
                </a:ext>
              </a:extLst>
            </p:cNvPr>
            <p:cNvGrpSpPr/>
            <p:nvPr/>
          </p:nvGrpSpPr>
          <p:grpSpPr>
            <a:xfrm>
              <a:off x="9017332" y="4660057"/>
              <a:ext cx="1116529" cy="741016"/>
              <a:chOff x="8890504" y="1819747"/>
              <a:chExt cx="2424749" cy="1609253"/>
            </a:xfrm>
          </p:grpSpPr>
          <p:sp>
            <p:nvSpPr>
              <p:cNvPr id="43" name="사각형: 둥근 모서리 108">
                <a:extLst>
                  <a:ext uri="{FF2B5EF4-FFF2-40B4-BE49-F238E27FC236}">
                    <a16:creationId xmlns:a16="http://schemas.microsoft.com/office/drawing/2014/main" id="{0315B77B-0882-86D5-36CE-96855EE3F3AF}"/>
                  </a:ext>
                </a:extLst>
              </p:cNvPr>
              <p:cNvSpPr/>
              <p:nvPr/>
            </p:nvSpPr>
            <p:spPr>
              <a:xfrm>
                <a:off x="8890504" y="1819747"/>
                <a:ext cx="2338544" cy="160925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사각형: 둥근 모서리 109">
                <a:extLst>
                  <a:ext uri="{FF2B5EF4-FFF2-40B4-BE49-F238E27FC236}">
                    <a16:creationId xmlns:a16="http://schemas.microsoft.com/office/drawing/2014/main" id="{4E7BD0B9-4F03-DF2A-D550-563F5B8A0A4E}"/>
                  </a:ext>
                </a:extLst>
              </p:cNvPr>
              <p:cNvSpPr/>
              <p:nvPr/>
            </p:nvSpPr>
            <p:spPr>
              <a:xfrm>
                <a:off x="9000521" y="1954285"/>
                <a:ext cx="2118510" cy="1340176"/>
              </a:xfrm>
              <a:prstGeom prst="roundRect">
                <a:avLst>
                  <a:gd name="adj" fmla="val 12614"/>
                </a:avLst>
              </a:prstGeom>
              <a:noFill/>
              <a:ln w="2222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사각형: 둥근 모서리 110">
                <a:extLst>
                  <a:ext uri="{FF2B5EF4-FFF2-40B4-BE49-F238E27FC236}">
                    <a16:creationId xmlns:a16="http://schemas.microsoft.com/office/drawing/2014/main" id="{33C943D5-1597-FCF5-AB52-E0A696BF2D07}"/>
                  </a:ext>
                </a:extLst>
              </p:cNvPr>
              <p:cNvSpPr/>
              <p:nvPr/>
            </p:nvSpPr>
            <p:spPr>
              <a:xfrm>
                <a:off x="10616628" y="2383996"/>
                <a:ext cx="698625" cy="480754"/>
              </a:xfrm>
              <a:prstGeom prst="roundRect">
                <a:avLst/>
              </a:prstGeom>
              <a:solidFill>
                <a:schemeClr val="accent4"/>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111">
                <a:extLst>
                  <a:ext uri="{FF2B5EF4-FFF2-40B4-BE49-F238E27FC236}">
                    <a16:creationId xmlns:a16="http://schemas.microsoft.com/office/drawing/2014/main" id="{D3CB3E51-22BB-DCB2-0127-E1BA0C033F00}"/>
                  </a:ext>
                </a:extLst>
              </p:cNvPr>
              <p:cNvSpPr/>
              <p:nvPr/>
            </p:nvSpPr>
            <p:spPr>
              <a:xfrm>
                <a:off x="10732612" y="2479518"/>
                <a:ext cx="289711" cy="28971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2" name="Block Arc 11">
              <a:extLst>
                <a:ext uri="{FF2B5EF4-FFF2-40B4-BE49-F238E27FC236}">
                  <a16:creationId xmlns:a16="http://schemas.microsoft.com/office/drawing/2014/main" id="{9EB991EA-6DD6-1D62-A50B-75BD90C0B989}"/>
                </a:ext>
              </a:extLst>
            </p:cNvPr>
            <p:cNvSpPr/>
            <p:nvPr/>
          </p:nvSpPr>
          <p:spPr>
            <a:xfrm>
              <a:off x="9415738" y="4824489"/>
              <a:ext cx="255069" cy="415030"/>
            </a:xfrm>
            <a:custGeom>
              <a:avLst/>
              <a:gdLst/>
              <a:ahLst/>
              <a:cxnLst/>
              <a:rect l="l" t="t" r="r" b="b"/>
              <a:pathLst>
                <a:path w="3636337" h="7138182">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7" name="TextBox 46">
            <a:extLst>
              <a:ext uri="{FF2B5EF4-FFF2-40B4-BE49-F238E27FC236}">
                <a16:creationId xmlns:a16="http://schemas.microsoft.com/office/drawing/2014/main" id="{C7546147-B4CF-EB4D-9F78-9744596AA8A7}"/>
              </a:ext>
            </a:extLst>
          </p:cNvPr>
          <p:cNvSpPr txBox="1"/>
          <p:nvPr/>
        </p:nvSpPr>
        <p:spPr>
          <a:xfrm>
            <a:off x="7184179" y="4857974"/>
            <a:ext cx="3963735" cy="1015663"/>
          </a:xfrm>
          <a:prstGeom prst="rect">
            <a:avLst/>
          </a:prstGeom>
          <a:noFill/>
        </p:spPr>
        <p:txBody>
          <a:bodyPr wrap="square" rtlCol="0">
            <a:spAutoFit/>
          </a:bodyPr>
          <a:lstStyle/>
          <a:p>
            <a:r>
              <a:rPr lang="en-US" altLang="ko-KR" sz="1200" dirty="0">
                <a:solidFill>
                  <a:schemeClr val="bg1"/>
                </a:solidFill>
                <a:cs typeface="Arial" pitchFamily="34" charset="0"/>
              </a:rPr>
              <a:t>Correlation analysis was done to show the relationships between variables(features) and how close they are to either 0 or 1. We can see that balance before and balance after transactions is 1, that gives a likelihood of fraud compare to others.</a:t>
            </a:r>
          </a:p>
        </p:txBody>
      </p:sp>
      <p:sp>
        <p:nvSpPr>
          <p:cNvPr id="48" name="TextBox 47">
            <a:extLst>
              <a:ext uri="{FF2B5EF4-FFF2-40B4-BE49-F238E27FC236}">
                <a16:creationId xmlns:a16="http://schemas.microsoft.com/office/drawing/2014/main" id="{4E0C63E8-9A47-4AE5-AE1A-33304E4F2A41}"/>
              </a:ext>
            </a:extLst>
          </p:cNvPr>
          <p:cNvSpPr txBox="1"/>
          <p:nvPr/>
        </p:nvSpPr>
        <p:spPr>
          <a:xfrm>
            <a:off x="8678072" y="4361821"/>
            <a:ext cx="487974" cy="461665"/>
          </a:xfrm>
          <a:prstGeom prst="rect">
            <a:avLst/>
          </a:prstGeom>
          <a:solidFill>
            <a:schemeClr val="bg1">
              <a:lumMod val="85000"/>
            </a:schemeClr>
          </a:solidFill>
        </p:spPr>
        <p:txBody>
          <a:bodyPr wrap="square" lIns="108000" rIns="108000" rtlCol="0">
            <a:spAutoFit/>
          </a:bodyPr>
          <a:lstStyle/>
          <a:p>
            <a:pPr algn="ctr"/>
            <a:r>
              <a:rPr lang="en-US" altLang="ko-KR" sz="2400" b="1" dirty="0">
                <a:solidFill>
                  <a:schemeClr val="tx1">
                    <a:lumMod val="95000"/>
                    <a:lumOff val="5000"/>
                  </a:schemeClr>
                </a:solidFill>
                <a:cs typeface="Arial" pitchFamily="34" charset="0"/>
              </a:rPr>
              <a:t>6</a:t>
            </a:r>
          </a:p>
        </p:txBody>
      </p:sp>
      <p:grpSp>
        <p:nvGrpSpPr>
          <p:cNvPr id="49" name="그룹 5">
            <a:extLst>
              <a:ext uri="{FF2B5EF4-FFF2-40B4-BE49-F238E27FC236}">
                <a16:creationId xmlns:a16="http://schemas.microsoft.com/office/drawing/2014/main" id="{D89E445E-E0D5-98E3-8CF3-EFC82A1528E6}"/>
              </a:ext>
            </a:extLst>
          </p:cNvPr>
          <p:cNvGrpSpPr/>
          <p:nvPr/>
        </p:nvGrpSpPr>
        <p:grpSpPr>
          <a:xfrm>
            <a:off x="6480951" y="4882081"/>
            <a:ext cx="612874" cy="601341"/>
            <a:chOff x="2460435" y="1380960"/>
            <a:chExt cx="914400" cy="914400"/>
          </a:xfrm>
        </p:grpSpPr>
        <p:sp>
          <p:nvSpPr>
            <p:cNvPr id="50" name="타원 4">
              <a:extLst>
                <a:ext uri="{FF2B5EF4-FFF2-40B4-BE49-F238E27FC236}">
                  <a16:creationId xmlns:a16="http://schemas.microsoft.com/office/drawing/2014/main" id="{7A7420A8-A556-6EDD-E06D-CBFA337A1D5C}"/>
                </a:ext>
              </a:extLst>
            </p:cNvPr>
            <p:cNvSpPr/>
            <p:nvPr/>
          </p:nvSpPr>
          <p:spPr>
            <a:xfrm>
              <a:off x="2460435" y="1380960"/>
              <a:ext cx="914400" cy="914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타원 105">
              <a:extLst>
                <a:ext uri="{FF2B5EF4-FFF2-40B4-BE49-F238E27FC236}">
                  <a16:creationId xmlns:a16="http://schemas.microsoft.com/office/drawing/2014/main" id="{799319E1-CB4A-495B-E663-09AF6F18DC7B}"/>
                </a:ext>
              </a:extLst>
            </p:cNvPr>
            <p:cNvSpPr/>
            <p:nvPr/>
          </p:nvSpPr>
          <p:spPr>
            <a:xfrm>
              <a:off x="2529738" y="1453602"/>
              <a:ext cx="778252" cy="778252"/>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Block Arc 11">
              <a:extLst>
                <a:ext uri="{FF2B5EF4-FFF2-40B4-BE49-F238E27FC236}">
                  <a16:creationId xmlns:a16="http://schemas.microsoft.com/office/drawing/2014/main" id="{E938EBEB-3758-3210-AF38-1EA372CAE778}"/>
                </a:ext>
              </a:extLst>
            </p:cNvPr>
            <p:cNvSpPr/>
            <p:nvPr/>
          </p:nvSpPr>
          <p:spPr>
            <a:xfrm>
              <a:off x="2761961" y="1573266"/>
              <a:ext cx="311347" cy="506602"/>
            </a:xfrm>
            <a:custGeom>
              <a:avLst/>
              <a:gdLst/>
              <a:ahLst/>
              <a:cxnLst/>
              <a:rect l="l" t="t" r="r" b="b"/>
              <a:pathLst>
                <a:path w="3636337" h="7138182">
                  <a:moveTo>
                    <a:pt x="1563551" y="3029061"/>
                  </a:moveTo>
                  <a:lnTo>
                    <a:pt x="1563551" y="1171769"/>
                  </a:lnTo>
                  <a:cubicBezTo>
                    <a:pt x="1444523" y="1201084"/>
                    <a:pt x="1330799" y="1254073"/>
                    <a:pt x="1228219" y="1328453"/>
                  </a:cubicBezTo>
                  <a:cubicBezTo>
                    <a:pt x="927220" y="1546705"/>
                    <a:pt x="771440" y="1913395"/>
                    <a:pt x="823311" y="2281559"/>
                  </a:cubicBezTo>
                  <a:cubicBezTo>
                    <a:pt x="886035" y="2761950"/>
                    <a:pt x="1181988" y="2923981"/>
                    <a:pt x="1563551" y="3029061"/>
                  </a:cubicBezTo>
                  <a:close/>
                  <a:moveTo>
                    <a:pt x="2056123" y="5971053"/>
                  </a:moveTo>
                  <a:cubicBezTo>
                    <a:pt x="2180706" y="5941789"/>
                    <a:pt x="2300029" y="5887431"/>
                    <a:pt x="2407191" y="5809729"/>
                  </a:cubicBezTo>
                  <a:cubicBezTo>
                    <a:pt x="2708190" y="5591477"/>
                    <a:pt x="2863970" y="5224787"/>
                    <a:pt x="2812099" y="4856623"/>
                  </a:cubicBezTo>
                  <a:cubicBezTo>
                    <a:pt x="2712300" y="4365494"/>
                    <a:pt x="2419393" y="4148018"/>
                    <a:pt x="2056123" y="4007016"/>
                  </a:cubicBezTo>
                  <a:close/>
                  <a:moveTo>
                    <a:pt x="2056123" y="7138182"/>
                  </a:moveTo>
                  <a:lnTo>
                    <a:pt x="1563551" y="7138182"/>
                  </a:lnTo>
                  <a:lnTo>
                    <a:pt x="1563551" y="6796553"/>
                  </a:lnTo>
                  <a:cubicBezTo>
                    <a:pt x="1376287" y="6771102"/>
                    <a:pt x="1191751" y="6715291"/>
                    <a:pt x="1016794" y="6629471"/>
                  </a:cubicBezTo>
                  <a:cubicBezTo>
                    <a:pt x="412303" y="6332946"/>
                    <a:pt x="21102" y="5726704"/>
                    <a:pt x="0" y="5053734"/>
                  </a:cubicBezTo>
                  <a:lnTo>
                    <a:pt x="813973" y="5028205"/>
                  </a:lnTo>
                  <a:cubicBezTo>
                    <a:pt x="825624" y="5399818"/>
                    <a:pt x="1041643" y="5734588"/>
                    <a:pt x="1375441" y="5898325"/>
                  </a:cubicBezTo>
                  <a:cubicBezTo>
                    <a:pt x="1436179" y="5928119"/>
                    <a:pt x="1499008" y="5951362"/>
                    <a:pt x="1563551" y="5965918"/>
                  </a:cubicBezTo>
                  <a:lnTo>
                    <a:pt x="1563551" y="3847635"/>
                  </a:lnTo>
                  <a:cubicBezTo>
                    <a:pt x="920238" y="3662345"/>
                    <a:pt x="233045" y="3450393"/>
                    <a:pt x="16852" y="2382091"/>
                  </a:cubicBezTo>
                  <a:cubicBezTo>
                    <a:pt x="-73403" y="1719933"/>
                    <a:pt x="208577" y="1061859"/>
                    <a:pt x="750173" y="669157"/>
                  </a:cubicBezTo>
                  <a:cubicBezTo>
                    <a:pt x="994931" y="491686"/>
                    <a:pt x="1274723" y="381458"/>
                    <a:pt x="1563551" y="341319"/>
                  </a:cubicBezTo>
                  <a:lnTo>
                    <a:pt x="1563551" y="0"/>
                  </a:lnTo>
                  <a:lnTo>
                    <a:pt x="2056123" y="0"/>
                  </a:lnTo>
                  <a:lnTo>
                    <a:pt x="2056123" y="339268"/>
                  </a:lnTo>
                  <a:cubicBezTo>
                    <a:pt x="2248752" y="363969"/>
                    <a:pt x="2438747" y="420481"/>
                    <a:pt x="2618616" y="508711"/>
                  </a:cubicBezTo>
                  <a:cubicBezTo>
                    <a:pt x="3223107" y="805237"/>
                    <a:pt x="3614308" y="1411478"/>
                    <a:pt x="3635410" y="2084448"/>
                  </a:cubicBezTo>
                  <a:lnTo>
                    <a:pt x="2821437" y="2109978"/>
                  </a:lnTo>
                  <a:cubicBezTo>
                    <a:pt x="2809786" y="1738364"/>
                    <a:pt x="2593767" y="1403594"/>
                    <a:pt x="2259969" y="1239857"/>
                  </a:cubicBezTo>
                  <a:cubicBezTo>
                    <a:pt x="2194243" y="1207617"/>
                    <a:pt x="2126069" y="1183046"/>
                    <a:pt x="2056123" y="1168235"/>
                  </a:cubicBezTo>
                  <a:lnTo>
                    <a:pt x="2056123" y="3150890"/>
                  </a:lnTo>
                  <a:cubicBezTo>
                    <a:pt x="2675271" y="3303511"/>
                    <a:pt x="3347939" y="3564428"/>
                    <a:pt x="3618512" y="4743007"/>
                  </a:cubicBezTo>
                  <a:cubicBezTo>
                    <a:pt x="3712448" y="5409725"/>
                    <a:pt x="3430336" y="6073786"/>
                    <a:pt x="2885237" y="6469025"/>
                  </a:cubicBezTo>
                  <a:cubicBezTo>
                    <a:pt x="2636047" y="6649712"/>
                    <a:pt x="2350538" y="6760700"/>
                    <a:pt x="2056123" y="679874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pic>
        <p:nvPicPr>
          <p:cNvPr id="3074" name="Picture 2">
            <a:extLst>
              <a:ext uri="{FF2B5EF4-FFF2-40B4-BE49-F238E27FC236}">
                <a16:creationId xmlns:a16="http://schemas.microsoft.com/office/drawing/2014/main" id="{409510F0-4770-2343-0D93-2BF98D6F01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546" y="69010"/>
            <a:ext cx="6010275" cy="31718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5B8ABC0-38FA-EF49-6096-A4B659F6D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25" y="3336085"/>
            <a:ext cx="5467956" cy="352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7433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4">
            <a:extLst>
              <a:ext uri="{FF2B5EF4-FFF2-40B4-BE49-F238E27FC236}">
                <a16:creationId xmlns:a16="http://schemas.microsoft.com/office/drawing/2014/main" id="{EDF61D33-4A35-4270-8B99-97C24306BAC7}"/>
              </a:ext>
            </a:extLst>
          </p:cNvPr>
          <p:cNvGrpSpPr/>
          <p:nvPr/>
        </p:nvGrpSpPr>
        <p:grpSpPr>
          <a:xfrm>
            <a:off x="753703" y="1758643"/>
            <a:ext cx="3060000" cy="72000"/>
            <a:chOff x="3843032" y="6553200"/>
            <a:chExt cx="2066410" cy="87086"/>
          </a:xfrm>
        </p:grpSpPr>
        <p:sp>
          <p:nvSpPr>
            <p:cNvPr id="23" name="Rectangle 5">
              <a:extLst>
                <a:ext uri="{FF2B5EF4-FFF2-40B4-BE49-F238E27FC236}">
                  <a16:creationId xmlns:a16="http://schemas.microsoft.com/office/drawing/2014/main" id="{65FEB13D-1C2A-443B-B032-6F54F6755F7A}"/>
                </a:ext>
              </a:extLst>
            </p:cNvPr>
            <p:cNvSpPr/>
            <p:nvPr userDrawn="1"/>
          </p:nvSpPr>
          <p:spPr>
            <a:xfrm flipV="1">
              <a:off x="3843032" y="6553200"/>
              <a:ext cx="413282" cy="87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latin typeface="+mn-lt"/>
              </a:endParaRPr>
            </a:p>
          </p:txBody>
        </p:sp>
        <p:sp>
          <p:nvSpPr>
            <p:cNvPr id="24" name="Rectangle 6">
              <a:extLst>
                <a:ext uri="{FF2B5EF4-FFF2-40B4-BE49-F238E27FC236}">
                  <a16:creationId xmlns:a16="http://schemas.microsoft.com/office/drawing/2014/main" id="{AA23143B-BCB0-479F-A03D-1AC75006E034}"/>
                </a:ext>
              </a:extLst>
            </p:cNvPr>
            <p:cNvSpPr/>
            <p:nvPr userDrawn="1"/>
          </p:nvSpPr>
          <p:spPr>
            <a:xfrm flipV="1">
              <a:off x="4256314" y="6553200"/>
              <a:ext cx="413282" cy="870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latin typeface="+mn-lt"/>
              </a:endParaRPr>
            </a:p>
          </p:txBody>
        </p:sp>
        <p:sp>
          <p:nvSpPr>
            <p:cNvPr id="27" name="Rectangle 7">
              <a:extLst>
                <a:ext uri="{FF2B5EF4-FFF2-40B4-BE49-F238E27FC236}">
                  <a16:creationId xmlns:a16="http://schemas.microsoft.com/office/drawing/2014/main" id="{45959AAE-9C52-4AD5-8D0E-40BAFCF882E1}"/>
                </a:ext>
              </a:extLst>
            </p:cNvPr>
            <p:cNvSpPr/>
            <p:nvPr userDrawn="1"/>
          </p:nvSpPr>
          <p:spPr>
            <a:xfrm flipV="1">
              <a:off x="4669596" y="6553200"/>
              <a:ext cx="413282" cy="870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latin typeface="+mn-lt"/>
              </a:endParaRPr>
            </a:p>
          </p:txBody>
        </p:sp>
        <p:sp>
          <p:nvSpPr>
            <p:cNvPr id="30" name="Rectangle 8">
              <a:extLst>
                <a:ext uri="{FF2B5EF4-FFF2-40B4-BE49-F238E27FC236}">
                  <a16:creationId xmlns:a16="http://schemas.microsoft.com/office/drawing/2014/main" id="{3367DF70-327C-4A41-A621-865F38E49DDF}"/>
                </a:ext>
              </a:extLst>
            </p:cNvPr>
            <p:cNvSpPr/>
            <p:nvPr userDrawn="1"/>
          </p:nvSpPr>
          <p:spPr>
            <a:xfrm flipV="1">
              <a:off x="5082878" y="6553200"/>
              <a:ext cx="413282" cy="870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latin typeface="+mn-lt"/>
              </a:endParaRPr>
            </a:p>
          </p:txBody>
        </p:sp>
        <p:sp>
          <p:nvSpPr>
            <p:cNvPr id="33" name="Rectangle 9">
              <a:extLst>
                <a:ext uri="{FF2B5EF4-FFF2-40B4-BE49-F238E27FC236}">
                  <a16:creationId xmlns:a16="http://schemas.microsoft.com/office/drawing/2014/main" id="{F1A47574-C4DB-4D5E-83B8-F42460579926}"/>
                </a:ext>
              </a:extLst>
            </p:cNvPr>
            <p:cNvSpPr/>
            <p:nvPr userDrawn="1"/>
          </p:nvSpPr>
          <p:spPr>
            <a:xfrm flipV="1">
              <a:off x="5496160" y="6553200"/>
              <a:ext cx="413282" cy="8708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latin typeface="+mn-lt"/>
              </a:endParaRPr>
            </a:p>
          </p:txBody>
        </p:sp>
      </p:grpSp>
      <p:sp>
        <p:nvSpPr>
          <p:cNvPr id="13" name="TextBox 12"/>
          <p:cNvSpPr txBox="1"/>
          <p:nvPr/>
        </p:nvSpPr>
        <p:spPr>
          <a:xfrm flipH="1">
            <a:off x="992285" y="538469"/>
            <a:ext cx="2821418" cy="1200329"/>
          </a:xfrm>
          <a:prstGeom prst="rect">
            <a:avLst/>
          </a:prstGeom>
          <a:noFill/>
        </p:spPr>
        <p:txBody>
          <a:bodyPr wrap="square" rtlCol="0">
            <a:spAutoFit/>
          </a:bodyPr>
          <a:lstStyle/>
          <a:p>
            <a:pPr algn="r"/>
            <a:r>
              <a:rPr lang="en-US" altLang="ko-KR" sz="2400" b="1" dirty="0">
                <a:solidFill>
                  <a:schemeClr val="bg1"/>
                </a:solidFill>
                <a:latin typeface="+mj-lt"/>
                <a:cs typeface="Arial" pitchFamily="34" charset="0"/>
              </a:rPr>
              <a:t>Features Engineering and Confusion Matrix</a:t>
            </a:r>
          </a:p>
        </p:txBody>
      </p:sp>
      <p:sp>
        <p:nvSpPr>
          <p:cNvPr id="25" name="TextBox 24"/>
          <p:cNvSpPr txBox="1"/>
          <p:nvPr/>
        </p:nvSpPr>
        <p:spPr>
          <a:xfrm>
            <a:off x="295275" y="1896655"/>
            <a:ext cx="3676651" cy="1754326"/>
          </a:xfrm>
          <a:prstGeom prst="rect">
            <a:avLst/>
          </a:prstGeom>
          <a:noFill/>
        </p:spPr>
        <p:txBody>
          <a:bodyPr wrap="square" rtlCol="0">
            <a:spAutoFit/>
          </a:bodyPr>
          <a:lstStyle/>
          <a:p>
            <a:pPr algn="r"/>
            <a:r>
              <a:rPr lang="en-US" altLang="ko-KR" sz="1200" dirty="0">
                <a:solidFill>
                  <a:schemeClr val="bg1"/>
                </a:solidFill>
                <a:cs typeface="Arial" pitchFamily="34" charset="0"/>
              </a:rPr>
              <a:t>Feature importance shows how much each features or variables will contribute to the model prediction, and we can see that step has a larger relevance followed by balance before transaction in that order.</a:t>
            </a:r>
          </a:p>
          <a:p>
            <a:pPr algn="r"/>
            <a:endParaRPr lang="en-US" altLang="ko-KR" sz="1200" dirty="0">
              <a:solidFill>
                <a:schemeClr val="bg1"/>
              </a:solidFill>
              <a:cs typeface="Arial" pitchFamily="34" charset="0"/>
            </a:endParaRPr>
          </a:p>
          <a:p>
            <a:pPr algn="r"/>
            <a:r>
              <a:rPr lang="en-US" altLang="ko-KR" sz="1200" dirty="0">
                <a:solidFill>
                  <a:schemeClr val="bg1"/>
                </a:solidFill>
                <a:cs typeface="Arial" pitchFamily="34" charset="0"/>
              </a:rPr>
              <a:t>Confusion matrix shows the performance of a classification model on a given set for which true values are known.</a:t>
            </a:r>
          </a:p>
        </p:txBody>
      </p:sp>
      <p:pic>
        <p:nvPicPr>
          <p:cNvPr id="4098" name="Picture 2">
            <a:extLst>
              <a:ext uri="{FF2B5EF4-FFF2-40B4-BE49-F238E27FC236}">
                <a16:creationId xmlns:a16="http://schemas.microsoft.com/office/drawing/2014/main" id="{5CADF384-7088-AA14-B454-08B5DE1701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39" y="3711007"/>
            <a:ext cx="3669864" cy="286124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FB875297-8E45-94E2-F82E-D60464989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6753" y="1501289"/>
            <a:ext cx="2918708" cy="21020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AE961F0D-9138-23B0-4532-09DFD27200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6753" y="4776207"/>
            <a:ext cx="2825199" cy="2034729"/>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57721E7F-9344-C976-5A4A-DD7829195A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3947" y="4729312"/>
            <a:ext cx="2825199" cy="203472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BE9D099-8324-B5E5-6FCB-25A9D5DAB4FD}"/>
              </a:ext>
            </a:extLst>
          </p:cNvPr>
          <p:cNvSpPr txBox="1"/>
          <p:nvPr/>
        </p:nvSpPr>
        <p:spPr>
          <a:xfrm>
            <a:off x="8204524" y="243641"/>
            <a:ext cx="387764" cy="400110"/>
          </a:xfrm>
          <a:prstGeom prst="rect">
            <a:avLst/>
          </a:prstGeom>
          <a:solidFill>
            <a:schemeClr val="bg1">
              <a:lumMod val="85000"/>
            </a:schemeClr>
          </a:solid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1</a:t>
            </a:r>
          </a:p>
        </p:txBody>
      </p:sp>
      <p:sp>
        <p:nvSpPr>
          <p:cNvPr id="9" name="TextBox 8">
            <a:extLst>
              <a:ext uri="{FF2B5EF4-FFF2-40B4-BE49-F238E27FC236}">
                <a16:creationId xmlns:a16="http://schemas.microsoft.com/office/drawing/2014/main" id="{C96071EA-DED7-5ED8-D231-B934F1A2E521}"/>
              </a:ext>
            </a:extLst>
          </p:cNvPr>
          <p:cNvSpPr txBox="1"/>
          <p:nvPr/>
        </p:nvSpPr>
        <p:spPr>
          <a:xfrm>
            <a:off x="8156228" y="3445239"/>
            <a:ext cx="436060" cy="400110"/>
          </a:xfrm>
          <a:prstGeom prst="rect">
            <a:avLst/>
          </a:prstGeom>
          <a:solidFill>
            <a:schemeClr val="bg1">
              <a:lumMod val="85000"/>
            </a:schemeClr>
          </a:solid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2</a:t>
            </a:r>
          </a:p>
        </p:txBody>
      </p:sp>
      <p:sp>
        <p:nvSpPr>
          <p:cNvPr id="10" name="TextBox 9">
            <a:extLst>
              <a:ext uri="{FF2B5EF4-FFF2-40B4-BE49-F238E27FC236}">
                <a16:creationId xmlns:a16="http://schemas.microsoft.com/office/drawing/2014/main" id="{2B61CA86-E749-7E1E-A509-4045C7946ADE}"/>
              </a:ext>
            </a:extLst>
          </p:cNvPr>
          <p:cNvSpPr txBox="1"/>
          <p:nvPr/>
        </p:nvSpPr>
        <p:spPr>
          <a:xfrm>
            <a:off x="4395635" y="132624"/>
            <a:ext cx="387374" cy="405845"/>
          </a:xfrm>
          <a:prstGeom prst="rect">
            <a:avLst/>
          </a:prstGeom>
          <a:solidFill>
            <a:schemeClr val="bg1">
              <a:lumMod val="85000"/>
            </a:schemeClr>
          </a:solid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4</a:t>
            </a:r>
          </a:p>
        </p:txBody>
      </p:sp>
      <p:sp>
        <p:nvSpPr>
          <p:cNvPr id="11" name="TextBox 10">
            <a:extLst>
              <a:ext uri="{FF2B5EF4-FFF2-40B4-BE49-F238E27FC236}">
                <a16:creationId xmlns:a16="http://schemas.microsoft.com/office/drawing/2014/main" id="{F5BAB731-AF75-EDD9-C683-6484A3E4AC53}"/>
              </a:ext>
            </a:extLst>
          </p:cNvPr>
          <p:cNvSpPr txBox="1"/>
          <p:nvPr/>
        </p:nvSpPr>
        <p:spPr>
          <a:xfrm>
            <a:off x="4315921" y="3389942"/>
            <a:ext cx="467088" cy="400110"/>
          </a:xfrm>
          <a:prstGeom prst="rect">
            <a:avLst/>
          </a:prstGeom>
          <a:solidFill>
            <a:schemeClr val="bg1">
              <a:lumMod val="85000"/>
            </a:schemeClr>
          </a:solidFill>
        </p:spPr>
        <p:txBody>
          <a:bodyPr wrap="square" lIns="108000" rIns="108000" rtlCol="0">
            <a:spAutoFit/>
          </a:bodyPr>
          <a:lstStyle/>
          <a:p>
            <a:pPr algn="ctr"/>
            <a:r>
              <a:rPr lang="en-US" altLang="ko-KR" sz="2000" b="1" dirty="0">
                <a:solidFill>
                  <a:schemeClr val="tx1">
                    <a:lumMod val="95000"/>
                    <a:lumOff val="5000"/>
                  </a:schemeClr>
                </a:solidFill>
                <a:cs typeface="Arial" pitchFamily="34" charset="0"/>
              </a:rPr>
              <a:t>3</a:t>
            </a:r>
          </a:p>
        </p:txBody>
      </p:sp>
      <p:pic>
        <p:nvPicPr>
          <p:cNvPr id="4108" name="Picture 12">
            <a:extLst>
              <a:ext uri="{FF2B5EF4-FFF2-40B4-BE49-F238E27FC236}">
                <a16:creationId xmlns:a16="http://schemas.microsoft.com/office/drawing/2014/main" id="{6EB2EE81-89AB-EE50-5698-F66975FC64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4045" y="1326925"/>
            <a:ext cx="2918708" cy="21020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1F4BA12-E020-D4C7-69F6-FF02AA420B8C}"/>
              </a:ext>
            </a:extLst>
          </p:cNvPr>
          <p:cNvSpPr txBox="1"/>
          <p:nvPr/>
        </p:nvSpPr>
        <p:spPr>
          <a:xfrm>
            <a:off x="7708810" y="443696"/>
            <a:ext cx="3676651" cy="1015663"/>
          </a:xfrm>
          <a:prstGeom prst="rect">
            <a:avLst/>
          </a:prstGeom>
          <a:noFill/>
        </p:spPr>
        <p:txBody>
          <a:bodyPr wrap="square" rtlCol="0">
            <a:spAutoFit/>
          </a:bodyPr>
          <a:lstStyle/>
          <a:p>
            <a:pPr algn="r"/>
            <a:r>
              <a:rPr lang="en-US" altLang="ko-KR" sz="1200" dirty="0">
                <a:solidFill>
                  <a:schemeClr val="bg1"/>
                </a:solidFill>
                <a:cs typeface="Arial" pitchFamily="34" charset="0"/>
              </a:rPr>
              <a:t>A heatmap, show that fraud predicted</a:t>
            </a:r>
          </a:p>
          <a:p>
            <a:pPr algn="r"/>
            <a:r>
              <a:rPr lang="en-US" altLang="ko-KR" sz="1200" dirty="0">
                <a:solidFill>
                  <a:schemeClr val="bg1"/>
                </a:solidFill>
                <a:cs typeface="Arial" pitchFamily="34" charset="0"/>
              </a:rPr>
              <a:t>transactions using a logistic regression model has 99.9% accuracy with 152 truly fraud despite </a:t>
            </a:r>
          </a:p>
          <a:p>
            <a:pPr algn="r"/>
            <a:r>
              <a:rPr lang="en-US" altLang="ko-KR" sz="1200" dirty="0">
                <a:solidFill>
                  <a:schemeClr val="bg1"/>
                </a:solidFill>
                <a:cs typeface="Arial" pitchFamily="34" charset="0"/>
              </a:rPr>
              <a:t>FN = 209427 out of 79 predicted to be Fraud but 57 is Not fraud.</a:t>
            </a:r>
          </a:p>
        </p:txBody>
      </p:sp>
      <p:sp>
        <p:nvSpPr>
          <p:cNvPr id="14" name="TextBox 13">
            <a:extLst>
              <a:ext uri="{FF2B5EF4-FFF2-40B4-BE49-F238E27FC236}">
                <a16:creationId xmlns:a16="http://schemas.microsoft.com/office/drawing/2014/main" id="{A40D6F2D-4F49-F029-667A-1A87D280D5FA}"/>
              </a:ext>
            </a:extLst>
          </p:cNvPr>
          <p:cNvSpPr txBox="1"/>
          <p:nvPr/>
        </p:nvSpPr>
        <p:spPr>
          <a:xfrm>
            <a:off x="3945073" y="3638486"/>
            <a:ext cx="3676651" cy="1015663"/>
          </a:xfrm>
          <a:prstGeom prst="rect">
            <a:avLst/>
          </a:prstGeom>
          <a:noFill/>
        </p:spPr>
        <p:txBody>
          <a:bodyPr wrap="square" rtlCol="0">
            <a:spAutoFit/>
          </a:bodyPr>
          <a:lstStyle/>
          <a:p>
            <a:pPr algn="r"/>
            <a:r>
              <a:rPr lang="en-US" altLang="ko-KR" sz="1200" dirty="0">
                <a:solidFill>
                  <a:schemeClr val="bg1"/>
                </a:solidFill>
                <a:cs typeface="Arial" pitchFamily="34" charset="0"/>
              </a:rPr>
              <a:t>A heatmap, show that fraud predicted</a:t>
            </a:r>
          </a:p>
          <a:p>
            <a:pPr algn="r"/>
            <a:r>
              <a:rPr lang="en-US" altLang="ko-KR" sz="1200" dirty="0">
                <a:solidFill>
                  <a:schemeClr val="bg1"/>
                </a:solidFill>
                <a:cs typeface="Arial" pitchFamily="34" charset="0"/>
              </a:rPr>
              <a:t>transactions using a Decision tree model has 99.965% accuracy with 51 truly fraud(TP) despite </a:t>
            </a:r>
          </a:p>
          <a:p>
            <a:pPr algn="r"/>
            <a:r>
              <a:rPr lang="en-US" altLang="ko-KR" sz="1200" dirty="0">
                <a:solidFill>
                  <a:schemeClr val="bg1"/>
                </a:solidFill>
                <a:cs typeface="Arial" pitchFamily="34" charset="0"/>
              </a:rPr>
              <a:t>FN = 209448 labelled to be True, TN = 180 are predicted to be fraud but FP = 36 is Not fraud .</a:t>
            </a:r>
          </a:p>
        </p:txBody>
      </p:sp>
      <p:sp>
        <p:nvSpPr>
          <p:cNvPr id="15" name="TextBox 14">
            <a:extLst>
              <a:ext uri="{FF2B5EF4-FFF2-40B4-BE49-F238E27FC236}">
                <a16:creationId xmlns:a16="http://schemas.microsoft.com/office/drawing/2014/main" id="{D5944B0E-2355-1A66-9E1A-4F5040AA26F6}"/>
              </a:ext>
            </a:extLst>
          </p:cNvPr>
          <p:cNvSpPr txBox="1"/>
          <p:nvPr/>
        </p:nvSpPr>
        <p:spPr>
          <a:xfrm>
            <a:off x="7806715" y="3645294"/>
            <a:ext cx="3676651" cy="1200329"/>
          </a:xfrm>
          <a:prstGeom prst="rect">
            <a:avLst/>
          </a:prstGeom>
          <a:noFill/>
        </p:spPr>
        <p:txBody>
          <a:bodyPr wrap="square" rtlCol="0">
            <a:spAutoFit/>
          </a:bodyPr>
          <a:lstStyle/>
          <a:p>
            <a:pPr algn="r"/>
            <a:r>
              <a:rPr lang="en-US" altLang="ko-KR" sz="1200" dirty="0">
                <a:solidFill>
                  <a:schemeClr val="bg1"/>
                </a:solidFill>
                <a:cs typeface="Arial" pitchFamily="34" charset="0"/>
              </a:rPr>
              <a:t>A heatmap, shows that fraud predicted</a:t>
            </a:r>
          </a:p>
          <a:p>
            <a:pPr algn="r"/>
            <a:r>
              <a:rPr lang="en-US" altLang="ko-KR" sz="1200" dirty="0">
                <a:solidFill>
                  <a:schemeClr val="bg1"/>
                </a:solidFill>
                <a:cs typeface="Arial" pitchFamily="34" charset="0"/>
              </a:rPr>
              <a:t>transactions using a Decision K-neighbors Classifier model has 99.994% accuracy with 109 truly fraud(TP) despite FN = 209464 labelled to be True, TN = 122 are predicted to be fraud but FP = 20 is Not fraud .</a:t>
            </a:r>
          </a:p>
        </p:txBody>
      </p:sp>
      <p:sp>
        <p:nvSpPr>
          <p:cNvPr id="16" name="TextBox 15">
            <a:extLst>
              <a:ext uri="{FF2B5EF4-FFF2-40B4-BE49-F238E27FC236}">
                <a16:creationId xmlns:a16="http://schemas.microsoft.com/office/drawing/2014/main" id="{2418A012-7E7C-AC09-B1DB-01FD7A02A46F}"/>
              </a:ext>
            </a:extLst>
          </p:cNvPr>
          <p:cNvSpPr txBox="1"/>
          <p:nvPr/>
        </p:nvSpPr>
        <p:spPr>
          <a:xfrm>
            <a:off x="3936377" y="305652"/>
            <a:ext cx="3676651" cy="1015663"/>
          </a:xfrm>
          <a:prstGeom prst="rect">
            <a:avLst/>
          </a:prstGeom>
          <a:noFill/>
        </p:spPr>
        <p:txBody>
          <a:bodyPr wrap="square" rtlCol="0">
            <a:spAutoFit/>
          </a:bodyPr>
          <a:lstStyle/>
          <a:p>
            <a:pPr algn="r"/>
            <a:r>
              <a:rPr lang="en-US" altLang="ko-KR" sz="1200" dirty="0">
                <a:solidFill>
                  <a:schemeClr val="bg1"/>
                </a:solidFill>
                <a:cs typeface="Arial" pitchFamily="34" charset="0"/>
              </a:rPr>
              <a:t>A heatmap, show that fraud predicted</a:t>
            </a:r>
          </a:p>
          <a:p>
            <a:pPr algn="r"/>
            <a:r>
              <a:rPr lang="en-US" altLang="ko-KR" sz="1200" dirty="0">
                <a:solidFill>
                  <a:schemeClr val="bg1"/>
                </a:solidFill>
                <a:cs typeface="Arial" pitchFamily="34" charset="0"/>
              </a:rPr>
              <a:t>transactions using a Random Forest model has 99.965% accuracy with 71 truly fraud(TP) despite </a:t>
            </a:r>
          </a:p>
          <a:p>
            <a:pPr algn="r"/>
            <a:r>
              <a:rPr lang="en-US" altLang="ko-KR" sz="1200" dirty="0">
                <a:solidFill>
                  <a:schemeClr val="bg1"/>
                </a:solidFill>
                <a:cs typeface="Arial" pitchFamily="34" charset="0"/>
              </a:rPr>
              <a:t>FN = 209483 labelled to be True, TN = 160 are predicted to be fraud but FP = 1 is Not fraud .</a:t>
            </a:r>
          </a:p>
        </p:txBody>
      </p:sp>
    </p:spTree>
    <p:extLst>
      <p:ext uri="{BB962C8B-B14F-4D97-AF65-F5344CB8AC3E}">
        <p14:creationId xmlns:p14="http://schemas.microsoft.com/office/powerpoint/2010/main" val="1081998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23C3CF8-AD2E-8186-DB25-749D7C23FB6A}"/>
              </a:ext>
            </a:extLst>
          </p:cNvPr>
          <p:cNvSpPr/>
          <p:nvPr/>
        </p:nvSpPr>
        <p:spPr>
          <a:xfrm>
            <a:off x="8933542" y="2236816"/>
            <a:ext cx="2358142" cy="39149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1" name="Rectangle 5">
            <a:extLst>
              <a:ext uri="{FF2B5EF4-FFF2-40B4-BE49-F238E27FC236}">
                <a16:creationId xmlns:a16="http://schemas.microsoft.com/office/drawing/2014/main" id="{D3F52E81-624C-468C-B1D3-DE4A35E9A5FC}"/>
              </a:ext>
            </a:extLst>
          </p:cNvPr>
          <p:cNvSpPr/>
          <p:nvPr/>
        </p:nvSpPr>
        <p:spPr>
          <a:xfrm>
            <a:off x="9774541" y="1887167"/>
            <a:ext cx="722300" cy="722298"/>
          </a:xfrm>
          <a:prstGeom prst="ellipse">
            <a:avLst/>
          </a:prstGeom>
          <a:solidFill>
            <a:schemeClr val="tx1"/>
          </a:soli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Rectangle 7">
            <a:extLst>
              <a:ext uri="{FF2B5EF4-FFF2-40B4-BE49-F238E27FC236}">
                <a16:creationId xmlns:a16="http://schemas.microsoft.com/office/drawing/2014/main" id="{CEE89C9E-1385-8E2F-43EB-62E7A02AB379}"/>
              </a:ext>
            </a:extLst>
          </p:cNvPr>
          <p:cNvSpPr/>
          <p:nvPr/>
        </p:nvSpPr>
        <p:spPr>
          <a:xfrm>
            <a:off x="6233710" y="2236816"/>
            <a:ext cx="2358142" cy="39149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Rectangle 5">
            <a:extLst>
              <a:ext uri="{FF2B5EF4-FFF2-40B4-BE49-F238E27FC236}">
                <a16:creationId xmlns:a16="http://schemas.microsoft.com/office/drawing/2014/main" id="{B2A16D84-488F-1264-67E7-76B1D663594A}"/>
              </a:ext>
            </a:extLst>
          </p:cNvPr>
          <p:cNvSpPr/>
          <p:nvPr/>
        </p:nvSpPr>
        <p:spPr>
          <a:xfrm>
            <a:off x="3547071" y="2248746"/>
            <a:ext cx="2358142" cy="39149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5">
            <a:extLst>
              <a:ext uri="{FF2B5EF4-FFF2-40B4-BE49-F238E27FC236}">
                <a16:creationId xmlns:a16="http://schemas.microsoft.com/office/drawing/2014/main" id="{4AE801A0-B0C2-44E7-A88A-F2741A1F0CB9}"/>
              </a:ext>
            </a:extLst>
          </p:cNvPr>
          <p:cNvSpPr/>
          <p:nvPr/>
        </p:nvSpPr>
        <p:spPr>
          <a:xfrm>
            <a:off x="4388288" y="1887167"/>
            <a:ext cx="722300" cy="722298"/>
          </a:xfrm>
          <a:prstGeom prst="ellipse">
            <a:avLst/>
          </a:prstGeom>
          <a:solidFill>
            <a:schemeClr val="tx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9" name="Rectangle 5">
            <a:extLst>
              <a:ext uri="{FF2B5EF4-FFF2-40B4-BE49-F238E27FC236}">
                <a16:creationId xmlns:a16="http://schemas.microsoft.com/office/drawing/2014/main" id="{D97B328E-6E34-4D10-B59D-135F5F71F93B}"/>
              </a:ext>
            </a:extLst>
          </p:cNvPr>
          <p:cNvSpPr/>
          <p:nvPr/>
        </p:nvSpPr>
        <p:spPr>
          <a:xfrm>
            <a:off x="7081415" y="1887167"/>
            <a:ext cx="722300" cy="722298"/>
          </a:xfrm>
          <a:prstGeom prst="ellipse">
            <a:avLst/>
          </a:prstGeom>
          <a:solidFill>
            <a:schemeClr val="tx1"/>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 name="Text Placeholder 1"/>
          <p:cNvSpPr>
            <a:spLocks noGrp="1"/>
          </p:cNvSpPr>
          <p:nvPr>
            <p:ph type="body" sz="quarter" idx="10"/>
          </p:nvPr>
        </p:nvSpPr>
        <p:spPr/>
        <p:txBody>
          <a:bodyPr>
            <a:normAutofit fontScale="92500" lnSpcReduction="10000"/>
          </a:bodyPr>
          <a:lstStyle/>
          <a:p>
            <a:r>
              <a:rPr lang="en-US" dirty="0">
                <a:solidFill>
                  <a:srgbClr val="FFC000"/>
                </a:solidFill>
              </a:rPr>
              <a:t>Recommendations</a:t>
            </a:r>
          </a:p>
        </p:txBody>
      </p:sp>
      <p:sp>
        <p:nvSpPr>
          <p:cNvPr id="32" name="Round Same Side Corner Rectangle 11">
            <a:extLst>
              <a:ext uri="{FF2B5EF4-FFF2-40B4-BE49-F238E27FC236}">
                <a16:creationId xmlns:a16="http://schemas.microsoft.com/office/drawing/2014/main" id="{39F79B7D-4DB8-4337-971B-4E5114C695A9}"/>
              </a:ext>
            </a:extLst>
          </p:cNvPr>
          <p:cNvSpPr>
            <a:spLocks noChangeAspect="1"/>
          </p:cNvSpPr>
          <p:nvPr/>
        </p:nvSpPr>
        <p:spPr>
          <a:xfrm rot="9900000">
            <a:off x="4574840" y="2080152"/>
            <a:ext cx="396000" cy="336326"/>
          </a:xfrm>
          <a:custGeom>
            <a:avLst/>
            <a:gdLst/>
            <a:ahLst/>
            <a:cxnLst/>
            <a:rect l="l" t="t" r="r" b="b"/>
            <a:pathLst>
              <a:path w="2911009" h="2472345">
                <a:moveTo>
                  <a:pt x="2219598" y="1335309"/>
                </a:moveTo>
                <a:lnTo>
                  <a:pt x="2219598" y="1222573"/>
                </a:lnTo>
                <a:cubicBezTo>
                  <a:pt x="2219598" y="1176944"/>
                  <a:pt x="2241926" y="1136530"/>
                  <a:pt x="2277694" y="1113650"/>
                </a:cubicBezTo>
                <a:lnTo>
                  <a:pt x="2277694" y="137786"/>
                </a:lnTo>
                <a:cubicBezTo>
                  <a:pt x="2277694" y="61689"/>
                  <a:pt x="2339383" y="0"/>
                  <a:pt x="2415480" y="0"/>
                </a:cubicBezTo>
                <a:lnTo>
                  <a:pt x="2545196" y="0"/>
                </a:lnTo>
                <a:cubicBezTo>
                  <a:pt x="2621293" y="0"/>
                  <a:pt x="2682982" y="61689"/>
                  <a:pt x="2682982" y="137786"/>
                </a:cubicBezTo>
                <a:lnTo>
                  <a:pt x="2682982" y="1099067"/>
                </a:lnTo>
                <a:cubicBezTo>
                  <a:pt x="2730197" y="1120049"/>
                  <a:pt x="2762708" y="1167515"/>
                  <a:pt x="2762708" y="1222573"/>
                </a:cubicBezTo>
                <a:lnTo>
                  <a:pt x="2762708" y="1480834"/>
                </a:lnTo>
                <a:close/>
                <a:moveTo>
                  <a:pt x="241900" y="1676361"/>
                </a:moveTo>
                <a:cubicBezTo>
                  <a:pt x="69371" y="1631107"/>
                  <a:pt x="-34146" y="1454930"/>
                  <a:pt x="10296" y="1282189"/>
                </a:cubicBezTo>
                <a:cubicBezTo>
                  <a:pt x="54739" y="1109449"/>
                  <a:pt x="230428" y="1005105"/>
                  <a:pt x="403375" y="1048736"/>
                </a:cubicBezTo>
                <a:cubicBezTo>
                  <a:pt x="349550" y="1257945"/>
                  <a:pt x="295726" y="1467153"/>
                  <a:pt x="241900" y="1676361"/>
                </a:cubicBezTo>
                <a:close/>
                <a:moveTo>
                  <a:pt x="2578947" y="2467929"/>
                </a:moveTo>
                <a:lnTo>
                  <a:pt x="1957545" y="2301425"/>
                </a:lnTo>
                <a:lnTo>
                  <a:pt x="2194209" y="1418183"/>
                </a:lnTo>
                <a:lnTo>
                  <a:pt x="2815611" y="1584687"/>
                </a:lnTo>
                <a:cubicBezTo>
                  <a:pt x="2884250" y="1603079"/>
                  <a:pt x="2924985" y="1673632"/>
                  <a:pt x="2906593" y="1742272"/>
                </a:cubicBezTo>
                <a:lnTo>
                  <a:pt x="2736532" y="2376947"/>
                </a:lnTo>
                <a:cubicBezTo>
                  <a:pt x="2718140" y="2445587"/>
                  <a:pt x="2647586" y="2486321"/>
                  <a:pt x="2578947" y="2467929"/>
                </a:cubicBezTo>
                <a:close/>
                <a:moveTo>
                  <a:pt x="610249" y="2287120"/>
                </a:moveTo>
                <a:lnTo>
                  <a:pt x="1020264" y="756923"/>
                </a:lnTo>
                <a:lnTo>
                  <a:pt x="2107356" y="1398691"/>
                </a:lnTo>
                <a:lnTo>
                  <a:pt x="1872582" y="2274879"/>
                </a:lnTo>
                <a:close/>
                <a:moveTo>
                  <a:pt x="426016" y="2349577"/>
                </a:moveTo>
                <a:lnTo>
                  <a:pt x="243978" y="2300800"/>
                </a:lnTo>
                <a:cubicBezTo>
                  <a:pt x="205115" y="2290387"/>
                  <a:pt x="182051" y="2250439"/>
                  <a:pt x="192464" y="2211576"/>
                </a:cubicBezTo>
                <a:lnTo>
                  <a:pt x="620679" y="613455"/>
                </a:lnTo>
                <a:cubicBezTo>
                  <a:pt x="631093" y="574592"/>
                  <a:pt x="671040" y="551528"/>
                  <a:pt x="709903" y="561941"/>
                </a:cubicBezTo>
                <a:lnTo>
                  <a:pt x="891942" y="610718"/>
                </a:lnTo>
                <a:cubicBezTo>
                  <a:pt x="930805" y="621132"/>
                  <a:pt x="953869" y="661079"/>
                  <a:pt x="943455" y="699942"/>
                </a:cubicBezTo>
                <a:lnTo>
                  <a:pt x="515240" y="2298064"/>
                </a:lnTo>
                <a:cubicBezTo>
                  <a:pt x="504827" y="2336927"/>
                  <a:pt x="464879" y="2359990"/>
                  <a:pt x="426016" y="234957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4" name="Rectangle 16">
            <a:extLst>
              <a:ext uri="{FF2B5EF4-FFF2-40B4-BE49-F238E27FC236}">
                <a16:creationId xmlns:a16="http://schemas.microsoft.com/office/drawing/2014/main" id="{89E3BBF3-2A25-4307-8384-B627035A45EA}"/>
              </a:ext>
            </a:extLst>
          </p:cNvPr>
          <p:cNvSpPr/>
          <p:nvPr/>
        </p:nvSpPr>
        <p:spPr>
          <a:xfrm>
            <a:off x="9955926" y="2108133"/>
            <a:ext cx="394118" cy="259020"/>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5" name="Oval 21">
            <a:extLst>
              <a:ext uri="{FF2B5EF4-FFF2-40B4-BE49-F238E27FC236}">
                <a16:creationId xmlns:a16="http://schemas.microsoft.com/office/drawing/2014/main" id="{71B94555-542B-42A7-9762-F64388B7E77D}"/>
              </a:ext>
            </a:extLst>
          </p:cNvPr>
          <p:cNvSpPr>
            <a:spLocks noChangeAspect="1"/>
          </p:cNvSpPr>
          <p:nvPr/>
        </p:nvSpPr>
        <p:spPr>
          <a:xfrm>
            <a:off x="7257847" y="2056199"/>
            <a:ext cx="381905" cy="385094"/>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 name="Rectangle 2">
            <a:extLst>
              <a:ext uri="{FF2B5EF4-FFF2-40B4-BE49-F238E27FC236}">
                <a16:creationId xmlns:a16="http://schemas.microsoft.com/office/drawing/2014/main" id="{D4E1F4D0-9371-366D-DE62-5449C9D7343C}"/>
              </a:ext>
            </a:extLst>
          </p:cNvPr>
          <p:cNvSpPr/>
          <p:nvPr/>
        </p:nvSpPr>
        <p:spPr>
          <a:xfrm>
            <a:off x="874395" y="2248746"/>
            <a:ext cx="2358142" cy="39149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7" name="Rectangle 5">
            <a:extLst>
              <a:ext uri="{FF2B5EF4-FFF2-40B4-BE49-F238E27FC236}">
                <a16:creationId xmlns:a16="http://schemas.microsoft.com/office/drawing/2014/main" id="{E87B78BF-FBF2-49B0-892C-7C93CBF38CFF}"/>
              </a:ext>
            </a:extLst>
          </p:cNvPr>
          <p:cNvSpPr/>
          <p:nvPr/>
        </p:nvSpPr>
        <p:spPr>
          <a:xfrm>
            <a:off x="1722796" y="1876494"/>
            <a:ext cx="722300" cy="722298"/>
          </a:xfrm>
          <a:prstGeom prst="ellipse">
            <a:avLst/>
          </a:prstGeom>
          <a:solidFill>
            <a:schemeClr val="tx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33" name="Rounded Rectangle 27">
            <a:extLst>
              <a:ext uri="{FF2B5EF4-FFF2-40B4-BE49-F238E27FC236}">
                <a16:creationId xmlns:a16="http://schemas.microsoft.com/office/drawing/2014/main" id="{19475F2A-D01F-4C27-8524-0B57AD425E88}"/>
              </a:ext>
            </a:extLst>
          </p:cNvPr>
          <p:cNvSpPr/>
          <p:nvPr/>
        </p:nvSpPr>
        <p:spPr>
          <a:xfrm>
            <a:off x="1910748" y="2108133"/>
            <a:ext cx="346396" cy="266079"/>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5" name="TextBox 4">
            <a:extLst>
              <a:ext uri="{FF2B5EF4-FFF2-40B4-BE49-F238E27FC236}">
                <a16:creationId xmlns:a16="http://schemas.microsoft.com/office/drawing/2014/main" id="{82A66F74-543B-3FAF-21CF-4057863F2839}"/>
              </a:ext>
            </a:extLst>
          </p:cNvPr>
          <p:cNvSpPr txBox="1"/>
          <p:nvPr/>
        </p:nvSpPr>
        <p:spPr>
          <a:xfrm>
            <a:off x="1048752" y="2374212"/>
            <a:ext cx="2145417" cy="4247317"/>
          </a:xfrm>
          <a:prstGeom prst="rect">
            <a:avLst/>
          </a:prstGeom>
          <a:noFill/>
        </p:spPr>
        <p:txBody>
          <a:bodyPr wrap="square" rtlCol="0">
            <a:spAutoFit/>
          </a:bodyPr>
          <a:lstStyle/>
          <a:p>
            <a:pPr marL="0" rtl="0" eaLnBrk="1" fontAlgn="t" latinLnBrk="1" hangingPunct="1">
              <a:spcBef>
                <a:spcPts val="0"/>
              </a:spcBef>
              <a:spcAft>
                <a:spcPts val="0"/>
              </a:spcAft>
            </a:pPr>
            <a:endParaRPr lang="en-US" sz="1500" b="0" i="0" u="none" strike="noStrike" dirty="0">
              <a:effectLst/>
              <a:latin typeface="Arial" panose="020B0604020202020204" pitchFamily="34" charset="0"/>
            </a:endParaRP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I will suggest the </a:t>
            </a:r>
          </a:p>
          <a:p>
            <a:pPr marL="0" marR="0" indent="0" rtl="0" eaLnBrk="1" fontAlgn="auto" latinLnBrk="1" hangingPunct="1">
              <a:spcBef>
                <a:spcPts val="0"/>
              </a:spcBef>
              <a:spcAft>
                <a:spcPts val="0"/>
              </a:spcAft>
            </a:pPr>
            <a:r>
              <a:rPr lang="en-US" sz="1500" dirty="0">
                <a:solidFill>
                  <a:srgbClr val="FFFFFF"/>
                </a:solidFill>
                <a:latin typeface="Trebuchet MS" panose="020B0603020202020204" pitchFamily="34" charset="0"/>
              </a:rPr>
              <a:t>B</a:t>
            </a:r>
            <a:r>
              <a:rPr lang="en-US" sz="1500" b="0" i="0" u="none" strike="noStrike" kern="1200" dirty="0">
                <a:solidFill>
                  <a:srgbClr val="FFFFFF"/>
                </a:solidFill>
                <a:effectLst/>
                <a:latin typeface="Trebuchet MS" panose="020B0603020202020204" pitchFamily="34" charset="0"/>
              </a:rPr>
              <a:t>ank hire a data </a:t>
            </a: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engineer that will </a:t>
            </a: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ensure the dataset is </a:t>
            </a: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accurate, large and </a:t>
            </a: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Clean for proper EDA </a:t>
            </a: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as their too many </a:t>
            </a: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outliers in the dataset This will enable the</a:t>
            </a: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 business to produce machine learning </a:t>
            </a: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models that </a:t>
            </a:r>
          </a:p>
          <a:p>
            <a:pPr marL="0" marR="0" indent="0" rtl="0" eaLnBrk="1" fontAlgn="auto" latinLnBrk="1" hangingPunct="1">
              <a:spcBef>
                <a:spcPts val="0"/>
              </a:spcBef>
              <a:spcAft>
                <a:spcPts val="0"/>
              </a:spcAft>
            </a:pPr>
            <a:r>
              <a:rPr lang="en-US" sz="1500" dirty="0">
                <a:solidFill>
                  <a:srgbClr val="FFFFFF"/>
                </a:solidFill>
                <a:latin typeface="Trebuchet MS" panose="020B0603020202020204" pitchFamily="34" charset="0"/>
              </a:rPr>
              <a:t>predict</a:t>
            </a:r>
            <a:r>
              <a:rPr lang="en-US" sz="1500" b="0" i="0" u="none" strike="noStrike" kern="1200" dirty="0">
                <a:solidFill>
                  <a:srgbClr val="FFFFFF"/>
                </a:solidFill>
                <a:effectLst/>
                <a:latin typeface="Trebuchet MS" panose="020B0603020202020204" pitchFamily="34" charset="0"/>
              </a:rPr>
              <a:t> outcomes </a:t>
            </a:r>
          </a:p>
          <a:p>
            <a:pPr marL="0" marR="0" indent="0" rtl="0" eaLnBrk="1" fontAlgn="auto"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rPr>
              <a:t>more accurately with better performance.</a:t>
            </a:r>
            <a:endParaRPr lang="en-US" sz="1500" b="0" i="0" u="none" strike="noStrike" dirty="0">
              <a:effectLst/>
              <a:latin typeface="Arial" panose="020B0604020202020204" pitchFamily="34" charset="0"/>
            </a:endParaRPr>
          </a:p>
          <a:p>
            <a:pPr marL="0" rtl="0" eaLnBrk="1" fontAlgn="ctr" latinLnBrk="1" hangingPunct="1">
              <a:spcBef>
                <a:spcPts val="0"/>
              </a:spcBef>
              <a:spcAft>
                <a:spcPts val="0"/>
              </a:spcAft>
            </a:pPr>
            <a:r>
              <a:rPr lang="en-US" sz="1500" b="0" i="0" u="none" strike="noStrike" kern="1200" dirty="0">
                <a:solidFill>
                  <a:srgbClr val="FFFFFF"/>
                </a:solidFill>
                <a:effectLst/>
                <a:latin typeface="Trebuchet MS" panose="020B0603020202020204" pitchFamily="34" charset="0"/>
                <a:cs typeface="Arial" panose="020B0604020202020204" pitchFamily="34" charset="0"/>
              </a:rPr>
              <a:t> </a:t>
            </a:r>
            <a:endParaRPr lang="en-US" sz="1500" b="0" i="0" u="none" strike="noStrike" dirty="0">
              <a:effectLst/>
              <a:latin typeface="Arial" panose="020B0604020202020204" pitchFamily="34" charset="0"/>
            </a:endParaRPr>
          </a:p>
          <a:p>
            <a:endParaRPr lang="en-US" sz="1500" dirty="0"/>
          </a:p>
        </p:txBody>
      </p:sp>
      <p:sp>
        <p:nvSpPr>
          <p:cNvPr id="7" name="TextBox 6">
            <a:extLst>
              <a:ext uri="{FF2B5EF4-FFF2-40B4-BE49-F238E27FC236}">
                <a16:creationId xmlns:a16="http://schemas.microsoft.com/office/drawing/2014/main" id="{BBFBFAFF-0F88-AF6D-4A9F-05D345AD1BB3}"/>
              </a:ext>
            </a:extLst>
          </p:cNvPr>
          <p:cNvSpPr txBox="1"/>
          <p:nvPr/>
        </p:nvSpPr>
        <p:spPr>
          <a:xfrm>
            <a:off x="3642021" y="2612356"/>
            <a:ext cx="2145417" cy="3323987"/>
          </a:xfrm>
          <a:prstGeom prst="rect">
            <a:avLst/>
          </a:prstGeom>
          <a:noFill/>
        </p:spPr>
        <p:txBody>
          <a:bodyPr wrap="square" rtlCol="0">
            <a:spAutoFit/>
          </a:bodyPr>
          <a:lstStyle/>
          <a:p>
            <a:pPr marL="0" algn="l" rtl="0" eaLnBrk="1" fontAlgn="t" latinLnBrk="1" hangingPunct="1">
              <a:spcBef>
                <a:spcPts val="0"/>
              </a:spcBef>
              <a:spcAft>
                <a:spcPts val="0"/>
              </a:spcAft>
            </a:pPr>
            <a:r>
              <a:rPr lang="en-US" sz="1500" dirty="0"/>
              <a:t>The CASH_OUT type of transaction </a:t>
            </a:r>
          </a:p>
          <a:p>
            <a:pPr marL="0" algn="l" rtl="0" eaLnBrk="1" fontAlgn="t" latinLnBrk="1" hangingPunct="1">
              <a:spcBef>
                <a:spcPts val="0"/>
              </a:spcBef>
              <a:spcAft>
                <a:spcPts val="0"/>
              </a:spcAft>
            </a:pPr>
            <a:r>
              <a:rPr lang="en-US" sz="1500" dirty="0"/>
              <a:t>reported high fraud</a:t>
            </a:r>
          </a:p>
          <a:p>
            <a:pPr marL="0" algn="l" rtl="0" eaLnBrk="1" fontAlgn="t" latinLnBrk="1" hangingPunct="1">
              <a:spcBef>
                <a:spcPts val="0"/>
              </a:spcBef>
              <a:spcAft>
                <a:spcPts val="0"/>
              </a:spcAft>
            </a:pPr>
            <a:r>
              <a:rPr lang="en-US" sz="1500" dirty="0"/>
              <a:t>despite having a </a:t>
            </a:r>
          </a:p>
          <a:p>
            <a:pPr marL="0" algn="l" rtl="0" eaLnBrk="1" fontAlgn="t" latinLnBrk="1" hangingPunct="1">
              <a:spcBef>
                <a:spcPts val="0"/>
              </a:spcBef>
              <a:spcAft>
                <a:spcPts val="0"/>
              </a:spcAft>
            </a:pPr>
            <a:r>
              <a:rPr lang="en-US" sz="1500" dirty="0"/>
              <a:t>lower revenue </a:t>
            </a:r>
          </a:p>
          <a:p>
            <a:pPr marL="0" algn="l" rtl="0" eaLnBrk="1" fontAlgn="t" latinLnBrk="1" hangingPunct="1">
              <a:spcBef>
                <a:spcPts val="0"/>
              </a:spcBef>
              <a:spcAft>
                <a:spcPts val="0"/>
              </a:spcAft>
            </a:pPr>
            <a:r>
              <a:rPr lang="en-US" sz="1500" dirty="0"/>
              <a:t>Impact.  I will suggest that a cash regulation should be introduce to mitigate regular cash out. Individual should be allow to </a:t>
            </a:r>
          </a:p>
          <a:p>
            <a:pPr marL="0" algn="l" rtl="0" eaLnBrk="1" fontAlgn="t" latinLnBrk="1" hangingPunct="1">
              <a:spcBef>
                <a:spcPts val="0"/>
              </a:spcBef>
              <a:spcAft>
                <a:spcPts val="0"/>
              </a:spcAft>
            </a:pPr>
            <a:r>
              <a:rPr lang="en-US" sz="1500" dirty="0"/>
              <a:t>withdraw a certain </a:t>
            </a:r>
          </a:p>
          <a:p>
            <a:pPr marL="0" algn="l" rtl="0" eaLnBrk="1" fontAlgn="t" latinLnBrk="1" hangingPunct="1">
              <a:spcBef>
                <a:spcPts val="0"/>
              </a:spcBef>
              <a:spcAft>
                <a:spcPts val="0"/>
              </a:spcAft>
            </a:pPr>
            <a:r>
              <a:rPr lang="en-US" sz="1500" dirty="0"/>
              <a:t>amount from their</a:t>
            </a:r>
          </a:p>
          <a:p>
            <a:pPr marL="0" algn="l" rtl="0" eaLnBrk="1" fontAlgn="t" latinLnBrk="1" hangingPunct="1">
              <a:spcBef>
                <a:spcPts val="0"/>
              </a:spcBef>
              <a:spcAft>
                <a:spcPts val="0"/>
              </a:spcAft>
            </a:pPr>
            <a:r>
              <a:rPr lang="en-US" sz="1500" dirty="0"/>
              <a:t> account per day.</a:t>
            </a:r>
          </a:p>
        </p:txBody>
      </p:sp>
      <p:sp>
        <p:nvSpPr>
          <p:cNvPr id="11" name="TextBox 10">
            <a:extLst>
              <a:ext uri="{FF2B5EF4-FFF2-40B4-BE49-F238E27FC236}">
                <a16:creationId xmlns:a16="http://schemas.microsoft.com/office/drawing/2014/main" id="{F60D4969-7DA2-5436-FE30-6FBCF86E73AB}"/>
              </a:ext>
            </a:extLst>
          </p:cNvPr>
          <p:cNvSpPr txBox="1"/>
          <p:nvPr/>
        </p:nvSpPr>
        <p:spPr>
          <a:xfrm>
            <a:off x="6247021" y="2598792"/>
            <a:ext cx="2479908" cy="2862322"/>
          </a:xfrm>
          <a:prstGeom prst="rect">
            <a:avLst/>
          </a:prstGeom>
          <a:noFill/>
        </p:spPr>
        <p:txBody>
          <a:bodyPr wrap="square">
            <a:spAutoFit/>
          </a:bodyPr>
          <a:lstStyle/>
          <a:p>
            <a:pPr marL="0" algn="l" rtl="0" eaLnBrk="1" fontAlgn="t" latinLnBrk="1" hangingPunct="1">
              <a:spcBef>
                <a:spcPts val="0"/>
              </a:spcBef>
              <a:spcAft>
                <a:spcPts val="0"/>
              </a:spcAft>
            </a:pPr>
            <a:r>
              <a:rPr lang="en-US" sz="1500" dirty="0"/>
              <a:t>The CASH_OUT type of </a:t>
            </a:r>
          </a:p>
          <a:p>
            <a:pPr marL="0" algn="l" rtl="0" eaLnBrk="1" fontAlgn="t" latinLnBrk="1" hangingPunct="1">
              <a:spcBef>
                <a:spcPts val="0"/>
              </a:spcBef>
              <a:spcAft>
                <a:spcPts val="0"/>
              </a:spcAft>
            </a:pPr>
            <a:r>
              <a:rPr lang="en-US" sz="1500" dirty="0"/>
              <a:t>transaction reported high fraud despite having a </a:t>
            </a:r>
          </a:p>
          <a:p>
            <a:pPr marL="0" algn="l" rtl="0" eaLnBrk="1" fontAlgn="t" latinLnBrk="1" hangingPunct="1">
              <a:spcBef>
                <a:spcPts val="0"/>
              </a:spcBef>
              <a:spcAft>
                <a:spcPts val="0"/>
              </a:spcAft>
            </a:pPr>
            <a:r>
              <a:rPr lang="en-US" sz="1500" dirty="0"/>
              <a:t>lower revenue </a:t>
            </a:r>
          </a:p>
          <a:p>
            <a:pPr marL="0" algn="l" rtl="0" eaLnBrk="1" fontAlgn="t" latinLnBrk="1" hangingPunct="1">
              <a:spcBef>
                <a:spcPts val="0"/>
              </a:spcBef>
              <a:spcAft>
                <a:spcPts val="0"/>
              </a:spcAft>
            </a:pPr>
            <a:r>
              <a:rPr lang="en-US" sz="1500" dirty="0"/>
              <a:t>Impact.  I will suggest </a:t>
            </a:r>
          </a:p>
          <a:p>
            <a:pPr marL="0" algn="l" rtl="0" eaLnBrk="1" fontAlgn="t" latinLnBrk="1" hangingPunct="1">
              <a:spcBef>
                <a:spcPts val="0"/>
              </a:spcBef>
              <a:spcAft>
                <a:spcPts val="0"/>
              </a:spcAft>
            </a:pPr>
            <a:r>
              <a:rPr lang="en-US" sz="1500" dirty="0"/>
              <a:t>that a cash regulation </a:t>
            </a:r>
          </a:p>
          <a:p>
            <a:pPr marL="0" algn="l" rtl="0" eaLnBrk="1" fontAlgn="t" latinLnBrk="1" hangingPunct="1">
              <a:spcBef>
                <a:spcPts val="0"/>
              </a:spcBef>
              <a:spcAft>
                <a:spcPts val="0"/>
              </a:spcAft>
            </a:pPr>
            <a:r>
              <a:rPr lang="en-US" sz="1500" dirty="0"/>
              <a:t>should be introduce to </a:t>
            </a:r>
          </a:p>
          <a:p>
            <a:pPr marL="0" algn="l" rtl="0" eaLnBrk="1" fontAlgn="t" latinLnBrk="1" hangingPunct="1">
              <a:spcBef>
                <a:spcPts val="0"/>
              </a:spcBef>
              <a:spcAft>
                <a:spcPts val="0"/>
              </a:spcAft>
            </a:pPr>
            <a:r>
              <a:rPr lang="en-US" sz="1500" dirty="0"/>
              <a:t>mitigate regular cash out. </a:t>
            </a:r>
          </a:p>
          <a:p>
            <a:pPr marL="0" algn="l" rtl="0" eaLnBrk="1" fontAlgn="t" latinLnBrk="1" hangingPunct="1">
              <a:spcBef>
                <a:spcPts val="0"/>
              </a:spcBef>
              <a:spcAft>
                <a:spcPts val="0"/>
              </a:spcAft>
            </a:pPr>
            <a:r>
              <a:rPr lang="en-US" sz="1500" dirty="0"/>
              <a:t>Individual should be allow to withdraw a certain </a:t>
            </a:r>
          </a:p>
          <a:p>
            <a:pPr marL="0" algn="l" rtl="0" eaLnBrk="1" fontAlgn="t" latinLnBrk="1" hangingPunct="1">
              <a:spcBef>
                <a:spcPts val="0"/>
              </a:spcBef>
              <a:spcAft>
                <a:spcPts val="0"/>
              </a:spcAft>
            </a:pPr>
            <a:r>
              <a:rPr lang="en-US" sz="1500" dirty="0"/>
              <a:t>amount of cash from their</a:t>
            </a:r>
          </a:p>
          <a:p>
            <a:pPr marL="0" algn="l" rtl="0" eaLnBrk="1" fontAlgn="t" latinLnBrk="1" hangingPunct="1">
              <a:spcBef>
                <a:spcPts val="0"/>
              </a:spcBef>
              <a:spcAft>
                <a:spcPts val="0"/>
              </a:spcAft>
            </a:pPr>
            <a:r>
              <a:rPr lang="en-US" sz="1500" dirty="0"/>
              <a:t> account per day.</a:t>
            </a:r>
          </a:p>
        </p:txBody>
      </p:sp>
      <p:sp>
        <p:nvSpPr>
          <p:cNvPr id="14" name="TextBox 13">
            <a:extLst>
              <a:ext uri="{FF2B5EF4-FFF2-40B4-BE49-F238E27FC236}">
                <a16:creationId xmlns:a16="http://schemas.microsoft.com/office/drawing/2014/main" id="{E5B88301-3CCB-8A2A-4DA5-82662F42AD05}"/>
              </a:ext>
            </a:extLst>
          </p:cNvPr>
          <p:cNvSpPr txBox="1"/>
          <p:nvPr/>
        </p:nvSpPr>
        <p:spPr>
          <a:xfrm>
            <a:off x="9068619" y="2671110"/>
            <a:ext cx="1717040" cy="3323987"/>
          </a:xfrm>
          <a:prstGeom prst="rect">
            <a:avLst/>
          </a:prstGeom>
          <a:noFill/>
        </p:spPr>
        <p:txBody>
          <a:bodyPr wrap="square">
            <a:spAutoFit/>
          </a:bodyPr>
          <a:lstStyle/>
          <a:p>
            <a:r>
              <a:rPr lang="en-US" sz="1500" dirty="0"/>
              <a:t>I will suggest that the bank should invest in their workers through EdTech platforms so that they can stay inform on new technologies in knowing how to mitigate fraud within their system through industry best practices</a:t>
            </a:r>
          </a:p>
        </p:txBody>
      </p:sp>
    </p:spTree>
    <p:extLst>
      <p:ext uri="{BB962C8B-B14F-4D97-AF65-F5344CB8AC3E}">
        <p14:creationId xmlns:p14="http://schemas.microsoft.com/office/powerpoint/2010/main" val="3060172967"/>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
  <TotalTime>787</TotalTime>
  <Words>918</Words>
  <Application>Microsoft Office PowerPoint</Application>
  <PresentationFormat>Widescreen</PresentationFormat>
  <Paragraphs>98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Trebuchet MS</vt:lpstr>
      <vt:lpstr>Berlin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Segun Umoru</dc:creator>
  <cp:lastModifiedBy>James Ehiabhi</cp:lastModifiedBy>
  <cp:revision>4</cp:revision>
  <dcterms:created xsi:type="dcterms:W3CDTF">2022-10-22T09:03:03Z</dcterms:created>
  <dcterms:modified xsi:type="dcterms:W3CDTF">2025-02-10T23:59:59Z</dcterms:modified>
</cp:coreProperties>
</file>